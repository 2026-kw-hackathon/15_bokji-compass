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6" r:id="rId17"/>
    <p:sldId id="263" r:id="rId14"/>
    <p:sldId id="257" r:id="rId3"/>
    <p:sldId id="259" r:id="rId5"/>
    <p:sldId id="260" r:id="rId6"/>
    <p:sldId id="261" r:id="rId7"/>
    <p:sldId id="264" r:id="rId15"/>
    <p:sldId id="265" r:id="rId16"/>
    <p:sldId id="258" r:id="rId4"/>
    <p:sldId id="262" r:id="rId8"/>
  </p:sldIdLst>
  <p:notesMasterIdLst>
    <p:notesMasterId r:id="rId9"/>
  </p:notesMasterIdLst>
  <p:sldSz cx="12192000" cy="6858000"/>
  <p:notesSz cx="6858000" cy="12192000"/>
  <p:custShowLst>
    <p:custShow name="3분 본문" id="0">
      <p:sldLst>
        <p:sld r:id="rId2"/>
        <p:sld r:id="rId14"/>
        <p:sld r:id="rId3"/>
        <p:sld r:id="rId5"/>
        <p:sld r:id="rId6"/>
        <p:sld r:id="rId7"/>
      </p:sldLst>
    </p:custShow>
    <p:custShow name="질의응답 참고" id="1">
      <p:sldLst>
        <p:sld r:id="rId15"/>
        <p:sld r:id="rId16"/>
        <p:sld r:id="rId4"/>
        <p:sld r:id="rId8"/>
      </p:sldLst>
    </p:custShow>
  </p:custShow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4.xml"/><Relationship Id="rId4" Type="http://schemas.openxmlformats.org/officeDocument/2006/relationships/slide" Target="slides/slide10.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11.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3.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응답 비율</c:v>
                </c:pt>
              </c:strCache>
            </c:strRef>
          </c:tx>
          <c:spPr>
            <a:solidFill>
              <a:schemeClr val="accent1"/>
            </a:solidFill>
            <a:ln w="9525" cap="flat">
              <a:solidFill>
                <a:srgbClr val="F9F9F9"/>
              </a:solidFill>
              <a:prstDash val="solid"/>
              <a:round/>
            </a:ln>
            <a:effectLst/>
          </c:spPr>
          <c:dPt>
            <c:idx val="0"/>
            <c:bubble3D val="0"/>
            <c:spPr>
              <a:solidFill>
                <a:srgbClr val="008979"/>
              </a:solidFill>
              <a:ln w="9525" cap="flat">
                <a:solidFill>
                  <a:srgbClr val="FFFFFF"/>
                </a:solidFill>
                <a:prstDash val="solid"/>
                <a:round/>
              </a:ln>
              <a:effectLst/>
            </c:spPr>
          </c:dPt>
          <c:dPt>
            <c:idx val="1"/>
            <c:bubble3D val="0"/>
            <c:spPr>
              <a:solidFill>
                <a:srgbClr val="DCE5E8"/>
              </a:solidFill>
              <a:ln w="9525"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서비스를 몰라서</c:v>
                </c:pt>
                <c:pt idx="1">
                  <c:v>나머지(100−43.5)</c:v>
                </c:pt>
              </c:strCache>
            </c:strRef>
          </c:cat>
          <c:val>
            <c:numRef>
              <c:f>Sheet1!$B$2:$B$3</c:f>
              <c:numCache>
                <c:ptCount val="2"/>
                <c:pt idx="0">
                  <c:v>43.5</c:v>
                </c:pt>
                <c:pt idx="1">
                  <c:v>56.5</c:v>
                </c:pt>
              </c:numCache>
            </c:numRef>
          </c:val>
        </c:ser>
        <c:firstSliceAng val="270"/>
        <c:holeSize val="77"/>
      </c:doughnutChart>
      <c:spPr>
        <a:solidFill>
          <a:srgbClr val="FFFFFF"/>
        </a:solidFill>
        <a:ln w="12700" cap="flat">
          <a:solidFill>
            <a:srgbClr val="FFFFFF"/>
          </a:solidFill>
        </a:ln>
        <a:effectLst/>
      </c:spPr>
    </c:plotArea>
    <c:plotVisOnly val="1"/>
    <c:dispBlanksAs val="span"/>
  </c:chart>
  <c:spPr>
    <a:solidFill>
      <a:srgbClr val="FFFFFF"/>
    </a:solidFill>
    <a:ln w="12700" cap="flat">
      <a:solidFill>
        <a:srgbClr val="FFFFFF"/>
      </a:solid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일반 국민 대비 상대 수준</c:v>
                </c:pt>
              </c:strCache>
            </c:strRef>
          </c:tx>
          <c:spPr>
            <a:solidFill>
              <a:srgbClr val="008979"/>
            </a:solidFill>
            <a:ln w="9525" cap="flat">
              <a:solidFill>
                <a:srgbClr val="FFFFFF"/>
              </a:solidFill>
              <a:prstDash val="solid"/>
              <a:round/>
            </a:ln>
            <a:effectLst/>
          </c:spPr>
          <c:invertIfNegative val="0"/>
          <c:dLbls>
            <c:numFmt formatCode="0.#" sourceLinked="0"/>
            <c:txPr>
              <a:bodyPr/>
              <a:lstStyle/>
              <a:p>
                <a:pPr>
                  <a:defRPr b="1" i="0" strike="noStrike" sz="2100" u="none">
                    <a:solidFill>
                      <a:srgbClr val="17354C"/>
                    </a:solidFill>
                    <a:latin typeface="Aptos"/>
                  </a:defRPr>
                </a:pPr>
              </a:p>
            </c:txPr>
            <c:showLegendKey val="0"/>
            <c:showVal val="1"/>
            <c:showCatName val="0"/>
            <c:showSerName val="0"/>
            <c:showPercent val="0"/>
            <c:showBubbleSize val="0"/>
            <c:showLeaderLines val="0"/>
          </c:dLbls>
          <c:dPt>
            <c:idx val="0"/>
            <c:invertIfNegative val="0"/>
            <c:bubble3D val="0"/>
            <c:spPr>
              <a:solidFill>
                <a:srgbClr val="008979"/>
              </a:solidFill>
              <a:effectLst/>
            </c:spPr>
          </c:dPt>
          <c:dPt>
            <c:idx val="1"/>
            <c:invertIfNegative val="0"/>
            <c:bubble3D val="0"/>
            <c:spPr>
              <a:solidFill>
                <a:srgbClr val="DCE5E8"/>
              </a:solidFill>
              <a:effectLst/>
            </c:spPr>
          </c:dPt>
          <c:cat>
            <c:multiLvlStrRef>
              <c:f>Sheet1!$A$2:$A$3</c:f>
              <c:multiLvlStrCache>
                <c:ptCount val="2"/>
                <c:lvl>
                  <c:pt idx="0">
                    <c:v>고령층</c:v>
                  </c:pt>
                  <c:pt idx="1">
                    <c:v>일반 국민</c:v>
                  </c:pt>
                </c:lvl>
              </c:multiLvlStrCache>
            </c:multiLvlStrRef>
          </c:cat>
          <c:val>
            <c:numRef>
              <c:f>Sheet1!$B$2:$B$3</c:f>
              <c:numCache>
                <c:formatCode>General</c:formatCode>
                <c:ptCount val="2"/>
                <c:pt idx="0">
                  <c:v>71.8</c:v>
                </c:pt>
                <c:pt idx="1">
                  <c:v>100</c:v>
                </c:pt>
              </c:numCache>
            </c:numRef>
          </c:val>
        </c:ser>
        <c:dLbls>
          <c:numFmt formatCode="0.#" sourceLinked="0"/>
          <c:txPr>
            <a:bodyPr/>
            <a:lstStyle/>
            <a:p>
              <a:pPr>
                <a:defRPr b="1" i="0" strike="noStrike" sz="2100" u="none">
                  <a:solidFill>
                    <a:srgbClr val="17354C"/>
                  </a:solidFill>
                  <a:latin typeface="Aptos"/>
                </a:defRPr>
              </a:pPr>
            </a:p>
          </c:txPr>
          <c:showLegendKey val="0"/>
          <c:showVal val="1"/>
          <c:showCatName val="0"/>
          <c:showSerName val="0"/>
          <c:showPercent val="0"/>
          <c:showBubbleSize val="0"/>
          <c:showLeaderLines val="0"/>
        </c:dLbls>
        <c:gapWidth val="75"/>
        <c:overlap val="0"/>
        <c:axId val="2094734554"/>
        <c:axId val="2094734552"/>
        <c:axId val="2094734556"/>
      </c:barChart>
      <c:catAx>
        <c:axId val="2094734554"/>
        <c:scaling>
          <c:orientation val="minMax"/>
        </c:scaling>
        <c:delete val="0"/>
        <c:axPos val="l"/>
        <c:numFmt formatCode="General" sourceLinked="1"/>
        <c:majorTickMark val="none"/>
        <c:minorTickMark val="none"/>
        <c:tickLblPos val="low"/>
        <c:spPr>
          <a:ln w="12700" cap="flat">
            <a:noFill/>
            <a:prstDash val="solid"/>
            <a:round/>
          </a:ln>
        </c:spPr>
        <c:txPr>
          <a:bodyPr/>
          <a:lstStyle/>
          <a:p>
            <a:pPr>
              <a:defRPr sz="1400" b="0" i="0" u="none" strike="noStrike">
                <a:solidFill>
                  <a:srgbClr val="17354C"/>
                </a:solidFill>
                <a:latin typeface="Noto Sans CJK KR"/>
              </a:defRPr>
            </a:pPr>
            <a:endParaRPr lang="en-US"/>
          </a:p>
        </c:txPr>
        <c:crossAx val="2094734552"/>
        <c:crosses val="autoZero"/>
        <c:auto val="1"/>
        <c:lblAlgn val="ctr"/>
        <c:noMultiLvlLbl val="1"/>
      </c:catAx>
      <c:valAx>
        <c:axId val="2094734552"/>
        <c:scaling>
          <c:orientation val="minMax"/>
          <c:max val="112"/>
          <c:min val="0"/>
        </c:scaling>
        <c:delete val="1"/>
        <c:axPos val="b"/>
        <c:numFmt formatCode="General" sourceLinked="0"/>
        <c:majorTickMark val="none"/>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majorUnit val="50"/>
      </c:valAx>
      <c:spPr>
        <a:solidFill>
          <a:srgbClr val="FFFFFF"/>
        </a:solidFill>
        <a:ln w="12700" cap="flat">
          <a:solidFill>
            <a:srgbClr val="FFFFFF"/>
          </a:solidFill>
        </a:ln>
        <a:effectLst/>
      </c:spPr>
    </c:plotArea>
    <c:plotVisOnly val="1"/>
    <c:dispBlanksAs val="span"/>
  </c:chart>
  <c:spPr>
    <a:solidFill>
      <a:srgbClr val="FFFFFF"/>
    </a:solidFill>
    <a:ln w="12700" cap="flat">
      <a:solidFill>
        <a:srgbClr val="FFFFFF"/>
      </a:solid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1 / 표지 / 낭독 목표 5초]</a:t>
            </a:r>
          </a:p>
          <a:p>
            <a:r>
              <a:t>복지나침반</a:t>
            </a:r>
          </a:p>
          <a:p/>
          <a:p>
            <a:r>
              <a:t>안녕하세요. 팀 복지나침반입니다.</a:t>
            </a:r>
          </a:p>
          <a:p/>
          <a:p>
            <a:r>
              <a:t>[P3] 제공 자료: 발표자 초안 「1장.docx」 1~6장과 사용자가 붙여 넣은 팀 대화. 인사·팀명 설명 분리, 비전 슬라이드 삽입, 마무리의 짧은 진행 상황을 반영했다. 발표 3분·질의응답 2분은 팀 대화의 안내를 따른다.</a:t>
            </a: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4 / 03 / 06 / 낭독 목표 25초]</a:t>
            </a:r>
          </a:p>
          <a:p>
            <a:r>
              <a:t>지원이 있어도, 정보를 모르면 닿기 어렵다</a:t>
            </a:r>
          </a:p>
          <a:p/>
          <a:p>
            <a:r>
              <a:t>실제 조사에서도 정보를 몰라 지원을 이용하지 못한 사례가 확인됩니다. 경기복지재단의 2024년 경기도 가족돌봄 청소년·청년 조사에서, 공공 복지지원 미경험자의 43.5퍼센트가 서비스를 몰랐다고 답했습니다. 월계1동이나 전체 주민의 비율은 아니지만, 정보 안내의 필요성을 보여주는 사례입니다.</a:t>
            </a:r>
          </a:p>
          <a:p/>
          <a:p>
            <a:r>
              <a:t>[S1] 경기복지재단, 「경기도 가족돌봄청(소)년 실태조사 연구」, 정책연구 2024-14, 2024.11.</a:t>
            </a:r>
          </a:p>
          <a:p>
            <a:r>
              <a:t>https://ggwf.gg.go.kr/archives/65937</a:t>
            </a:r>
          </a:p>
          <a:p>
            <a:r>
              <a:t>경기도 13~34세 가족돌봄 청소년·청년 1,213명 중 공공 복지지원 미경험자의 미이용 이유 43.5%. 전국민·월계1동·자격 충족자의 미수급률이 아니다. 그래프의 56.5는 100-43.5의 시각적 나머지다. 공식 요약 재확인 2026.09.27.</a:t>
            </a:r>
          </a:p>
          <a:p/>
          <a:p>
            <a:r>
              <a:t>[P3] 제공 자료: 발표자 초안 「1장.docx」 1~6장과 사용자가 붙여 넣은 팀 대화. 인사·팀명 설명 분리, 비전 슬라이드 삽입, 마무리의 짧은 진행 상황을 반영했다. 발표 3분·질의응답 2분은 팀 대화의 안내를 따른다.</a:t>
            </a:r>
          </a:p>
          <a:p/>
          <a:p>
            <a:r>
              <a:t>교정 사항: 「1장.docx」의 “대다수가 … 알기 어려운” 문장은 이 조사에서 일반 주민 전체로 확장할 수 없어 삭제하고, 해당 조사 집단의 정보 미인지 사례로 한정했다.</a:t>
            </a: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[Q&amp;A / 쉬운 화면의 배경, 약 20초]</a:t>
            </a:r>
          </a:p>
          <a:p>
            <a:r>
              <a:t>2025년 전국 조사에서 일반 국민을 100으로 놓았을 때 고령층의 디지털정보화 상대 수준은 71.8입니다. 디지털 접근·역량·활용을 종합한 값으로, 고령층 인구 비율이나 복지 신청률은 아닙니다. 저희는 이 차이를 고려한 쉬운 화면을 설계했으며 실제 효과는 지역 사용자 과제로 검증해야 합니다.</a:t>
            </a:r>
          </a:p>
          <a:p>
            <a:r>
              <a:t>[S4] 과학기술정보통신부·NIA, 「2025 디지털정보격차 실태조사」. 정부 발표 2026.3.26, NIA 게시 2026.3.27.</a:t>
            </a:r>
          </a:p>
          <a:p>
            <a:r>
              <a:t>https://nia.or.kr/site/nia_kor/ex/bbs/View.do?bcIdx=29168&amp;cbIdx=81623</a:t>
            </a:r>
          </a:p>
          <a:p>
            <a:r>
              <a:t>https://www.korea.kr/common/docViewer.do?fileId=198400136&amp;tblKey=GMN</a:t>
            </a:r>
          </a:p>
          <a:p>
            <a:r>
              <a:t>월계1동 자체 조사나 사용성 평가 결과가 아니며 특정 고령층 사용자의 능력을 단정하지 않는다.</a:t>
            </a:r>
          </a:p>
          <a:p/>
          <a:p/>
          <a:p>
            <a:r>
              <a:t>현재 파일에서는 슬라이드 10. 본문 마지막 슬라이드는 7. 숨김 참고자료로 본문 3분에 포함하지 않는다.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5 / 04 / 06 / 낭독 목표 30초]</a:t>
            </a:r>
          </a:p>
          <a:p>
            <a:r>
              <a:t>내 상황에서 시작하는 복지 안내</a:t>
            </a:r>
          </a:p>
          <a:p/>
          <a:p>
            <a:r>
              <a:t>이런 불편을 줄이기 위해 복지나침반은 이용자가 자신의 상황에서 출발해 공고를 살펴보도록 돕는 앱입니다. 먼저 지역과 연령, 생활 상황을 입력합니다. 다음으로 관련 공고와 함께 왜 확인해 볼 만한지, 어떤 조건을 더 살펴봐야 하는지 안내하는 것이 목표입니다. 마지막으로 자세한 내용과 신청 방법은 공식 안내에서 확인하도록 연결하려 합니다. 신청 자격이나 선정 여부를 확정하는 서비스는 아닙니다.</a:t>
            </a:r>
          </a:p>
          <a:p/>
          <a:p>
            <a:r>
              <a:t>[P1] 제공 자료: 「복지나침반_중간발표.pptx」(2026.09.23 작성 기준), 일반·쉬운 화면 및 예시 데이터, 공고 조건 추출 초안 흐름, 실제 공고·추천 연결 전 상태. 코드를 재실행하거나 이후 진척을 확인한 결과가 아니다.</a:t>
            </a:r>
          </a:p>
          <a:p/>
          <a:p>
            <a:r>
              <a:t>[P3] 제공 자료: 발표자 초안 「1장.docx」 1~6장과 사용자가 붙여 넣은 팀 대화. 인사·팀명 설명 분리, 비전 슬라이드 삽입, 마무리의 짧은 진행 상황을 반영했다. 발표 3분·질의응답 2분은 팀 대화의 안내를 따른다.</a:t>
            </a: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6 / 05 / 06 / 낭독 목표 25초]</a:t>
            </a:r>
          </a:p>
          <a:p>
            <a:r>
              <a:t>월계1동 이용자도, 나에게 편한 화면</a:t>
            </a:r>
          </a:p>
          <a:p/>
          <a:p>
            <a:r>
              <a:t>왼쪽은 여러 공고를 한눈에 살펴보는 일반 화면입니다. 오른쪽은 복잡한 화면이 부담스러운 이용자를 위해 만든 쉬운 화면입니다. 글씨를 크게 보여주고 입력 과정을 단계별로 나눠, 한 번에 확인할 정보를 줄였습니다. 현재 화면은 예시 공고를 사용하는 시제품입니다.</a:t>
            </a:r>
          </a:p>
          <a:p/>
          <a:p>
            <a:r>
              <a:t>[P1] 제공 자료: 「복지나침반_중간발표.pptx」(2026.09.23 작성 기준), 일반·쉬운 화면 및 예시 데이터, 공고 조건 추출 초안 흐름, 실제 공고·추천 연결 전 상태. 코드를 재실행하거나 이후 진척을 확인한 결과가 아니다.</a:t>
            </a:r>
          </a:p>
          <a:p/>
          <a:p>
            <a:r>
              <a:t>[P3] 제공 자료: 발표자 초안 「1장.docx」 1~6장과 사용자가 붙여 넣은 팀 대화. 인사·팀명 설명 분리, 비전 슬라이드 삽입, 마무리의 짧은 진행 상황을 반영했다. 발표 3분·질의응답 2분은 팀 대화의 안내를 따른다.</a:t>
            </a: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7 / 06 / 06 / 낭독 목표 25초]</a:t>
            </a:r>
          </a:p>
          <a:p>
            <a:r>
              <a:t>찾아야 하는 복지에서, 이해하고 활용하는 복지로</a:t>
            </a:r>
          </a:p>
          <a:p/>
          <a:p>
            <a:r>
              <a:t>현재는 일반·쉬운 화면과 공고의 조건을 정리하는 흐름을 마련했습니다. 다음 단계는 실제 공고를 화면에 연결하고, 이용자가 필요한 정보를 찾을 수 있는지 확인하는 것입니다. 복지 정보를 찾아 헤매는 시간을 줄이고, 필요한 공고와 그 이유를 이해하도록 돕겠습니다. 이상으로 발표를 마치겠습니다. 감사합니다.</a:t>
            </a:r>
          </a:p>
          <a:p/>
          <a:p>
            <a:r>
              <a:t>[P1] 제공 자료: 「복지나침반_중간발표.pptx」(2026.09.23 작성 기준), 일반·쉬운 화면 및 예시 데이터, 공고 조건 추출 초안 흐름, 실제 공고·추천 연결 전 상태. 코드를 재실행하거나 이후 진척을 확인한 결과가 아니다.</a:t>
            </a:r>
          </a:p>
          <a:p/>
          <a:p>
            <a:r>
              <a:t>[P3] 제공 자료: 발표자 초안 「1장.docx」 1~6장과 사용자가 붙여 넣은 팀 대화. 인사·팀명 설명 분리, 비전 슬라이드 삽입, 마무리의 짧은 진행 상황을 반영했다. 발표 3분·질의응답 2분은 팀 대화의 안내를 따른다.</a:t>
            </a:r>
          </a:p>
          <a:p/>
          <a:p>
            <a:r>
              <a:t>전체 본문: 표지 1장+본문 6장. 목표 낭독 165초+화면 전환·호흡 여유 15초=180초. 실제 시간은 리허설로 조정. 8~11장은 숨김 참고자료. 하단 링크로 필요한 자료만 열고 마지막 본문으로 복귀.</a:t>
            </a: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[숨김 참고자료 / 상세 출처와 사용 범위]</a:t>
            </a:r>
          </a:p>
          <a:p/>
          <a:p>
            <a:r>
              <a:t>[P1] 제공 자료: 「복지나침반_중간발표.pptx」(2026.09.23 작성 기준), 일반·쉬운 화면 및 예시 데이터, 공고 조건 추출 초안 흐름, 실제 공고·추천 연결 전 상태. 코드를 재실행하거나 이후 진척을 확인한 결과가 아니다.</a:t>
            </a:r>
          </a:p>
          <a:p/>
          <a:p>
            <a:r>
              <a:t>[P2] 제공 자료: 「복지나침반_중간발표_지역문제중심_수정본.pptx」. 지역 이용 상황은 인터뷰 전 기획 가설이며 인구 비중·수요 규모를 입증하지 않는다. 이번 편집에서는 기존 이용 상황을 유지하고 대화의 비자·외국어 지원 등 추가 논의는 반영하지 않았다.</a:t>
            </a:r>
          </a:p>
          <a:p/>
          <a:p>
            <a:r>
              <a:t>[P3] 제공 자료: 발표자 초안 「1장.docx」 1~6장과 사용자가 붙여 넣은 팀 대화. 인사·팀명 설명 분리, 비전 슬라이드 삽입, 마무리의 짧은 진행 상황을 반영했다. 발표 3분·질의응답 2분은 팀 대화의 안내를 따른다.</a:t>
            </a:r>
          </a:p>
          <a:p/>
          <a:p>
            <a:r>
              <a:t>[S1] 경기복지재단, 「경기도 가족돌봄청(소)년 실태조사 연구」, 정책연구 2024-14, 2024.11.</a:t>
            </a:r>
          </a:p>
          <a:p>
            <a:r>
              <a:t>https://ggwf.gg.go.kr/archives/65937</a:t>
            </a:r>
          </a:p>
          <a:p>
            <a:r>
              <a:t>경기도 13~34세 가족돌봄 청소년·청년 1,213명 중 공공 복지지원 미경험자의 미이용 이유 43.5%. 전국민·월계1동·자격 충족자의 미수급률이 아니다. 그래프의 56.5는 100-43.5의 시각적 나머지다. 공식 요약 재확인 2026.09.27.</a:t>
            </a:r>
          </a:p>
          <a:p/>
          <a:p>
            <a:r>
              <a:t>[S2] 복지로 공식 서비스 소개.</a:t>
            </a:r>
          </a:p>
          <a:p>
            <a:r>
              <a:t>https://www.bokjiro.go.kr/ssis-tbu/cms/pc/intro/intro/info/01/index.html</a:t>
            </a:r>
          </a:p>
          <a:p>
            <a:r>
              <a:t>중앙·지자체·민간 정보 검색, 사업별 모의계산, 온라인 신청·복지지도. 온라인 신청은 지원되는 사업에 한하며 전체 검색 사업과 복지멤버십 안내 대상 사업은 구분. 2026.09.27 재확인.</a:t>
            </a:r>
          </a:p>
          <a:p/>
          <a:p>
            <a:r>
              <a:t>[S3] 보건복지부, 「몰라서 못 받던 복지서비스, 복지멤버십 가입자에게 정부가 주기적으로 찾아 안내한다」, 2026.06.24.</a:t>
            </a:r>
          </a:p>
          <a:p>
            <a:r>
              <a:t>https://www.mohw.go.kr/board.es?act=view&amp;bid=0027&amp;list_no=1490996&amp;mid=a10503010100&amp;nPage=1&amp;tag=</a:t>
            </a:r>
          </a:p>
          <a:p>
            <a:r>
              <a:t>공적자료를 활용한 맞춤 안내와 2026년 연 2회 정기안내 도입. 안내와 보장기관의 실제 지원 결정은 별개. 2026.09.27 재확인.</a:t>
            </a:r>
          </a:p>
          <a:p/>
          <a:p>
            <a:r>
              <a:t>[S4] 과학기술정보통신부·NIA, 「2025 디지털정보격차 실태조사」.</a:t>
            </a:r>
          </a:p>
          <a:p>
            <a:r>
              <a:t>https://nia.or.kr/site/nia_kor/ex/bbs/View.do?bcIdx=29168&amp;cbIdx=81623</a:t>
            </a:r>
          </a:p>
          <a:p>
            <a:r>
              <a:t>https://www.korea.kr/common/docViewer.do?fileId=198400136&amp;tblKey=GMN</a:t>
            </a:r>
          </a:p>
          <a:p>
            <a:r>
              <a:t>기존 PPT의 일반 국민 100 대비 고령층 상대 수준 71.8 그래프를 유지. 사람의 비율·복지 신청률·시제품 효과가 아니다. 보고서 게시 2026.03.27; 기존 자료가 인용한 정부 발표 2026.03.26.</a:t>
            </a: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3 / 02 / 06 / 낭독 목표 35초]</a:t>
            </a:r>
          </a:p>
          <a:p>
            <a:r>
              <a:t>월계1동에서 줄이고 싶은 세 가지 불편</a:t>
            </a:r>
          </a:p>
          <a:p/>
          <a:p>
            <a:r>
              <a:t>저희는 월계1동 주민분들이 복지 정보를 이용할 때 겪을 수 있는 세 가지 상황에 주목했습니다. 첫째, 인터넷에 익숙하지 않은 어르신이 복잡한 온라인 안내를 확인하기 어려운 경우입니다. 둘째, 타지역에서 온 청년이 주소지와 실제 사는 곳 중 어느 지역의 지원을 확인해야 할지 헷갈리는 경우입니다. 셋째, 유학생이 낯선 용어와 자격 조건 때문에 신청 대상인지 판단하기 어려운 경우입니다. 이처럼 같은 공고라도 이용자의 상황에 따라 어려움은 다를 수 있습니다.</a:t>
            </a:r>
          </a:p>
          <a:p/>
          <a:p>
            <a:r>
              <a:t>[P2] 제공 자료: 「복지나침반_중간발표_지역문제중심_수정본.pptx」. 지역 이용 상황은 인터뷰 전 기획 가설이며 인구 비중·수요 규모를 입증하지 않는다. 이번 편집에서는 기존 이용 상황을 유지하고 대화의 비자·외국어 지원 등 추가 논의는 반영하지 않았다.</a:t>
            </a:r>
          </a:p>
          <a:p/>
          <a:p>
            <a:r>
              <a:t>[P3] 제공 자료: 발표자 초안 「1장.docx」 1~6장과 사용자가 붙여 넣은 팀 대화. 인사·팀명 설명 분리, 비전 슬라이드 삽입, 마무리의 짧은 진행 상황을 반영했다. 발표 3분·질의응답 2분은 팀 대화의 안내를 따른다.</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[질의응답 2분 중 필요한 경우 / 약 20~25초]</a:t>
            </a:r>
          </a:p>
          <a:p>
            <a:r>
              <a:t>맞습니다. 복지로에도 맞춤 안내와 지역·민간 정보가 있습니다. 저희는 이를 대체하기보다, 월계1동 이용자가 필요한 공고를 찾고 자신의 조건을 이해하는 과정에 집중합니다. 현재 일반·쉬운 화면을 만들었고, 이 흐름이 실제로 도움이 되는지는 사용자 과제로 확인하려 합니다.</a:t>
            </a:r>
          </a:p>
          <a:p/>
          <a:p>
            <a:r>
              <a:t>복지로 공식 서비스 소개.</a:t>
            </a:r>
          </a:p>
          <a:p>
            <a:r>
              <a:t>https://www.bokjiro.go.kr/ssis-tbu/cms/pc/intro/intro/info/01/index.html</a:t>
            </a:r>
          </a:p>
          <a:p>
            <a:r>
              <a:t>중앙·지자체·민간 정보 검색, 사업별 모의계산, 온라인 신청·복지지도. 온라인 신청은 지원되는 사업에 한하며 전체 검색 사업과 복지멤버십 안내 대상 사업은 구분. 2026.09.27 재확인.</a:t>
            </a:r>
          </a:p>
          <a:p/>
          <a:p>
            <a:r>
              <a:t>보건복지부, 「몰라서 못 받던 복지서비스, 복지멤버십 가입자에게 정부가 주기적으로 찾아 안내한다」, 2026.06.24.</a:t>
            </a:r>
          </a:p>
          <a:p>
            <a:r>
              <a:t>https://www.mohw.go.kr/board.es?act=view&amp;bid=0027&amp;list_no=1490996&amp;mid=a10503010100&amp;nPage=1&amp;tag=</a:t>
            </a:r>
          </a:p>
          <a:p>
            <a:r>
              <a:t>공적자료를 활용한 맞춤 안내와 2026년 연 2회 정기안내 도입. 안내와 보장기관의 실제 지원 결정은 별개. 2026.09.27 재확인.</a:t>
            </a:r>
          </a:p>
          <a:p/>
          <a:p>
            <a:r>
              <a:t>제공 자료: 「복지나침반_중간발표.pptx」(2026.09.23 작성 기준), 일반·쉬운 화면 및 예시 데이터, 공고 조건 추출 초안 흐름, 실제 공고·추천 연결 전 상태. 코드를 재실행하거나 이후 진척을 확인한 결과가 아니다.</a:t>
            </a:r>
          </a:p>
          <a:p/>
          <a:p>
            <a:r>
              <a:t>운영 서비스와 개발 중인 시제품의 비교이며 우열이나 독점 기능을 주장하지 않는다. 비교표 [1]=S3, [2]=S2. 목표 항목을 현재 구현 성과로 바꾸어 설명하지 않는다.</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[질의응답 2분 / 질문에 맞는 답변만 선택]</a:t>
            </a:r>
          </a:p>
          <a:p/>
          <a:p>
            <a:r>
              <a:t>왜 월계1동인가요?</a:t>
            </a:r>
          </a:p>
          <a:p>
            <a:r>
              <a:t>이번 해커톤의 대상 지역을 첫 검증 범위로 정했습니다. 시설 수나 특정 인구 비중보다, 지역 이용자가 공고를 찾고 조건을 이해할 때 겪는 불편에 주목했습니다. 아직 주민 조사로 확인한 결과는 아니어서, 인터뷰와 공고 탐색 과제로 수요를 확인하려 합니다.</a:t>
            </a:r>
          </a:p>
          <a:p/>
          <a:p>
            <a:r>
              <a:t>현재 어디까지 구현했나요?</a:t>
            </a:r>
          </a:p>
          <a:p>
            <a:r>
              <a:t>현재는 예시 공고로 일반·쉬운 화면의 흐름을 보여주는 시제품과, 공고에서 조건을 정리하는 흐름을 마련한 단계입니다. 두 부분을 실제 공고·추천으로 연결하고 사용자가 이용하는지 확인하는 작업은 다음 단계입니다.</a:t>
            </a:r>
          </a:p>
          <a:p/>
          <a:p>
            <a:r>
              <a:t>AI가 틀리면 어떻게 하나요?</a:t>
            </a:r>
          </a:p>
          <a:p>
            <a:r>
              <a:t>AI의 결과만으로 신청 자격을 확정하지 않습니다. 원문 근거와 추가 확인할 조건을 함께 보여주고 공식 안내로 연결하는 방향입니다. 조건을 빠뜨리거나 다르게 읽는 오류는 별도 검증이 필요하며, 정확도를 수치로 제시할 단계는 아닙니다.</a:t>
            </a:r>
          </a:p>
          <a:p/>
          <a:p>
            <a:r>
              <a:t>실제로 도움이 되는지 어떻게 확인하나요?</a:t>
            </a:r>
          </a:p>
          <a:p>
            <a:r>
              <a:t>같은 이용자가 필요한 공고를 찾고, 조건을 이해하고, 신청 경로를 확인하는 과제를 수행하도록 비교를 설계하려 합니다. 맞는 공고를 찾았는지와 소요 시간을 함께 보겠습니다. 현재는 계획 단계이며 개선율이나 성공률을 측정한 결과는 없습니다.</a:t>
            </a:r>
          </a:p>
          <a:p/>
          <a:p>
            <a:r>
              <a:t>제공 자료: 「복지나침반_중간발표.pptx」(2026.09.23 작성 기준), 일반·쉬운 화면 및 예시 데이터, 공고 조건 추출 초안 흐름, 실제 공고·추천 연결 전 상태. 코드를 재실행하거나 이후 진척을 확인한 결과가 아니다.</a:t>
            </a:r>
          </a:p>
          <a:p/>
          <a:p>
            <a:r>
              <a:t>제공 자료: 「복지나침반_중간발표_지역문제중심_수정본.pptx」. 지역 이용 상황은 인터뷰 전 기획 가설이며 인구 비중·수요 규모를 입증하지 않는다. 이번 편집에서는 기존 이용 상황을 유지하고 대화의 비자·외국어 지원 등 추가 논의는 반영하지 않았다.</a:t>
            </a:r>
          </a:p>
          <a:p/>
          <a:p>
            <a:r>
              <a:t>질문 청취와 답변 시간을 합쳐 2분. 모든 예상 질문을 순서대로 읽는 구성이 아니다. 답변 15~25초를 목표로 핵심 답변부터 말한다.</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2 / 01 / 06 / 낭독 목표 20초]</a:t>
            </a:r>
          </a:p>
          <a:p>
            <a:r>
              <a:t>왜 복지나침반인가</a:t>
            </a:r>
          </a:p>
          <a:p/>
          <a:p>
            <a:r>
              <a:t>저희 팀과 앱의 이름은 모두 복지나침반입니다. 나침반이 길을 찾는 사람에게 방향을 알려주듯, 복지 정보 속에서 나에게 필요한 지원을 찾도록 돕겠다는 뜻입니다. 필요한 공고를 발견하고, 조건을 이해하고, 공식 신청 경로로 이어주는 것이 저희가 지향하는 방향입니다.</a:t>
            </a:r>
          </a:p>
          <a:p/>
          <a:p>
            <a:r>
              <a:t>[P3] 제공 자료: 발표자 초안 「1장.docx」 1~6장과 사용자가 붙여 넣은 팀 대화. 인사·팀명 설명 분리, 비전 슬라이드 삽입, 마무리의 짧은 진행 상황을 반영했다. 발표 3분·질의응답 2분은 팀 대화의 안내를 따른다.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4.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hyperlink" Target="https://ggwf.gg.go.kr/archives/65937" TargetMode="External"/><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slide" Target="slide8.xml"/><Relationship Id="rId4" Type="http://schemas.openxmlformats.org/officeDocument/2006/relationships/slide" Target="slide9.xml"/><Relationship Id="rId5" Type="http://schemas.openxmlformats.org/officeDocument/2006/relationships/slide" Target="slide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slide" Target="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slide" Target="slide7.xml"/></Relationships>
</file>

<file path=ppt/slides/_rels/slide10.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hyperlink" Target="https://nia.or.kr/site/nia_kor/ex/bbs/View.do?bcIdx=29168&amp;cbIdx=81623" TargetMode="External"/><Relationship Id="rId3" Type="http://schemas.openxmlformats.org/officeDocument/2006/relationships/slideLayout" Target="../slideLayouts/slideLayout1.xml"/><Relationship Id="rId4" Type="http://schemas.openxmlformats.org/officeDocument/2006/relationships/notesSlide" Target="../notesSlides/notesSlide3.xml"/><Relationship Id="rId5" Type="http://schemas.openxmlformats.org/officeDocument/2006/relationships/slide" Target="slide7.xml"/></Relationships>
</file>

<file path=ppt/slides/_rels/slide11.xml.rels><?xml version='1.0' encoding='UTF-8' standalone='yes'?>
<Relationships xmlns="http://schemas.openxmlformats.org/package/2006/relationships"><Relationship Id="rId1" Type="http://schemas.openxmlformats.org/officeDocument/2006/relationships/hyperlink" Target="https://ggwf.gg.go.kr/archives/65937" TargetMode="External"/><Relationship Id="rId2" Type="http://schemas.openxmlformats.org/officeDocument/2006/relationships/hyperlink" Target="https://nia.or.kr/site/nia_kor/ex/bbs/View.do?bcIdx=29168&amp;cbIdx=81623" TargetMode="External"/><Relationship Id="rId4" Type="http://schemas.openxmlformats.org/officeDocument/2006/relationships/slideLayout" Target="../slideLayouts/slideLayout1.xml"/><Relationship Id="rId5" Type="http://schemas.openxmlformats.org/officeDocument/2006/relationships/notesSlide" Target="../notesSlides/notesSlide7.xml"/><Relationship Id="rId8" Type="http://schemas.openxmlformats.org/officeDocument/2006/relationships/hyperlink" Target="https://www.bokjiro.go.kr/ssis-tbu/cms/pc/intro/intro/info/01/index.html" TargetMode="External"/><Relationship Id="rId9" Type="http://schemas.openxmlformats.org/officeDocument/2006/relationships/hyperlink" Target="https://www.mohw.go.kr/board.es?act=view&amp;bid=0027&amp;list_no=1490996&amp;mid=a10503010100&amp;nPage=1&amp;tag=" TargetMode="External"/><Relationship Id="rId10" Type="http://schemas.openxmlformats.org/officeDocument/2006/relationships/slide" Target="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_1"/>
          <p:cNvSpPr/>
          <p:nvPr/>
        </p:nvSpPr>
        <p:spPr>
          <a:xfrm>
            <a:off x="7470648" y="0"/>
            <a:ext cx="4721352" cy="6858000"/>
          </a:xfrm>
          <a:prstGeom prst="rect">
            <a:avLst/>
          </a:prstGeom>
          <a:solidFill>
            <a:srgbClr val="E8F4EF"/>
          </a:solidFill>
          <a:ln w="8890">
            <a:solidFill>
              <a:srgbClr val="E8F4EF"/>
            </a:solidFill>
            <a:prstDash val="solid"/>
          </a:ln>
        </p:spPr>
      </p:sp>
      <p:sp>
        <p:nvSpPr>
          <p:cNvPr id="3" name="circle_2"/>
          <p:cNvSpPr/>
          <p:nvPr/>
        </p:nvSpPr>
        <p:spPr>
          <a:xfrm>
            <a:off x="8147304" y="1417320"/>
            <a:ext cx="3383280" cy="3383280"/>
          </a:xfrm>
          <a:prstGeom prst="ellipse">
            <a:avLst/>
          </a:prstGeom>
          <a:solidFill>
            <a:srgbClr val="E8F4EF">
              <a:alpha val="0"/>
            </a:srgbClr>
          </a:solidFill>
          <a:ln w="13970">
            <a:solidFill>
              <a:srgbClr val="CAE2D9"/>
            </a:solidFill>
            <a:prstDash val="solid"/>
          </a:ln>
        </p:spPr>
      </p:sp>
      <p:sp>
        <p:nvSpPr>
          <p:cNvPr id="4" name="circle_3"/>
          <p:cNvSpPr/>
          <p:nvPr/>
        </p:nvSpPr>
        <p:spPr>
          <a:xfrm>
            <a:off x="8668512" y="1938528"/>
            <a:ext cx="2340864" cy="2340864"/>
          </a:xfrm>
          <a:prstGeom prst="ellipse">
            <a:avLst/>
          </a:prstGeom>
          <a:solidFill>
            <a:srgbClr val="E8F4EF">
              <a:alpha val="0"/>
            </a:srgbClr>
          </a:solidFill>
          <a:ln w="13970">
            <a:solidFill>
              <a:srgbClr val="CAE2D9"/>
            </a:solidFill>
            <a:prstDash val="solid"/>
          </a:ln>
        </p:spPr>
      </p:sp>
      <p:sp>
        <p:nvSpPr>
          <p:cNvPr id="5" name="line_4"/>
          <p:cNvSpPr/>
          <p:nvPr/>
        </p:nvSpPr>
        <p:spPr>
          <a:xfrm>
            <a:off x="9838944" y="978408"/>
            <a:ext cx="0" cy="4507992"/>
          </a:xfrm>
          <a:prstGeom prst="line">
            <a:avLst/>
          </a:prstGeom>
          <a:noFill/>
          <a:ln w="12700">
            <a:solidFill>
              <a:srgbClr val="D7E9E2"/>
            </a:solidFill>
            <a:prstDash val="solid"/>
          </a:ln>
        </p:spPr>
      </p:sp>
      <p:sp>
        <p:nvSpPr>
          <p:cNvPr id="6" name="line_5"/>
          <p:cNvSpPr/>
          <p:nvPr/>
        </p:nvSpPr>
        <p:spPr>
          <a:xfrm>
            <a:off x="7680960" y="3108960"/>
            <a:ext cx="4261104" cy="0"/>
          </a:xfrm>
          <a:prstGeom prst="line">
            <a:avLst/>
          </a:prstGeom>
          <a:noFill/>
          <a:ln w="12700">
            <a:solidFill>
              <a:srgbClr val="D7E9E2"/>
            </a:solidFill>
            <a:prstDash val="solid"/>
          </a:ln>
        </p:spPr>
      </p:sp>
      <p:pic>
        <p:nvPicPr>
          <p:cNvPr id="7" name="Image 0" descr="복지나침반 팀 로고: 나침반 안의 사람과 하트">    </p:cNvPr>
          <p:cNvPicPr>
            <a:picLocks noChangeAspect="1"/>
          </p:cNvPicPr>
          <p:nvPr/>
        </p:nvPicPr>
        <p:blipFill>
          <a:blip r:embed="rId1"/>
          <a:stretch>
            <a:fillRect/>
          </a:stretch>
        </p:blipFill>
        <p:spPr>
          <a:xfrm>
            <a:off x="8613648" y="1865376"/>
            <a:ext cx="2432304" cy="2432304"/>
          </a:xfrm>
          <a:prstGeom prst="rect">
            <a:avLst/>
          </a:prstGeom>
        </p:spPr>
      </p:pic>
      <p:sp>
        <p:nvSpPr>
          <p:cNvPr id="14" name="circle_12"/>
          <p:cNvSpPr/>
          <p:nvPr/>
        </p:nvSpPr>
        <p:spPr>
          <a:xfrm>
            <a:off x="9765792" y="987552"/>
            <a:ext cx="146304" cy="146304"/>
          </a:xfrm>
          <a:prstGeom prst="ellipse">
            <a:avLst/>
          </a:prstGeom>
          <a:solidFill>
            <a:srgbClr val="008979"/>
          </a:solidFill>
          <a:ln w="12700">
            <a:solidFill>
              <a:srgbClr val="008979"/>
            </a:solidFill>
            <a:prstDash val="solid"/>
          </a:ln>
        </p:spPr>
      </p:sp>
      <p:sp>
        <p:nvSpPr>
          <p:cNvPr id="15" name="circle_13"/>
          <p:cNvSpPr/>
          <p:nvPr/>
        </p:nvSpPr>
        <p:spPr>
          <a:xfrm>
            <a:off x="8311896" y="4681728"/>
            <a:ext cx="109728" cy="109728"/>
          </a:xfrm>
          <a:prstGeom prst="ellipse">
            <a:avLst/>
          </a:prstGeom>
          <a:solidFill>
            <a:srgbClr val="008979"/>
          </a:solidFill>
          <a:ln w="12700">
            <a:solidFill>
              <a:srgbClr val="008979"/>
            </a:solidFill>
            <a:prstDash val="solid"/>
          </a:ln>
        </p:spPr>
      </p:sp>
      <p:sp>
        <p:nvSpPr>
          <p:cNvPr id="16" name="circle_14"/>
          <p:cNvSpPr/>
          <p:nvPr/>
        </p:nvSpPr>
        <p:spPr>
          <a:xfrm>
            <a:off x="530352" y="347472"/>
            <a:ext cx="329184" cy="329184"/>
          </a:xfrm>
          <a:prstGeom prst="ellipse">
            <a:avLst/>
          </a:prstGeom>
          <a:solidFill>
            <a:srgbClr val="FFFFFF">
              <a:alpha val="0"/>
            </a:srgbClr>
          </a:solidFill>
          <a:ln w="22860">
            <a:solidFill>
              <a:srgbClr val="DDE7E8"/>
            </a:solidFill>
            <a:prstDash val="solid"/>
          </a:ln>
        </p:spPr>
      </p:sp>
      <p:sp>
        <p:nvSpPr>
          <p:cNvPr id="17" name="Shape 14"/>
          <p:cNvSpPr/>
          <p:nvPr/>
        </p:nvSpPr>
        <p:spPr>
          <a:xfrm rot="1500000">
            <a:off x="653796" y="385328"/>
            <a:ext cx="82296" cy="139903"/>
          </a:xfrm>
          <a:prstGeom prst="triangle">
            <a:avLst/>
          </a:prstGeom>
          <a:solidFill>
            <a:srgbClr val="008979"/>
          </a:solidFill>
          <a:ln w="12700">
            <a:solidFill>
              <a:srgbClr val="008979"/>
            </a:solidFill>
            <a:prstDash val="solid"/>
          </a:ln>
        </p:spPr>
      </p:sp>
      <p:sp>
        <p:nvSpPr>
          <p:cNvPr id="18" name="Shape 15"/>
          <p:cNvSpPr/>
          <p:nvPr/>
        </p:nvSpPr>
        <p:spPr>
          <a:xfrm rot="12300000">
            <a:off x="653796" y="508772"/>
            <a:ext cx="82296" cy="139903"/>
          </a:xfrm>
          <a:prstGeom prst="triangle">
            <a:avLst/>
          </a:prstGeom>
          <a:solidFill>
            <a:srgbClr val="17354C"/>
          </a:solidFill>
          <a:ln w="12700">
            <a:solidFill>
              <a:srgbClr val="17354C"/>
            </a:solidFill>
            <a:prstDash val="solid"/>
          </a:ln>
        </p:spPr>
      </p:sp>
      <p:sp>
        <p:nvSpPr>
          <p:cNvPr id="19" name="circle_15"/>
          <p:cNvSpPr/>
          <p:nvPr/>
        </p:nvSpPr>
        <p:spPr>
          <a:xfrm>
            <a:off x="680131" y="497251"/>
            <a:ext cx="29627" cy="29627"/>
          </a:xfrm>
          <a:prstGeom prst="ellipse">
            <a:avLst/>
          </a:prstGeom>
          <a:solidFill>
            <a:srgbClr val="FFFFFF"/>
          </a:solidFill>
          <a:ln w="12700">
            <a:solidFill>
              <a:srgbClr val="FFFFFF"/>
            </a:solidFill>
            <a:prstDash val="solid"/>
          </a:ln>
        </p:spPr>
      </p:sp>
      <p:sp>
        <p:nvSpPr>
          <p:cNvPr id="20" name="text_16"/>
          <p:cNvSpPr/>
          <p:nvPr/>
        </p:nvSpPr>
        <p:spPr>
          <a:xfrm>
            <a:off x="969264" y="356616"/>
            <a:ext cx="5943600" cy="283464"/>
          </a:xfrm>
          <a:prstGeom prst="rect">
            <a:avLst/>
          </a:prstGeom>
          <a:noFill/>
          <a:ln/>
        </p:spPr>
        <p:txBody>
          <a:bodyPr wrap="square" lIns="0" tIns="0" rIns="0" bIns="0" rtlCol="0" anchor="ctr">
            <a:normAutofit/>
          </a:bodyPr>
          <a:lstStyle/>
          <a:p>
            <a:pPr indent="0" marL="0">
              <a:buNone/>
            </a:pPr>
            <a:r>
              <a:rPr lang="ko-KR" altLang="en-US" sz="1100" dirty="0">
                <a:solidFill>
                  <a:srgbClr val="607582"/>
                </a:solidFill>
                <a:latin typeface="Noto Sans CJK KR" pitchFamily="34" charset="0"/>
                <a:ea typeface="Noto Sans CJK KR" pitchFamily="34" charset="-122"/>
                <a:cs typeface="Noto Sans CJK KR" pitchFamily="34" charset="-120"/>
              </a:rPr>
              <a:t>광운대·월계1동 지역문제 해결 해커톤</a:t>
            </a:r>
            <a:endParaRPr lang="ko-KR" sz="1100" dirty="0"/>
          </a:p>
        </p:txBody>
      </p:sp>
      <p:sp>
        <p:nvSpPr>
          <p:cNvPr id="23" name="text_19"/>
          <p:cNvSpPr/>
          <p:nvPr/>
        </p:nvSpPr>
        <p:spPr>
          <a:xfrm>
            <a:off x="612648" y="2304288"/>
            <a:ext cx="6675120" cy="960120"/>
          </a:xfrm>
          <a:prstGeom prst="rect">
            <a:avLst/>
          </a:prstGeom>
          <a:noFill/>
          <a:ln/>
        </p:spPr>
        <p:txBody>
          <a:bodyPr wrap="square" lIns="0" tIns="0" rIns="0" bIns="0" rtlCol="0" anchor="ctr">
            <a:normAutofit/>
          </a:bodyPr>
          <a:lstStyle/>
          <a:p>
            <a:pPr indent="0" marL="0">
              <a:buNone/>
            </a:pPr>
            <a:r>
              <a:rPr lang="ko-KR" altLang="en-US" sz="4600" b="1" dirty="0">
                <a:solidFill>
                  <a:srgbClr val="17354C"/>
                </a:solidFill>
                <a:latin typeface="Noto Sans CJK KR" pitchFamily="34" charset="0"/>
                <a:ea typeface="Noto Sans CJK KR" pitchFamily="34" charset="-122"/>
                <a:cs typeface="Noto Sans CJK KR" pitchFamily="34" charset="-120"/>
              </a:rPr>
              <a:t>복지나침반</a:t>
            </a:r>
            <a:endParaRPr lang="ko-KR" sz="4900" dirty="0"/>
          </a:p>
        </p:txBody>
      </p:sp>
      <p:sp>
        <p:nvSpPr>
          <p:cNvPr id="26" name="line_22"/>
          <p:cNvSpPr/>
          <p:nvPr/>
        </p:nvSpPr>
        <p:spPr>
          <a:xfrm>
            <a:off x="502920" y="6391656"/>
            <a:ext cx="11183112" cy="0"/>
          </a:xfrm>
          <a:prstGeom prst="line">
            <a:avLst/>
          </a:prstGeom>
          <a:noFill/>
          <a:ln w="9525">
            <a:solidFill>
              <a:srgbClr val="DDE7E8"/>
            </a:solidFill>
            <a:prstDash val="solid"/>
          </a:ln>
        </p:spPr>
      </p:sp>
      <p:sp>
        <p:nvSpPr>
          <p:cNvPr id="27" name="text_23"/>
          <p:cNvSpPr/>
          <p:nvPr/>
        </p:nvSpPr>
        <p:spPr>
          <a:xfrm>
            <a:off x="521208" y="6483096"/>
            <a:ext cx="6400800" cy="182880"/>
          </a:xfrm>
          <a:prstGeom prst="rect">
            <a:avLst/>
          </a:prstGeom>
          <a:noFill/>
          <a:ln/>
        </p:spPr>
        <p:txBody>
          <a:bodyPr wrap="square" lIns="0" tIns="0" rIns="0" bIns="0" rtlCol="0" anchor="ctr">
            <a:normAutofit/>
          </a:bodyPr>
          <a:lstStyle/>
          <a:p>
            <a:pPr indent="0" marL="0">
              <a:buNone/>
            </a:pPr>
            <a:r>
              <a:rPr lang="ko-KR" altLang="en-US" sz="880" dirty="0">
                <a:solidFill>
                  <a:srgbClr val="607582"/>
                </a:solidFill>
                <a:latin typeface="Noto Sans CJK KR" pitchFamily="34" charset="0"/>
                <a:ea typeface="Noto Sans CJK KR" pitchFamily="34" charset="-122"/>
                <a:cs typeface="Noto Sans CJK KR" pitchFamily="34" charset="-120"/>
              </a:rPr>
              <a:t>복지나침반  ·  중간발표</a:t>
            </a:r>
            <a:endParaRPr lang="ko-KR" sz="880" dirty="0"/>
          </a:p>
        </p:txBody>
      </p:sp>
      <p:sp>
        <p:nvSpPr>
          <p:cNvPr id="28" name="TextBox 27"/>
          <p:cNvSpPr txBox="1"/>
          <p:nvPr/>
        </p:nvSpPr>
        <p:spPr>
          <a:xfrm>
            <a:off x="667512" y="3520440"/>
            <a:ext cx="6492240" cy="512064"/>
          </a:xfrm>
          <a:prstGeom prst="rect">
            <a:avLst/>
          </a:prstGeom>
          <a:noFill/>
        </p:spPr>
        <p:txBody>
          <a:bodyPr wrap="square" lIns="9144" rIns="9144" tIns="0" bIns="0" anchor="ctr">
            <a:noAutofit/>
          </a:bodyPr>
          <a:lstStyle/>
          <a:p>
            <a:pPr algn="l" eaLnBrk="1" latinLnBrk="0">
              <a:lnSpc>
                <a:spcPct val="114000"/>
              </a:lnSpc>
              <a:spcBef>
                <a:spcPts val="0"/>
              </a:spcBef>
              <a:spcAft>
                <a:spcPts val="0"/>
              </a:spcAft>
            </a:pPr>
            <a:r>
              <a:rPr sz="2400" b="1">
                <a:solidFill>
                  <a:srgbClr val="17354C"/>
                </a:solidFill>
                <a:latin typeface="Noto Sans CJK KR"/>
                <a:ea typeface="Noto Sans CJK KR"/>
                <a:cs typeface="Noto Sans CJK KR"/>
              </a:rPr>
              <a:t>나에게 필요한 복지를 찾는 길잡이</a:t>
            </a:r>
          </a:p>
        </p:txBody>
      </p:sp>
      <p:sp>
        <p:nvSpPr>
          <p:cNvPr id="29" name="TextBox 28"/>
          <p:cNvSpPr txBox="1"/>
          <p:nvPr/>
        </p:nvSpPr>
        <p:spPr>
          <a:xfrm>
            <a:off x="676656" y="5111496"/>
            <a:ext cx="6309360" cy="329184"/>
          </a:xfrm>
          <a:prstGeom prst="rect">
            <a:avLst/>
          </a:prstGeom>
          <a:noFill/>
        </p:spPr>
        <p:txBody>
          <a:bodyPr wrap="square" lIns="9144" rIns="9144" tIns="0" bIns="0" anchor="ctr">
            <a:noAutofit/>
          </a:bodyPr>
          <a:lstStyle/>
          <a:p>
            <a:pPr algn="l" eaLnBrk="1" latinLnBrk="0">
              <a:lnSpc>
                <a:spcPct val="114000"/>
              </a:lnSpc>
              <a:spcBef>
                <a:spcPts val="0"/>
              </a:spcBef>
              <a:spcAft>
                <a:spcPts val="0"/>
              </a:spcAft>
            </a:pPr>
            <a:r>
              <a:rPr sz="1500" b="0">
                <a:solidFill>
                  <a:srgbClr val="567080"/>
                </a:solidFill>
                <a:latin typeface="Noto Sans CJK KR"/>
                <a:ea typeface="Noto Sans CJK KR"/>
                <a:cs typeface="Noto Sans CJK KR"/>
              </a:rPr>
              <a:t>팀 복지나침반  |  중간발표</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8F8"/>
        </a:solidFill>
        <a:effectLst/>
      </p:bgPr>
    </p:bg>
    <p:spTree>
      <p:nvGrpSpPr>
        <p:cNvPr id="1" name=""/>
        <p:cNvGrpSpPr/>
        <p:nvPr/>
      </p:nvGrpSpPr>
      <p:grpSpPr/>
      <p:sp>
        <p:nvSpPr>
          <p:cNvPr id="2" name="Oval 1"/>
          <p:cNvSpPr/>
          <p:nvPr/>
        </p:nvSpPr>
        <p:spPr>
          <a:xfrm>
            <a:off x="521208" y="265176"/>
            <a:ext cx="365760" cy="365760"/>
          </a:xfrm>
          <a:prstGeom prst="ellipse">
            <a:avLst/>
          </a:prstGeom>
          <a:noFill/>
          <a:ln w="8890">
            <a:solidFill>
              <a:srgbClr val="D7E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Isosceles Triangle 2"/>
          <p:cNvSpPr/>
          <p:nvPr/>
        </p:nvSpPr>
        <p:spPr>
          <a:xfrm rot="900000">
            <a:off x="656539" y="292607"/>
            <a:ext cx="95097" cy="155448"/>
          </a:xfrm>
          <a:prstGeom prst="triangle">
            <a:avLst/>
          </a:prstGeom>
          <a:solidFill>
            <a:srgbClr val="008B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Isosceles Triangle 3"/>
          <p:cNvSpPr/>
          <p:nvPr/>
        </p:nvSpPr>
        <p:spPr>
          <a:xfrm rot="11700000">
            <a:off x="656539" y="448056"/>
            <a:ext cx="95097" cy="155448"/>
          </a:xfrm>
          <a:prstGeom prst="triangle">
            <a:avLst/>
          </a:prstGeom>
          <a:solidFill>
            <a:srgbClr val="1735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85800" y="429768"/>
            <a:ext cx="36576" cy="3657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92608"/>
            <a:ext cx="10058400" cy="274320"/>
          </a:xfrm>
          <a:prstGeom prst="rect">
            <a:avLst/>
          </a:prstGeom>
          <a:noFill/>
        </p:spPr>
        <p:txBody>
          <a:bodyPr wrap="square" lIns="9144" rIns="9144" tIns="0" bIns="0" anchor="ctr">
            <a:noAutofit/>
          </a:bodyPr>
          <a:lstStyle/>
          <a:p>
            <a:pPr algn="l" eaLnBrk="1" latinLnBrk="0">
              <a:lnSpc>
                <a:spcPct val="114000"/>
              </a:lnSpc>
              <a:spcBef>
                <a:spcPts val="0"/>
              </a:spcBef>
              <a:spcAft>
                <a:spcPts val="0"/>
              </a:spcAft>
            </a:pPr>
            <a:r>
              <a:rPr sz="1050" b="1">
                <a:solidFill>
                  <a:srgbClr val="008B7C"/>
                </a:solidFill>
                <a:latin typeface="Noto Sans CJK KR"/>
                <a:ea typeface="Noto Sans CJK KR"/>
                <a:cs typeface="Noto Sans CJK KR"/>
              </a:rPr>
              <a:t>팀명과 비전  ·  우리가 지향하는 방향</a:t>
            </a:r>
          </a:p>
        </p:txBody>
      </p:sp>
      <p:sp>
        <p:nvSpPr>
          <p:cNvPr id="7" name="TextBox 6"/>
          <p:cNvSpPr txBox="1"/>
          <p:nvPr/>
        </p:nvSpPr>
        <p:spPr>
          <a:xfrm>
            <a:off x="548640" y="896112"/>
            <a:ext cx="11064240" cy="640080"/>
          </a:xfrm>
          <a:prstGeom prst="rect">
            <a:avLst/>
          </a:prstGeom>
          <a:noFill/>
        </p:spPr>
        <p:txBody>
          <a:bodyPr wrap="square" lIns="9144" rIns="9144" tIns="0" bIns="0" anchor="ctr">
            <a:noAutofit/>
          </a:bodyPr>
          <a:lstStyle/>
          <a:p>
            <a:pPr algn="l" eaLnBrk="1" latinLnBrk="0">
              <a:lnSpc>
                <a:spcPct val="114000"/>
              </a:lnSpc>
              <a:spcBef>
                <a:spcPts val="0"/>
              </a:spcBef>
              <a:spcAft>
                <a:spcPts val="0"/>
              </a:spcAft>
            </a:pPr>
            <a:r>
              <a:rPr sz="3000" b="1">
                <a:solidFill>
                  <a:srgbClr val="17354C"/>
                </a:solidFill>
                <a:latin typeface="Noto Sans CJK KR"/>
                <a:ea typeface="Noto Sans CJK KR"/>
                <a:cs typeface="Noto Sans CJK KR"/>
              </a:rPr>
              <a:t>왜 복지나침반인가</a:t>
            </a:r>
          </a:p>
        </p:txBody>
      </p:sp>
      <p:sp>
        <p:nvSpPr>
          <p:cNvPr id="8" name="Rounded Rectangle 7"/>
          <p:cNvSpPr/>
          <p:nvPr/>
        </p:nvSpPr>
        <p:spPr>
          <a:xfrm>
            <a:off x="576072" y="1901952"/>
            <a:ext cx="3703320" cy="4160520"/>
          </a:xfrm>
          <a:prstGeom prst="roundRect">
            <a:avLst>
              <a:gd name="adj" fmla="val 13000"/>
            </a:avLst>
          </a:prstGeom>
          <a:solidFill>
            <a:srgbClr val="FFFFFF"/>
          </a:solidFill>
          <a:ln w="8255">
            <a:solidFill>
              <a:srgbClr val="D7E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130552"/>
            <a:ext cx="2852928" cy="2852928"/>
          </a:xfrm>
          <a:prstGeom prst="ellipse">
            <a:avLst/>
          </a:prstGeom>
          <a:noFill/>
          <a:ln w="12700">
            <a:solidFill>
              <a:srgbClr val="D7EB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280160" y="2404872"/>
            <a:ext cx="2304288" cy="2304288"/>
          </a:xfrm>
          <a:prstGeom prst="ellipse">
            <a:avLst/>
          </a:prstGeom>
          <a:noFill/>
          <a:ln w="10160">
            <a:solidFill>
              <a:srgbClr val="E7F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2432304" y="2157984"/>
            <a:ext cx="0" cy="2752344"/>
          </a:xfrm>
          <a:prstGeom prst="line">
            <a:avLst/>
          </a:prstGeom>
          <a:ln w="7620">
            <a:solidFill>
              <a:srgbClr val="E1EEEB"/>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051560" y="3557016"/>
            <a:ext cx="2761488" cy="0"/>
          </a:xfrm>
          <a:prstGeom prst="line">
            <a:avLst/>
          </a:prstGeom>
          <a:ln w="7620">
            <a:solidFill>
              <a:srgbClr val="E1EEEB"/>
            </a:solidFill>
          </a:ln>
        </p:spPr>
        <p:style>
          <a:lnRef idx="2">
            <a:schemeClr val="accent1"/>
          </a:lnRef>
          <a:fillRef idx="0">
            <a:schemeClr val="accent1"/>
          </a:fillRef>
          <a:effectRef idx="1">
            <a:schemeClr val="accent1"/>
          </a:effectRef>
          <a:fontRef idx="minor">
            <a:schemeClr val="tx1"/>
          </a:fontRef>
        </p:style>
      </p:cxnSp>
      <p:pic>
        <p:nvPicPr>
          <p:cNvPr id="13" name="Picture 12" descr="기존 복지나침반 로고. 나침반의 방향 안내를 팀 비전과 연결한 시각 요소."/>
          <p:cNvPicPr>
            <a:picLocks noChangeAspect="1"/>
          </p:cNvPicPr>
          <p:nvPr/>
        </p:nvPicPr>
        <p:blipFill>
          <a:blip r:embed="rId2"/>
          <a:stretch>
            <a:fillRect/>
          </a:stretch>
        </p:blipFill>
        <p:spPr>
          <a:xfrm>
            <a:off x="1353312" y="2478024"/>
            <a:ext cx="2157984" cy="2157984"/>
          </a:xfrm>
          <a:prstGeom prst="rect">
            <a:avLst/>
          </a:prstGeom>
        </p:spPr>
      </p:pic>
      <p:sp>
        <p:nvSpPr>
          <p:cNvPr id="14" name="Rounded Rectangle 13"/>
          <p:cNvSpPr/>
          <p:nvPr/>
        </p:nvSpPr>
        <p:spPr>
          <a:xfrm>
            <a:off x="996696" y="5230368"/>
            <a:ext cx="2862072" cy="438912"/>
          </a:xfrm>
          <a:prstGeom prst="roundRect">
            <a:avLst>
              <a:gd name="adj" fmla="val 13000"/>
            </a:avLst>
          </a:prstGeom>
          <a:solidFill>
            <a:srgbClr val="E5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88136" y="5276088"/>
            <a:ext cx="2660904" cy="320040"/>
          </a:xfrm>
          <a:prstGeom prst="rect">
            <a:avLst/>
          </a:prstGeom>
          <a:noFill/>
        </p:spPr>
        <p:txBody>
          <a:bodyPr wrap="square" lIns="9144" rIns="9144" tIns="0" bIns="0" anchor="ctr">
            <a:noAutofit/>
          </a:bodyPr>
          <a:lstStyle/>
          <a:p>
            <a:pPr algn="ctr" eaLnBrk="1" latinLnBrk="0">
              <a:lnSpc>
                <a:spcPct val="114000"/>
              </a:lnSpc>
              <a:spcBef>
                <a:spcPts val="0"/>
              </a:spcBef>
              <a:spcAft>
                <a:spcPts val="0"/>
              </a:spcAft>
            </a:pPr>
            <a:r>
              <a:rPr sz="1340" b="1">
                <a:solidFill>
                  <a:srgbClr val="008B7C"/>
                </a:solidFill>
                <a:latin typeface="Noto Sans CJK KR"/>
                <a:ea typeface="Noto Sans CJK KR"/>
                <a:cs typeface="Noto Sans CJK KR"/>
              </a:rPr>
              <a:t>길을 찾을 때, 방향을 알려주듯</a:t>
            </a:r>
          </a:p>
        </p:txBody>
      </p:sp>
      <p:sp>
        <p:nvSpPr>
          <p:cNvPr id="16" name="TextBox 15"/>
          <p:cNvSpPr txBox="1"/>
          <p:nvPr/>
        </p:nvSpPr>
        <p:spPr>
          <a:xfrm>
            <a:off x="4663440" y="1993392"/>
            <a:ext cx="6858000" cy="1207008"/>
          </a:xfrm>
          <a:prstGeom prst="rect">
            <a:avLst/>
          </a:prstGeom>
          <a:noFill/>
        </p:spPr>
        <p:txBody>
          <a:bodyPr wrap="square" lIns="9144" rIns="9144" tIns="0" bIns="0" anchor="ctr">
            <a:noAutofit/>
          </a:bodyPr>
          <a:lstStyle/>
          <a:p>
            <a:pPr algn="l" eaLnBrk="1" latinLnBrk="0">
              <a:lnSpc>
                <a:spcPct val="114000"/>
              </a:lnSpc>
              <a:spcBef>
                <a:spcPts val="0"/>
              </a:spcBef>
              <a:spcAft>
                <a:spcPts val="0"/>
              </a:spcAft>
            </a:pPr>
            <a:r>
              <a:rPr sz="3200" b="1">
                <a:solidFill>
                  <a:srgbClr val="17354C"/>
                </a:solidFill>
                <a:latin typeface="Noto Sans CJK KR"/>
                <a:ea typeface="Noto Sans CJK KR"/>
                <a:cs typeface="Noto Sans CJK KR"/>
              </a:rPr>
              <a:t>필요한 복지로 향하는</a:t>
            </a:r>
          </a:p>
          <a:p>
            <a:pPr algn="l" eaLnBrk="1" latinLnBrk="0">
              <a:lnSpc>
                <a:spcPct val="114000"/>
              </a:lnSpc>
              <a:spcBef>
                <a:spcPts val="0"/>
              </a:spcBef>
              <a:spcAft>
                <a:spcPts val="0"/>
              </a:spcAft>
            </a:pPr>
            <a:r>
              <a:rPr sz="3200" b="1">
                <a:solidFill>
                  <a:srgbClr val="17354C"/>
                </a:solidFill>
                <a:latin typeface="Noto Sans CJK KR"/>
                <a:ea typeface="Noto Sans CJK KR"/>
                <a:cs typeface="Noto Sans CJK KR"/>
              </a:rPr>
              <a:t>방향을 안내하다</a:t>
            </a:r>
          </a:p>
        </p:txBody>
      </p:sp>
      <p:sp>
        <p:nvSpPr>
          <p:cNvPr id="17" name="TextBox 16"/>
          <p:cNvSpPr txBox="1"/>
          <p:nvPr/>
        </p:nvSpPr>
        <p:spPr>
          <a:xfrm>
            <a:off x="4700016" y="3493008"/>
            <a:ext cx="6400800" cy="749808"/>
          </a:xfrm>
          <a:prstGeom prst="rect">
            <a:avLst/>
          </a:prstGeom>
          <a:noFill/>
        </p:spPr>
        <p:txBody>
          <a:bodyPr wrap="square" lIns="9144" rIns="9144" tIns="0" bIns="0" anchor="ctr">
            <a:noAutofit/>
          </a:bodyPr>
          <a:lstStyle/>
          <a:p>
            <a:pPr algn="l" eaLnBrk="1" latinLnBrk="0">
              <a:lnSpc>
                <a:spcPct val="114000"/>
              </a:lnSpc>
              <a:spcBef>
                <a:spcPts val="0"/>
              </a:spcBef>
              <a:spcAft>
                <a:spcPts val="0"/>
              </a:spcAft>
            </a:pPr>
            <a:r>
              <a:rPr sz="1850" b="0">
                <a:solidFill>
                  <a:srgbClr val="567080"/>
                </a:solidFill>
                <a:latin typeface="Noto Sans CJK KR"/>
                <a:ea typeface="Noto Sans CJK KR"/>
                <a:cs typeface="Noto Sans CJK KR"/>
              </a:rPr>
              <a:t>흩어진 정보 속에서</a:t>
            </a:r>
          </a:p>
          <a:p>
            <a:pPr algn="l" eaLnBrk="1" latinLnBrk="0">
              <a:lnSpc>
                <a:spcPct val="114000"/>
              </a:lnSpc>
              <a:spcBef>
                <a:spcPts val="0"/>
              </a:spcBef>
              <a:spcAft>
                <a:spcPts val="0"/>
              </a:spcAft>
            </a:pPr>
            <a:r>
              <a:rPr sz="1850" b="0">
                <a:solidFill>
                  <a:srgbClr val="567080"/>
                </a:solidFill>
                <a:latin typeface="Noto Sans CJK KR"/>
                <a:ea typeface="Noto Sans CJK KR"/>
                <a:cs typeface="Noto Sans CJK KR"/>
              </a:rPr>
              <a:t>나에게 필요한 지원을 찾도록</a:t>
            </a:r>
          </a:p>
        </p:txBody>
      </p:sp>
      <p:sp>
        <p:nvSpPr>
          <p:cNvPr id="18" name="Rounded Rectangle 17"/>
          <p:cNvSpPr/>
          <p:nvPr/>
        </p:nvSpPr>
        <p:spPr>
          <a:xfrm>
            <a:off x="4681728" y="4800600"/>
            <a:ext cx="2167128" cy="1024128"/>
          </a:xfrm>
          <a:prstGeom prst="roundRect">
            <a:avLst>
              <a:gd name="adj" fmla="val 13000"/>
            </a:avLst>
          </a:prstGeom>
          <a:solidFill>
            <a:srgbClr val="E5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18888" y="4919472"/>
            <a:ext cx="1874519" cy="338328"/>
          </a:xfrm>
          <a:prstGeom prst="rect">
            <a:avLst/>
          </a:prstGeom>
          <a:noFill/>
        </p:spPr>
        <p:txBody>
          <a:bodyPr wrap="square" lIns="9144" rIns="9144" tIns="0" bIns="0" anchor="ctr">
            <a:noAutofit/>
          </a:bodyPr>
          <a:lstStyle/>
          <a:p>
            <a:pPr algn="l" eaLnBrk="1" latinLnBrk="0">
              <a:lnSpc>
                <a:spcPct val="114000"/>
              </a:lnSpc>
              <a:spcBef>
                <a:spcPts val="0"/>
              </a:spcBef>
              <a:spcAft>
                <a:spcPts val="0"/>
              </a:spcAft>
            </a:pPr>
            <a:r>
              <a:rPr sz="2000" b="1">
                <a:solidFill>
                  <a:srgbClr val="008B7C"/>
                </a:solidFill>
                <a:latin typeface="Noto Sans CJK KR"/>
                <a:ea typeface="Noto Sans CJK KR"/>
                <a:cs typeface="Noto Sans CJK KR"/>
              </a:rPr>
              <a:t>발견</a:t>
            </a:r>
          </a:p>
        </p:txBody>
      </p:sp>
      <p:sp>
        <p:nvSpPr>
          <p:cNvPr id="20" name="TextBox 19"/>
          <p:cNvSpPr txBox="1"/>
          <p:nvPr/>
        </p:nvSpPr>
        <p:spPr>
          <a:xfrm>
            <a:off x="4818888" y="5422392"/>
            <a:ext cx="1892807" cy="228600"/>
          </a:xfrm>
          <a:prstGeom prst="rect">
            <a:avLst/>
          </a:prstGeom>
          <a:noFill/>
        </p:spPr>
        <p:txBody>
          <a:bodyPr wrap="square" lIns="9144" rIns="9144" tIns="0" bIns="0" anchor="ctr">
            <a:noAutofit/>
          </a:bodyPr>
          <a:lstStyle/>
          <a:p>
            <a:pPr algn="l" eaLnBrk="1" latinLnBrk="0">
              <a:lnSpc>
                <a:spcPct val="114000"/>
              </a:lnSpc>
              <a:spcBef>
                <a:spcPts val="0"/>
              </a:spcBef>
              <a:spcAft>
                <a:spcPts val="0"/>
              </a:spcAft>
            </a:pPr>
            <a:r>
              <a:rPr sz="1160" b="0">
                <a:solidFill>
                  <a:srgbClr val="17354C"/>
                </a:solidFill>
                <a:latin typeface="Noto Sans CJK KR"/>
                <a:ea typeface="Noto Sans CJK KR"/>
                <a:cs typeface="Noto Sans CJK KR"/>
              </a:rPr>
              <a:t>나에게 맞는 공고</a:t>
            </a:r>
          </a:p>
        </p:txBody>
      </p:sp>
      <p:sp>
        <p:nvSpPr>
          <p:cNvPr id="21" name="Rounded Rectangle 20"/>
          <p:cNvSpPr/>
          <p:nvPr/>
        </p:nvSpPr>
        <p:spPr>
          <a:xfrm>
            <a:off x="7040880" y="4800600"/>
            <a:ext cx="2167128" cy="1024128"/>
          </a:xfrm>
          <a:prstGeom prst="roundRect">
            <a:avLst>
              <a:gd name="adj" fmla="val 13000"/>
            </a:avLst>
          </a:prstGeom>
          <a:solidFill>
            <a:srgbClr val="1735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78040" y="4919472"/>
            <a:ext cx="1874519" cy="338328"/>
          </a:xfrm>
          <a:prstGeom prst="rect">
            <a:avLst/>
          </a:prstGeom>
          <a:noFill/>
        </p:spPr>
        <p:txBody>
          <a:bodyPr wrap="square" lIns="9144" rIns="9144" tIns="0" bIns="0" anchor="ctr">
            <a:noAutofit/>
          </a:bodyPr>
          <a:lstStyle/>
          <a:p>
            <a:pPr algn="l" eaLnBrk="1" latinLnBrk="0">
              <a:lnSpc>
                <a:spcPct val="114000"/>
              </a:lnSpc>
              <a:spcBef>
                <a:spcPts val="0"/>
              </a:spcBef>
              <a:spcAft>
                <a:spcPts val="0"/>
              </a:spcAft>
            </a:pPr>
            <a:r>
              <a:rPr sz="2000" b="1">
                <a:solidFill>
                  <a:srgbClr val="FFFFFF"/>
                </a:solidFill>
                <a:latin typeface="Noto Sans CJK KR"/>
                <a:ea typeface="Noto Sans CJK KR"/>
                <a:cs typeface="Noto Sans CJK KR"/>
              </a:rPr>
              <a:t>이해</a:t>
            </a:r>
          </a:p>
        </p:txBody>
      </p:sp>
      <p:sp>
        <p:nvSpPr>
          <p:cNvPr id="23" name="TextBox 22"/>
          <p:cNvSpPr txBox="1"/>
          <p:nvPr/>
        </p:nvSpPr>
        <p:spPr>
          <a:xfrm>
            <a:off x="7178040" y="5422392"/>
            <a:ext cx="1892807" cy="228600"/>
          </a:xfrm>
          <a:prstGeom prst="rect">
            <a:avLst/>
          </a:prstGeom>
          <a:noFill/>
        </p:spPr>
        <p:txBody>
          <a:bodyPr wrap="square" lIns="9144" rIns="9144" tIns="0" bIns="0" anchor="ctr">
            <a:noAutofit/>
          </a:bodyPr>
          <a:lstStyle/>
          <a:p>
            <a:pPr algn="l" eaLnBrk="1" latinLnBrk="0">
              <a:lnSpc>
                <a:spcPct val="114000"/>
              </a:lnSpc>
              <a:spcBef>
                <a:spcPts val="0"/>
              </a:spcBef>
              <a:spcAft>
                <a:spcPts val="0"/>
              </a:spcAft>
            </a:pPr>
            <a:r>
              <a:rPr sz="1160" b="0">
                <a:solidFill>
                  <a:srgbClr val="BCE8DF"/>
                </a:solidFill>
                <a:latin typeface="Noto Sans CJK KR"/>
                <a:ea typeface="Noto Sans CJK KR"/>
                <a:cs typeface="Noto Sans CJK KR"/>
              </a:rPr>
              <a:t>이유가 보이는 안내</a:t>
            </a:r>
          </a:p>
        </p:txBody>
      </p:sp>
      <p:sp>
        <p:nvSpPr>
          <p:cNvPr id="24" name="Rounded Rectangle 23"/>
          <p:cNvSpPr/>
          <p:nvPr/>
        </p:nvSpPr>
        <p:spPr>
          <a:xfrm>
            <a:off x="9400032" y="4800600"/>
            <a:ext cx="2167128" cy="1024128"/>
          </a:xfrm>
          <a:prstGeom prst="roundRect">
            <a:avLst>
              <a:gd name="adj" fmla="val 13000"/>
            </a:avLst>
          </a:prstGeom>
          <a:solidFill>
            <a:srgbClr val="E5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537192" y="4919472"/>
            <a:ext cx="1874519" cy="338328"/>
          </a:xfrm>
          <a:prstGeom prst="rect">
            <a:avLst/>
          </a:prstGeom>
          <a:noFill/>
        </p:spPr>
        <p:txBody>
          <a:bodyPr wrap="square" lIns="9144" rIns="9144" tIns="0" bIns="0" anchor="ctr">
            <a:noAutofit/>
          </a:bodyPr>
          <a:lstStyle/>
          <a:p>
            <a:pPr algn="l" eaLnBrk="1" latinLnBrk="0">
              <a:lnSpc>
                <a:spcPct val="114000"/>
              </a:lnSpc>
              <a:spcBef>
                <a:spcPts val="0"/>
              </a:spcBef>
              <a:spcAft>
                <a:spcPts val="0"/>
              </a:spcAft>
            </a:pPr>
            <a:r>
              <a:rPr sz="2000" b="1">
                <a:solidFill>
                  <a:srgbClr val="008B7C"/>
                </a:solidFill>
                <a:latin typeface="Noto Sans CJK KR"/>
                <a:ea typeface="Noto Sans CJK KR"/>
                <a:cs typeface="Noto Sans CJK KR"/>
              </a:rPr>
              <a:t>연결</a:t>
            </a:r>
          </a:p>
        </p:txBody>
      </p:sp>
      <p:sp>
        <p:nvSpPr>
          <p:cNvPr id="26" name="TextBox 25"/>
          <p:cNvSpPr txBox="1"/>
          <p:nvPr/>
        </p:nvSpPr>
        <p:spPr>
          <a:xfrm>
            <a:off x="9537192" y="5422392"/>
            <a:ext cx="1892807" cy="228600"/>
          </a:xfrm>
          <a:prstGeom prst="rect">
            <a:avLst/>
          </a:prstGeom>
          <a:noFill/>
        </p:spPr>
        <p:txBody>
          <a:bodyPr wrap="square" lIns="9144" rIns="9144" tIns="0" bIns="0" anchor="ctr">
            <a:noAutofit/>
          </a:bodyPr>
          <a:lstStyle/>
          <a:p>
            <a:pPr algn="l" eaLnBrk="1" latinLnBrk="0">
              <a:lnSpc>
                <a:spcPct val="114000"/>
              </a:lnSpc>
              <a:spcBef>
                <a:spcPts val="0"/>
              </a:spcBef>
              <a:spcAft>
                <a:spcPts val="0"/>
              </a:spcAft>
            </a:pPr>
            <a:r>
              <a:rPr sz="1160" b="0">
                <a:solidFill>
                  <a:srgbClr val="17354C"/>
                </a:solidFill>
                <a:latin typeface="Noto Sans CJK KR"/>
                <a:ea typeface="Noto Sans CJK KR"/>
                <a:cs typeface="Noto Sans CJK KR"/>
              </a:rPr>
              <a:t>공식 신청 경로</a:t>
            </a:r>
          </a:p>
        </p:txBody>
      </p:sp>
      <p:cxnSp>
        <p:nvCxnSpPr>
          <p:cNvPr id="27" name="Connector 26"/>
          <p:cNvCxnSpPr/>
          <p:nvPr/>
        </p:nvCxnSpPr>
        <p:spPr>
          <a:xfrm>
            <a:off x="502920" y="6391656"/>
            <a:ext cx="11183112" cy="0"/>
          </a:xfrm>
          <a:prstGeom prst="line">
            <a:avLst/>
          </a:prstGeom>
          <a:ln w="6350">
            <a:solidFill>
              <a:srgbClr val="D7E3E6"/>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21207" y="6483096"/>
            <a:ext cx="6400800" cy="182880"/>
          </a:xfrm>
          <a:prstGeom prst="rect">
            <a:avLst/>
          </a:prstGeom>
          <a:noFill/>
        </p:spPr>
        <p:txBody>
          <a:bodyPr wrap="square" lIns="9144" rIns="9144" tIns="0" bIns="0" anchor="ctr">
            <a:noAutofit/>
          </a:bodyPr>
          <a:lstStyle/>
          <a:p>
            <a:pPr algn="l" eaLnBrk="1" latinLnBrk="0">
              <a:lnSpc>
                <a:spcPct val="114000"/>
              </a:lnSpc>
              <a:spcBef>
                <a:spcPts val="0"/>
              </a:spcBef>
              <a:spcAft>
                <a:spcPts val="0"/>
              </a:spcAft>
            </a:pPr>
            <a:r>
              <a:rPr sz="880" b="0">
                <a:solidFill>
                  <a:srgbClr val="567080"/>
                </a:solidFill>
                <a:latin typeface="Noto Sans CJK KR"/>
                <a:ea typeface="Noto Sans CJK KR"/>
                <a:cs typeface="Noto Sans CJK KR"/>
              </a:rPr>
              <a:t>복지나침반  ·  중간발표</a:t>
            </a:r>
          </a:p>
        </p:txBody>
      </p:sp>
      <p:sp>
        <p:nvSpPr>
          <p:cNvPr id="29" name="TextBox 28"/>
          <p:cNvSpPr txBox="1"/>
          <p:nvPr/>
        </p:nvSpPr>
        <p:spPr>
          <a:xfrm>
            <a:off x="10625328" y="6464808"/>
            <a:ext cx="1033271" cy="228600"/>
          </a:xfrm>
          <a:prstGeom prst="rect">
            <a:avLst/>
          </a:prstGeom>
          <a:noFill/>
        </p:spPr>
        <p:txBody>
          <a:bodyPr wrap="square" lIns="9144" rIns="9144" tIns="0" bIns="0" anchor="ctr">
            <a:noAutofit/>
          </a:bodyPr>
          <a:lstStyle/>
          <a:p>
            <a:pPr algn="r" eaLnBrk="1" latinLnBrk="0">
              <a:lnSpc>
                <a:spcPct val="114000"/>
              </a:lnSpc>
              <a:spcBef>
                <a:spcPts val="0"/>
              </a:spcBef>
              <a:spcAft>
                <a:spcPts val="0"/>
              </a:spcAft>
            </a:pPr>
            <a:r>
              <a:rPr sz="919" b="0">
                <a:solidFill>
                  <a:srgbClr val="567080"/>
                </a:solidFill>
                <a:latin typeface="Noto Sans CJK KR"/>
                <a:ea typeface="Noto Sans CJK KR"/>
                <a:cs typeface="Noto Sans CJK KR"/>
              </a:rPr>
              <a:t>01 / 06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8F8"/>
        </a:solidFill>
        <a:effectLst/>
      </p:bgPr>
    </p:bg>
    <p:spTree>
      <p:nvGrpSpPr>
        <p:cNvPr id="1" name=""/>
        <p:cNvGrpSpPr/>
        <p:nvPr/>
      </p:nvGrpSpPr>
      <p:grpSpPr/>
      <p:sp>
        <p:nvSpPr>
          <p:cNvPr id="2" name="Compass"/>
          <p:cNvSpPr/>
          <p:nvPr/>
        </p:nvSpPr>
        <p:spPr>
          <a:xfrm>
            <a:off x="502920" y="292608"/>
            <a:ext cx="292608" cy="292608"/>
          </a:xfrm>
          <a:prstGeom prst="ellipse">
            <a:avLst/>
          </a:prstGeom>
          <a:solidFill>
            <a:srgbClr val="FFFFFF">
              <a:alpha val="0"/>
            </a:srgbClr>
          </a:solidFill>
          <a:ln w="22860">
            <a:solidFill>
              <a:srgbClr val="DDE7E8"/>
            </a:solidFill>
            <a:prstDash val="solid"/>
          </a:ln>
        </p:spPr>
        <p:txBody>
          <a:bodyPr/>
          <a:p/>
        </p:txBody>
      </p:sp>
      <p:sp>
        <p:nvSpPr>
          <p:cNvPr id="3" name="Compass"/>
          <p:cNvSpPr/>
          <p:nvPr/>
        </p:nvSpPr>
        <p:spPr>
          <a:xfrm rot="1500000">
            <a:off x="612648" y="326258"/>
            <a:ext cx="73152" cy="124358"/>
          </a:xfrm>
          <a:prstGeom prst="triangle">
            <a:avLst/>
          </a:prstGeom>
          <a:solidFill>
            <a:srgbClr val="008979"/>
          </a:solidFill>
          <a:ln w="12700">
            <a:solidFill>
              <a:srgbClr val="008979"/>
            </a:solidFill>
            <a:prstDash val="solid"/>
          </a:ln>
        </p:spPr>
        <p:txBody>
          <a:bodyPr/>
          <a:p/>
        </p:txBody>
      </p:sp>
      <p:sp>
        <p:nvSpPr>
          <p:cNvPr id="4" name="Compass"/>
          <p:cNvSpPr/>
          <p:nvPr/>
        </p:nvSpPr>
        <p:spPr>
          <a:xfrm rot="12300000">
            <a:off x="612648" y="435986"/>
            <a:ext cx="73152" cy="124358"/>
          </a:xfrm>
          <a:prstGeom prst="triangle">
            <a:avLst/>
          </a:prstGeom>
          <a:solidFill>
            <a:srgbClr val="17354C"/>
          </a:solidFill>
          <a:ln w="12700">
            <a:solidFill>
              <a:srgbClr val="17354C"/>
            </a:solidFill>
            <a:prstDash val="solid"/>
          </a:ln>
        </p:spPr>
        <p:txBody>
          <a:bodyPr/>
          <a:p/>
        </p:txBody>
      </p:sp>
      <p:sp>
        <p:nvSpPr>
          <p:cNvPr id="5" name="Compass"/>
          <p:cNvSpPr/>
          <p:nvPr/>
        </p:nvSpPr>
        <p:spPr>
          <a:xfrm>
            <a:off x="636057" y="425745"/>
            <a:ext cx="26335" cy="26335"/>
          </a:xfrm>
          <a:prstGeom prst="ellipse">
            <a:avLst/>
          </a:prstGeom>
          <a:solidFill>
            <a:srgbClr val="FFFFFF"/>
          </a:solidFill>
          <a:ln w="12700">
            <a:solidFill>
              <a:srgbClr val="FFFFFF"/>
            </a:solidFill>
            <a:prstDash val="solid"/>
          </a:ln>
        </p:spPr>
        <p:txBody>
          <a:bodyPr/>
          <a:p/>
        </p:txBody>
      </p:sp>
      <p:sp>
        <p:nvSpPr>
          <p:cNvPr id="6" name="TextBox 5"/>
          <p:cNvSpPr txBox="1"/>
          <p:nvPr/>
        </p:nvSpPr>
        <p:spPr>
          <a:xfrm>
            <a:off x="914400" y="292608"/>
            <a:ext cx="9601200" cy="274320"/>
          </a:xfrm>
          <a:prstGeom prst="rect">
            <a:avLst/>
          </a:prstGeom>
          <a:noFill/>
        </p:spPr>
        <p:txBody>
          <a:bodyPr wrap="square" lIns="0" rIns="0" tIns="0" bIns="0" anchor="ctr">
            <a:noAutofit/>
          </a:bodyPr>
          <a:lstStyle/>
          <a:p>
            <a:pPr algn="l">
              <a:lnSpc>
                <a:spcPct val="112000"/>
              </a:lnSpc>
              <a:spcBef>
                <a:spcPts val="0"/>
              </a:spcBef>
              <a:spcAft>
                <a:spcPts val="0"/>
              </a:spcAft>
            </a:pPr>
            <a:r>
              <a:rPr sz="1050" b="1" lang="ko-KR" dirty="0">
                <a:solidFill>
                  <a:srgbClr val="008979"/>
                </a:solidFill>
                <a:latin typeface="Noto Sans CJK KR"/>
                <a:ea typeface="Noto Sans CJK KR"/>
                <a:cs typeface="Noto Sans CJK KR"/>
              </a:rPr>
              <a:t>주제 선정 이유 01  ·  월계1동</a:t>
            </a:r>
          </a:p>
        </p:txBody>
      </p:sp>
      <p:sp>
        <p:nvSpPr>
          <p:cNvPr id="7" name="TextBox 6"/>
          <p:cNvSpPr txBox="1"/>
          <p:nvPr/>
        </p:nvSpPr>
        <p:spPr>
          <a:xfrm>
            <a:off x="548640" y="896112"/>
            <a:ext cx="11045952" cy="640080"/>
          </a:xfrm>
          <a:prstGeom prst="rect">
            <a:avLst/>
          </a:prstGeom>
          <a:noFill/>
        </p:spPr>
        <p:txBody>
          <a:bodyPr wrap="square" lIns="0" rIns="0" tIns="0" bIns="0" anchor="ctr">
            <a:noAutofit/>
          </a:bodyPr>
          <a:lstStyle/>
          <a:p>
            <a:pPr algn="l">
              <a:lnSpc>
                <a:spcPct val="112000"/>
              </a:lnSpc>
              <a:spcBef>
                <a:spcPts val="0"/>
              </a:spcBef>
              <a:spcAft>
                <a:spcPts val="0"/>
              </a:spcAft>
            </a:pPr>
            <a:r>
              <a:rPr sz="3000" b="1" lang="ko-KR" dirty="0">
                <a:solidFill>
                  <a:srgbClr val="17354C"/>
                </a:solidFill>
                <a:latin typeface="Noto Sans CJK KR"/>
                <a:ea typeface="Noto Sans CJK KR"/>
                <a:cs typeface="Noto Sans CJK KR"/>
              </a:rPr>
              <a:t>월계1동에서 줄이고 싶은 세 가지 불편</a:t>
            </a:r>
          </a:p>
        </p:txBody>
      </p:sp>
      <p:sp>
        <p:nvSpPr>
          <p:cNvPr id="8" name="TextBox 7"/>
          <p:cNvSpPr txBox="1"/>
          <p:nvPr/>
        </p:nvSpPr>
        <p:spPr>
          <a:xfrm>
            <a:off x="576072" y="1627632"/>
            <a:ext cx="10972800" cy="347472"/>
          </a:xfrm>
          <a:prstGeom prst="rect">
            <a:avLst/>
          </a:prstGeom>
          <a:noFill/>
        </p:spPr>
        <p:txBody>
          <a:bodyPr wrap="square" lIns="0" rIns="0" tIns="0" bIns="0" anchor="ctr">
            <a:noAutofit/>
          </a:bodyPr>
          <a:lstStyle/>
          <a:p>
            <a:pPr algn="l">
              <a:lnSpc>
                <a:spcPct val="112000"/>
              </a:lnSpc>
              <a:spcBef>
                <a:spcPts val="0"/>
              </a:spcBef>
              <a:spcAft>
                <a:spcPts val="0"/>
              </a:spcAft>
            </a:pPr>
            <a:r>
              <a:rPr sz="1420" b="0" lang="ko-KR" dirty="0">
                <a:solidFill>
                  <a:srgbClr val="607582"/>
                </a:solidFill>
                <a:latin typeface="Noto Sans CJK KR"/>
                <a:ea typeface="Noto Sans CJK KR"/>
                <a:cs typeface="Noto Sans CJK KR"/>
              </a:rPr>
              <a:t>어르신·청년·유학생의 서로 다른 상황에서 출발하는 복지 안내</a:t>
            </a:r>
          </a:p>
        </p:txBody>
      </p:sp>
      <p:cxnSp>
        <p:nvCxnSpPr>
          <p:cNvPr id="9" name="Connector 8"/>
          <p:cNvCxnSpPr/>
          <p:nvPr/>
        </p:nvCxnSpPr>
        <p:spPr>
          <a:xfrm>
            <a:off x="502920" y="6391656"/>
            <a:ext cx="11183112" cy="0"/>
          </a:xfrm>
          <a:prstGeom prst="line">
            <a:avLst/>
          </a:prstGeom>
          <a:ln w="8890">
            <a:solidFill>
              <a:srgbClr val="D9E4E5"/>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21207" y="6483096"/>
            <a:ext cx="6400800" cy="182880"/>
          </a:xfrm>
          <a:prstGeom prst="rect">
            <a:avLst/>
          </a:prstGeom>
          <a:noFill/>
        </p:spPr>
        <p:txBody>
          <a:bodyPr wrap="square" lIns="0" rIns="0" tIns="0" bIns="0" anchor="ctr">
            <a:noAutofit/>
          </a:bodyPr>
          <a:lstStyle/>
          <a:p>
            <a:pPr algn="l">
              <a:lnSpc>
                <a:spcPct val="112000"/>
              </a:lnSpc>
              <a:spcBef>
                <a:spcPts val="0"/>
              </a:spcBef>
              <a:spcAft>
                <a:spcPts val="0"/>
              </a:spcAft>
            </a:pPr>
            <a:r>
              <a:rPr sz="880" b="0" lang="ko-KR" dirty="0">
                <a:solidFill>
                  <a:srgbClr val="607582"/>
                </a:solidFill>
                <a:latin typeface="Noto Sans CJK KR"/>
                <a:ea typeface="Noto Sans CJK KR"/>
                <a:cs typeface="Noto Sans CJK KR"/>
              </a:rPr>
              <a:t>복지나침반  ·  중간발표</a:t>
            </a:r>
          </a:p>
        </p:txBody>
      </p:sp>
      <p:sp>
        <p:nvSpPr>
          <p:cNvPr id="11" name="TextBox 10"/>
          <p:cNvSpPr txBox="1"/>
          <p:nvPr/>
        </p:nvSpPr>
        <p:spPr>
          <a:xfrm>
            <a:off x="10625328" y="6464808"/>
            <a:ext cx="1033271" cy="228600"/>
          </a:xfrm>
          <a:prstGeom prst="rect">
            <a:avLst/>
          </a:prstGeom>
          <a:noFill/>
        </p:spPr>
        <p:txBody>
          <a:bodyPr wrap="square" lIns="0" rIns="0" tIns="0" bIns="0" anchor="ctr">
            <a:noAutofit/>
          </a:bodyPr>
          <a:lstStyle/>
          <a:p>
            <a:pPr algn="r">
              <a:lnSpc>
                <a:spcPct val="112000"/>
              </a:lnSpc>
              <a:spcBef>
                <a:spcPts val="0"/>
              </a:spcBef>
              <a:spcAft>
                <a:spcPts val="0"/>
              </a:spcAft>
            </a:pPr>
            <a:r>
              <a:rPr sz="919" b="0" lang="ko-KR" dirty="0">
                <a:solidFill>
                  <a:srgbClr val="607582"/>
                </a:solidFill>
                <a:latin typeface="Noto Sans CJK KR"/>
                <a:ea typeface="Noto Sans CJK KR"/>
                <a:cs typeface="Noto Sans CJK KR"/>
              </a:rPr>
              <a:t>02 / 06</a:t>
            </a:r>
          </a:p>
        </p:txBody>
      </p:sp>
      <p:sp>
        <p:nvSpPr>
          <p:cNvPr id="12" name="TextBox 11"/>
          <p:cNvSpPr txBox="1"/>
          <p:nvPr/>
        </p:nvSpPr>
        <p:spPr>
          <a:xfrm>
            <a:off x="594360" y="2148840"/>
            <a:ext cx="10927080" cy="219456"/>
          </a:xfrm>
          <a:prstGeom prst="rect">
            <a:avLst/>
          </a:prstGeom>
          <a:noFill/>
        </p:spPr>
        <p:txBody>
          <a:bodyPr wrap="square" lIns="0" rIns="0" tIns="0" bIns="0" anchor="ctr">
            <a:noAutofit/>
          </a:bodyPr>
          <a:lstStyle/>
          <a:p>
            <a:pPr algn="l">
              <a:lnSpc>
                <a:spcPct val="122000"/>
              </a:lnSpc>
              <a:spcBef>
                <a:spcPts val="0"/>
              </a:spcBef>
              <a:spcAft>
                <a:spcPts val="0"/>
              </a:spcAft>
            </a:pPr>
            <a:r>
              <a:rPr sz="1120" b="1" lang="ko-KR" dirty="0">
                <a:solidFill>
                  <a:srgbClr val="607582"/>
                </a:solidFill>
                <a:latin typeface="Noto Sans CJK KR"/>
                <a:ea typeface="Noto Sans CJK KR"/>
              </a:rPr>
              <a:t>초기 사용자 · 이용 상황 예시</a:t>
            </a:r>
          </a:p>
        </p:txBody>
      </p:sp>
      <p:sp>
        <p:nvSpPr>
          <p:cNvPr id="13" name="Rounded Rectangle 12"/>
          <p:cNvSpPr/>
          <p:nvPr/>
        </p:nvSpPr>
        <p:spPr>
          <a:xfrm>
            <a:off x="548640" y="2551176"/>
            <a:ext cx="3538728" cy="2944368"/>
          </a:xfrm>
          <a:prstGeom prst="roundRect">
            <a:avLst>
              <a:gd name="adj" fmla="val 7000"/>
            </a:avLst>
          </a:prstGeom>
          <a:solidFill>
            <a:srgbClr val="FFFFFF"/>
          </a:solidFill>
          <a:ln w="10160">
            <a:solidFill>
              <a:srgbClr val="D9E4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2766060"/>
            <a:ext cx="393192" cy="310896"/>
          </a:xfrm>
          <a:prstGeom prst="rect">
            <a:avLst/>
          </a:prstGeom>
          <a:solidFill>
            <a:srgbClr val="E5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2766060"/>
            <a:ext cx="393192" cy="310896"/>
          </a:xfrm>
          <a:prstGeom prst="rect">
            <a:avLst/>
          </a:prstGeom>
          <a:noFill/>
        </p:spPr>
        <p:txBody>
          <a:bodyPr wrap="square" lIns="0" rIns="0" tIns="0" bIns="0" anchor="ctr">
            <a:noAutofit/>
          </a:bodyPr>
          <a:lstStyle/>
          <a:p>
            <a:pPr algn="ctr">
              <a:lnSpc>
                <a:spcPct val="122000"/>
              </a:lnSpc>
              <a:spcBef>
                <a:spcPts val="0"/>
              </a:spcBef>
              <a:spcAft>
                <a:spcPts val="0"/>
              </a:spcAft>
            </a:pPr>
            <a:r>
              <a:rPr sz="1080" b="1" lang="ko-KR" dirty="0">
                <a:solidFill>
                  <a:srgbClr val="008979"/>
                </a:solidFill>
                <a:latin typeface="Noto Sans CJK KR"/>
                <a:ea typeface="Noto Sans CJK KR"/>
              </a:rPr>
              <a:t>01</a:t>
            </a:r>
          </a:p>
        </p:txBody>
      </p:sp>
      <p:sp>
        <p:nvSpPr>
          <p:cNvPr id="16" name="TextBox 15"/>
          <p:cNvSpPr txBox="1"/>
          <p:nvPr/>
        </p:nvSpPr>
        <p:spPr>
          <a:xfrm>
            <a:off x="1307592" y="2743200"/>
            <a:ext cx="2542032" cy="384048"/>
          </a:xfrm>
          <a:prstGeom prst="rect">
            <a:avLst/>
          </a:prstGeom>
          <a:noFill/>
        </p:spPr>
        <p:txBody>
          <a:bodyPr wrap="square" lIns="0" rIns="0" tIns="0" bIns="0" anchor="ctr">
            <a:noAutofit/>
          </a:bodyPr>
          <a:lstStyle/>
          <a:p>
            <a:pPr algn="l">
              <a:lnSpc>
                <a:spcPct val="122000"/>
              </a:lnSpc>
              <a:spcBef>
                <a:spcPts val="0"/>
              </a:spcBef>
              <a:spcAft>
                <a:spcPts val="0"/>
              </a:spcAft>
            </a:pPr>
            <a:r>
              <a:rPr sz="1720" b="1" lang="ko-KR" dirty="0">
                <a:solidFill>
                  <a:srgbClr val="17354C"/>
                </a:solidFill>
                <a:latin typeface="Noto Sans CJK KR"/>
                <a:ea typeface="Noto Sans CJK KR"/>
              </a:rPr>
              <a:t>지역 어르신</a:t>
            </a:r>
          </a:p>
        </p:txBody>
      </p:sp>
      <p:sp>
        <p:nvSpPr>
          <p:cNvPr id="17" name="TextBox 16"/>
          <p:cNvSpPr txBox="1"/>
          <p:nvPr/>
        </p:nvSpPr>
        <p:spPr>
          <a:xfrm>
            <a:off x="795528" y="3355848"/>
            <a:ext cx="3063240" cy="338328"/>
          </a:xfrm>
          <a:prstGeom prst="rect">
            <a:avLst/>
          </a:prstGeom>
          <a:noFill/>
        </p:spPr>
        <p:txBody>
          <a:bodyPr wrap="square" lIns="0" rIns="0" tIns="0" bIns="0" anchor="ctr">
            <a:noAutofit/>
          </a:bodyPr>
          <a:lstStyle/>
          <a:p>
            <a:pPr algn="l">
              <a:lnSpc>
                <a:spcPct val="122000"/>
              </a:lnSpc>
              <a:spcBef>
                <a:spcPts val="0"/>
              </a:spcBef>
              <a:spcAft>
                <a:spcPts val="0"/>
              </a:spcAft>
            </a:pPr>
            <a:r>
              <a:rPr sz="1750" b="1" lang="ko-KR" dirty="0">
                <a:solidFill>
                  <a:srgbClr val="17354C"/>
                </a:solidFill>
                <a:latin typeface="Noto Sans CJK KR"/>
                <a:ea typeface="Noto Sans CJK KR"/>
              </a:rPr>
              <a:t>복잡한 화면과 절차</a:t>
            </a:r>
          </a:p>
        </p:txBody>
      </p:sp>
      <p:sp>
        <p:nvSpPr>
          <p:cNvPr id="18" name="TextBox 17"/>
          <p:cNvSpPr txBox="1"/>
          <p:nvPr/>
        </p:nvSpPr>
        <p:spPr>
          <a:xfrm>
            <a:off x="795528" y="3822191"/>
            <a:ext cx="3063240" cy="667512"/>
          </a:xfrm>
          <a:prstGeom prst="rect">
            <a:avLst/>
          </a:prstGeom>
          <a:noFill/>
        </p:spPr>
        <p:txBody>
          <a:bodyPr wrap="square" lIns="0" rIns="0" tIns="0" bIns="0" anchor="ctr">
            <a:noAutofit/>
          </a:bodyPr>
          <a:lstStyle/>
          <a:p>
            <a:pPr algn="l">
              <a:lnSpc>
                <a:spcPct val="122000"/>
              </a:lnSpc>
              <a:spcBef>
                <a:spcPts val="0"/>
              </a:spcBef>
              <a:spcAft>
                <a:spcPts val="0"/>
              </a:spcAft>
            </a:pPr>
            <a:r>
              <a:rPr sz="1430" b="0" lang="ko-KR" dirty="0">
                <a:solidFill>
                  <a:srgbClr val="607582"/>
                </a:solidFill>
                <a:latin typeface="Noto Sans CJK KR"/>
                <a:ea typeface="Noto Sans CJK KR"/>
              </a:rPr>
              <a:t>공고를 찾았는데,</a:t>
            </a:r>
          </a:p>
          <a:p>
            <a:pPr algn="l">
              <a:lnSpc>
                <a:spcPct val="122000"/>
              </a:lnSpc>
              <a:spcBef>
                <a:spcPts val="0"/>
              </a:spcBef>
              <a:spcAft>
                <a:spcPts val="0"/>
              </a:spcAft>
            </a:pPr>
            <a:r>
              <a:rPr sz="1430" b="0" lang="ko-KR" dirty="0">
                <a:solidFill>
                  <a:srgbClr val="607582"/>
                </a:solidFill>
                <a:latin typeface="Noto Sans CJK KR"/>
                <a:ea typeface="Noto Sans CJK KR"/>
              </a:rPr>
              <a:t>어디부터 확인해야 할까?</a:t>
            </a:r>
          </a:p>
        </p:txBody>
      </p:sp>
      <p:cxnSp>
        <p:nvCxnSpPr>
          <p:cNvPr id="19" name="Connector 18"/>
          <p:cNvCxnSpPr/>
          <p:nvPr/>
        </p:nvCxnSpPr>
        <p:spPr>
          <a:xfrm>
            <a:off x="795528" y="4700016"/>
            <a:ext cx="3044952" cy="0"/>
          </a:xfrm>
          <a:prstGeom prst="line">
            <a:avLst/>
          </a:prstGeom>
          <a:ln w="10160">
            <a:solidFill>
              <a:srgbClr val="D9E4E5"/>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95528" y="4855464"/>
            <a:ext cx="3063240" cy="182880"/>
          </a:xfrm>
          <a:prstGeom prst="rect">
            <a:avLst/>
          </a:prstGeom>
          <a:noFill/>
        </p:spPr>
        <p:txBody>
          <a:bodyPr wrap="square" lIns="0" rIns="0" tIns="0" bIns="0" anchor="ctr">
            <a:noAutofit/>
          </a:bodyPr>
          <a:lstStyle/>
          <a:p>
            <a:pPr algn="l">
              <a:lnSpc>
                <a:spcPct val="122000"/>
              </a:lnSpc>
              <a:spcBef>
                <a:spcPts val="0"/>
              </a:spcBef>
              <a:spcAft>
                <a:spcPts val="0"/>
              </a:spcAft>
            </a:pPr>
            <a:r>
              <a:rPr sz="1030" b="1" lang="ko-KR" dirty="0">
                <a:solidFill>
                  <a:srgbClr val="607582"/>
                </a:solidFill>
                <a:latin typeface="Noto Sans CJK KR"/>
                <a:ea typeface="Noto Sans CJK KR"/>
              </a:rPr>
              <a:t>안내 방향</a:t>
            </a:r>
          </a:p>
        </p:txBody>
      </p:sp>
      <p:sp>
        <p:nvSpPr>
          <p:cNvPr id="21" name="TextBox 20"/>
          <p:cNvSpPr txBox="1"/>
          <p:nvPr/>
        </p:nvSpPr>
        <p:spPr>
          <a:xfrm>
            <a:off x="795528" y="5129784"/>
            <a:ext cx="3063240" cy="274320"/>
          </a:xfrm>
          <a:prstGeom prst="rect">
            <a:avLst/>
          </a:prstGeom>
          <a:noFill/>
        </p:spPr>
        <p:txBody>
          <a:bodyPr wrap="square" lIns="0" rIns="0" tIns="0" bIns="0" anchor="ctr">
            <a:noAutofit/>
          </a:bodyPr>
          <a:lstStyle/>
          <a:p>
            <a:pPr algn="l">
              <a:lnSpc>
                <a:spcPct val="122000"/>
              </a:lnSpc>
              <a:spcBef>
                <a:spcPts val="0"/>
              </a:spcBef>
              <a:spcAft>
                <a:spcPts val="0"/>
              </a:spcAft>
            </a:pPr>
            <a:r>
              <a:rPr sz="1440" b="1" lang="ko-KR" dirty="0">
                <a:solidFill>
                  <a:srgbClr val="008979"/>
                </a:solidFill>
                <a:latin typeface="Noto Sans CJK KR"/>
                <a:ea typeface="Noto Sans CJK KR"/>
              </a:rPr>
              <a:t>큰 글씨·한 단계씩 안내</a:t>
            </a:r>
          </a:p>
        </p:txBody>
      </p:sp>
      <p:sp>
        <p:nvSpPr>
          <p:cNvPr id="22" name="Rounded Rectangle 21"/>
          <p:cNvSpPr/>
          <p:nvPr/>
        </p:nvSpPr>
        <p:spPr>
          <a:xfrm>
            <a:off x="4325112" y="2551176"/>
            <a:ext cx="3538728" cy="2944368"/>
          </a:xfrm>
          <a:prstGeom prst="roundRect">
            <a:avLst>
              <a:gd name="adj" fmla="val 7000"/>
            </a:avLst>
          </a:prstGeom>
          <a:solidFill>
            <a:srgbClr val="FFFFFF"/>
          </a:solidFill>
          <a:ln w="10160">
            <a:solidFill>
              <a:srgbClr val="D9E4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53712" y="2766060"/>
            <a:ext cx="393192" cy="310896"/>
          </a:xfrm>
          <a:prstGeom prst="rect">
            <a:avLst/>
          </a:prstGeom>
          <a:solidFill>
            <a:srgbClr val="E5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53712" y="2766060"/>
            <a:ext cx="393192" cy="310896"/>
          </a:xfrm>
          <a:prstGeom prst="rect">
            <a:avLst/>
          </a:prstGeom>
          <a:noFill/>
        </p:spPr>
        <p:txBody>
          <a:bodyPr wrap="square" lIns="0" rIns="0" tIns="0" bIns="0" anchor="ctr">
            <a:noAutofit/>
          </a:bodyPr>
          <a:lstStyle/>
          <a:p>
            <a:pPr algn="ctr">
              <a:lnSpc>
                <a:spcPct val="122000"/>
              </a:lnSpc>
              <a:spcBef>
                <a:spcPts val="0"/>
              </a:spcBef>
              <a:spcAft>
                <a:spcPts val="0"/>
              </a:spcAft>
            </a:pPr>
            <a:r>
              <a:rPr sz="1080" b="1" lang="ko-KR" dirty="0">
                <a:solidFill>
                  <a:srgbClr val="008979"/>
                </a:solidFill>
                <a:latin typeface="Noto Sans CJK KR"/>
                <a:ea typeface="Noto Sans CJK KR"/>
              </a:rPr>
              <a:t>02</a:t>
            </a:r>
          </a:p>
        </p:txBody>
      </p:sp>
      <p:sp>
        <p:nvSpPr>
          <p:cNvPr id="25" name="TextBox 24"/>
          <p:cNvSpPr txBox="1"/>
          <p:nvPr/>
        </p:nvSpPr>
        <p:spPr>
          <a:xfrm>
            <a:off x="5084064" y="2743200"/>
            <a:ext cx="2542032" cy="384048"/>
          </a:xfrm>
          <a:prstGeom prst="rect">
            <a:avLst/>
          </a:prstGeom>
          <a:noFill/>
        </p:spPr>
        <p:txBody>
          <a:bodyPr wrap="square" lIns="0" rIns="0" tIns="0" bIns="0" anchor="ctr">
            <a:noAutofit/>
          </a:bodyPr>
          <a:lstStyle/>
          <a:p>
            <a:pPr algn="l">
              <a:lnSpc>
                <a:spcPct val="122000"/>
              </a:lnSpc>
              <a:spcBef>
                <a:spcPts val="0"/>
              </a:spcBef>
              <a:spcAft>
                <a:spcPts val="0"/>
              </a:spcAft>
            </a:pPr>
            <a:r>
              <a:rPr sz="1720" b="1" lang="ko-KR" dirty="0">
                <a:solidFill>
                  <a:srgbClr val="17354C"/>
                </a:solidFill>
                <a:latin typeface="Noto Sans CJK KR"/>
                <a:ea typeface="Noto Sans CJK KR"/>
              </a:rPr>
              <a:t>타지역에서 온 청년</a:t>
            </a:r>
          </a:p>
        </p:txBody>
      </p:sp>
      <p:sp>
        <p:nvSpPr>
          <p:cNvPr id="26" name="TextBox 25"/>
          <p:cNvSpPr txBox="1"/>
          <p:nvPr/>
        </p:nvSpPr>
        <p:spPr>
          <a:xfrm>
            <a:off x="4572000" y="3355848"/>
            <a:ext cx="3063240" cy="338328"/>
          </a:xfrm>
          <a:prstGeom prst="rect">
            <a:avLst/>
          </a:prstGeom>
          <a:noFill/>
        </p:spPr>
        <p:txBody>
          <a:bodyPr wrap="square" lIns="0" rIns="0" tIns="0" bIns="0" anchor="ctr">
            <a:noAutofit/>
          </a:bodyPr>
          <a:lstStyle/>
          <a:p>
            <a:pPr algn="l">
              <a:lnSpc>
                <a:spcPct val="122000"/>
              </a:lnSpc>
              <a:spcBef>
                <a:spcPts val="0"/>
              </a:spcBef>
              <a:spcAft>
                <a:spcPts val="0"/>
              </a:spcAft>
            </a:pPr>
            <a:r>
              <a:rPr sz="1750" b="1" lang="ko-KR" dirty="0">
                <a:solidFill>
                  <a:srgbClr val="17354C"/>
                </a:solidFill>
                <a:latin typeface="Noto Sans CJK KR"/>
                <a:ea typeface="Noto Sans CJK KR"/>
              </a:rPr>
              <a:t>헷갈리는 지역 기준</a:t>
            </a:r>
          </a:p>
        </p:txBody>
      </p:sp>
      <p:sp>
        <p:nvSpPr>
          <p:cNvPr id="27" name="TextBox 26"/>
          <p:cNvSpPr txBox="1"/>
          <p:nvPr/>
        </p:nvSpPr>
        <p:spPr>
          <a:xfrm>
            <a:off x="4572000" y="3822191"/>
            <a:ext cx="3063240" cy="667512"/>
          </a:xfrm>
          <a:prstGeom prst="rect">
            <a:avLst/>
          </a:prstGeom>
          <a:noFill/>
        </p:spPr>
        <p:txBody>
          <a:bodyPr wrap="square" lIns="0" rIns="0" tIns="0" bIns="0" anchor="ctr">
            <a:noAutofit/>
          </a:bodyPr>
          <a:lstStyle/>
          <a:p>
            <a:pPr algn="l">
              <a:lnSpc>
                <a:spcPct val="122000"/>
              </a:lnSpc>
              <a:spcBef>
                <a:spcPts val="0"/>
              </a:spcBef>
              <a:spcAft>
                <a:spcPts val="0"/>
              </a:spcAft>
            </a:pPr>
            <a:r>
              <a:rPr sz="1430" b="0" lang="ko-KR" dirty="0">
                <a:solidFill>
                  <a:srgbClr val="607582"/>
                </a:solidFill>
                <a:latin typeface="Noto Sans CJK KR"/>
                <a:ea typeface="Noto Sans CJK KR"/>
              </a:rPr>
              <a:t>주소지와 사는 곳이 다른데,</a:t>
            </a:r>
          </a:p>
          <a:p>
            <a:pPr algn="l">
              <a:lnSpc>
                <a:spcPct val="122000"/>
              </a:lnSpc>
              <a:spcBef>
                <a:spcPts val="0"/>
              </a:spcBef>
              <a:spcAft>
                <a:spcPts val="0"/>
              </a:spcAft>
            </a:pPr>
            <a:r>
              <a:rPr sz="1430" b="0" lang="ko-KR" dirty="0">
                <a:solidFill>
                  <a:srgbClr val="607582"/>
                </a:solidFill>
                <a:latin typeface="Noto Sans CJK KR"/>
                <a:ea typeface="Noto Sans CJK KR"/>
              </a:rPr>
              <a:t>어느 지역 지원을 봐야 할까?</a:t>
            </a:r>
          </a:p>
        </p:txBody>
      </p:sp>
      <p:cxnSp>
        <p:nvCxnSpPr>
          <p:cNvPr id="28" name="Connector 27"/>
          <p:cNvCxnSpPr/>
          <p:nvPr/>
        </p:nvCxnSpPr>
        <p:spPr>
          <a:xfrm>
            <a:off x="4572000" y="4700016"/>
            <a:ext cx="3044952" cy="0"/>
          </a:xfrm>
          <a:prstGeom prst="line">
            <a:avLst/>
          </a:prstGeom>
          <a:ln w="10160">
            <a:solidFill>
              <a:srgbClr val="D9E4E5"/>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0" y="4855464"/>
            <a:ext cx="3063240" cy="182880"/>
          </a:xfrm>
          <a:prstGeom prst="rect">
            <a:avLst/>
          </a:prstGeom>
          <a:noFill/>
        </p:spPr>
        <p:txBody>
          <a:bodyPr wrap="square" lIns="0" rIns="0" tIns="0" bIns="0" anchor="ctr">
            <a:noAutofit/>
          </a:bodyPr>
          <a:lstStyle/>
          <a:p>
            <a:pPr algn="l">
              <a:lnSpc>
                <a:spcPct val="122000"/>
              </a:lnSpc>
              <a:spcBef>
                <a:spcPts val="0"/>
              </a:spcBef>
              <a:spcAft>
                <a:spcPts val="0"/>
              </a:spcAft>
            </a:pPr>
            <a:r>
              <a:rPr sz="1030" b="1" lang="ko-KR" dirty="0">
                <a:solidFill>
                  <a:srgbClr val="607582"/>
                </a:solidFill>
                <a:latin typeface="Noto Sans CJK KR"/>
                <a:ea typeface="Noto Sans CJK KR"/>
              </a:rPr>
              <a:t>안내 방향</a:t>
            </a:r>
          </a:p>
        </p:txBody>
      </p:sp>
      <p:sp>
        <p:nvSpPr>
          <p:cNvPr id="30" name="TextBox 29"/>
          <p:cNvSpPr txBox="1"/>
          <p:nvPr/>
        </p:nvSpPr>
        <p:spPr>
          <a:xfrm>
            <a:off x="4572000" y="5129784"/>
            <a:ext cx="3063240" cy="274320"/>
          </a:xfrm>
          <a:prstGeom prst="rect">
            <a:avLst/>
          </a:prstGeom>
          <a:noFill/>
        </p:spPr>
        <p:txBody>
          <a:bodyPr wrap="square" lIns="0" rIns="0" tIns="0" bIns="0" anchor="ctr">
            <a:noAutofit/>
          </a:bodyPr>
          <a:lstStyle/>
          <a:p>
            <a:pPr algn="l">
              <a:lnSpc>
                <a:spcPct val="122000"/>
              </a:lnSpc>
              <a:spcBef>
                <a:spcPts val="0"/>
              </a:spcBef>
              <a:spcAft>
                <a:spcPts val="0"/>
              </a:spcAft>
            </a:pPr>
            <a:r>
              <a:rPr sz="1440" b="1" lang="ko-KR" dirty="0">
                <a:solidFill>
                  <a:srgbClr val="008979"/>
                </a:solidFill>
                <a:latin typeface="Noto Sans CJK KR"/>
                <a:ea typeface="Noto Sans CJK KR"/>
              </a:rPr>
              <a:t>주소지·생활권 조건 구분</a:t>
            </a:r>
          </a:p>
        </p:txBody>
      </p:sp>
      <p:sp>
        <p:nvSpPr>
          <p:cNvPr id="31" name="Rounded Rectangle 30"/>
          <p:cNvSpPr/>
          <p:nvPr/>
        </p:nvSpPr>
        <p:spPr>
          <a:xfrm>
            <a:off x="8101583" y="2551176"/>
            <a:ext cx="3538728" cy="2944368"/>
          </a:xfrm>
          <a:prstGeom prst="roundRect">
            <a:avLst>
              <a:gd name="adj" fmla="val 7000"/>
            </a:avLst>
          </a:prstGeom>
          <a:solidFill>
            <a:srgbClr val="FFFFFF"/>
          </a:solidFill>
          <a:ln w="10160">
            <a:solidFill>
              <a:srgbClr val="D9E4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330183" y="2766060"/>
            <a:ext cx="393192" cy="310896"/>
          </a:xfrm>
          <a:prstGeom prst="rect">
            <a:avLst/>
          </a:prstGeom>
          <a:solidFill>
            <a:srgbClr val="E5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30183" y="2766060"/>
            <a:ext cx="393192" cy="310896"/>
          </a:xfrm>
          <a:prstGeom prst="rect">
            <a:avLst/>
          </a:prstGeom>
          <a:noFill/>
        </p:spPr>
        <p:txBody>
          <a:bodyPr wrap="square" lIns="0" rIns="0" tIns="0" bIns="0" anchor="ctr">
            <a:noAutofit/>
          </a:bodyPr>
          <a:lstStyle/>
          <a:p>
            <a:pPr algn="ctr">
              <a:lnSpc>
                <a:spcPct val="122000"/>
              </a:lnSpc>
              <a:spcBef>
                <a:spcPts val="0"/>
              </a:spcBef>
              <a:spcAft>
                <a:spcPts val="0"/>
              </a:spcAft>
            </a:pPr>
            <a:r>
              <a:rPr sz="1080" b="1" lang="ko-KR" dirty="0">
                <a:solidFill>
                  <a:srgbClr val="008979"/>
                </a:solidFill>
                <a:latin typeface="Noto Sans CJK KR"/>
                <a:ea typeface="Noto Sans CJK KR"/>
              </a:rPr>
              <a:t>03</a:t>
            </a:r>
          </a:p>
        </p:txBody>
      </p:sp>
      <p:sp>
        <p:nvSpPr>
          <p:cNvPr id="34" name="TextBox 33"/>
          <p:cNvSpPr txBox="1"/>
          <p:nvPr/>
        </p:nvSpPr>
        <p:spPr>
          <a:xfrm>
            <a:off x="8860536" y="2743200"/>
            <a:ext cx="2542032" cy="384048"/>
          </a:xfrm>
          <a:prstGeom prst="rect">
            <a:avLst/>
          </a:prstGeom>
          <a:noFill/>
        </p:spPr>
        <p:txBody>
          <a:bodyPr wrap="square" lIns="0" rIns="0" tIns="0" bIns="0" anchor="ctr">
            <a:noAutofit/>
          </a:bodyPr>
          <a:lstStyle/>
          <a:p>
            <a:pPr algn="l">
              <a:lnSpc>
                <a:spcPct val="122000"/>
              </a:lnSpc>
              <a:spcBef>
                <a:spcPts val="0"/>
              </a:spcBef>
              <a:spcAft>
                <a:spcPts val="0"/>
              </a:spcAft>
            </a:pPr>
            <a:r>
              <a:rPr sz="1720" b="1" lang="ko-KR" dirty="0">
                <a:solidFill>
                  <a:srgbClr val="17354C"/>
                </a:solidFill>
                <a:latin typeface="Noto Sans CJK KR"/>
                <a:ea typeface="Noto Sans CJK KR"/>
              </a:rPr>
              <a:t>외국인 유학생</a:t>
            </a:r>
          </a:p>
        </p:txBody>
      </p:sp>
      <p:sp>
        <p:nvSpPr>
          <p:cNvPr id="35" name="TextBox 34"/>
          <p:cNvSpPr txBox="1"/>
          <p:nvPr/>
        </p:nvSpPr>
        <p:spPr>
          <a:xfrm>
            <a:off x="8348471" y="3355848"/>
            <a:ext cx="3063240" cy="338328"/>
          </a:xfrm>
          <a:prstGeom prst="rect">
            <a:avLst/>
          </a:prstGeom>
          <a:noFill/>
        </p:spPr>
        <p:txBody>
          <a:bodyPr wrap="square" lIns="0" rIns="0" tIns="0" bIns="0" anchor="ctr">
            <a:noAutofit/>
          </a:bodyPr>
          <a:lstStyle/>
          <a:p>
            <a:pPr algn="l">
              <a:lnSpc>
                <a:spcPct val="122000"/>
              </a:lnSpc>
              <a:spcBef>
                <a:spcPts val="0"/>
              </a:spcBef>
              <a:spcAft>
                <a:spcPts val="0"/>
              </a:spcAft>
            </a:pPr>
            <a:r>
              <a:rPr sz="1750" b="1" lang="ko-KR" dirty="0">
                <a:solidFill>
                  <a:srgbClr val="17354C"/>
                </a:solidFill>
                <a:latin typeface="Noto Sans CJK KR"/>
                <a:ea typeface="Noto Sans CJK KR"/>
              </a:rPr>
              <a:t>낯선 용어와 자격 조건</a:t>
            </a:r>
          </a:p>
        </p:txBody>
      </p:sp>
      <p:sp>
        <p:nvSpPr>
          <p:cNvPr id="36" name="TextBox 35"/>
          <p:cNvSpPr txBox="1"/>
          <p:nvPr/>
        </p:nvSpPr>
        <p:spPr>
          <a:xfrm>
            <a:off x="8348471" y="3822191"/>
            <a:ext cx="3063240" cy="667512"/>
          </a:xfrm>
          <a:prstGeom prst="rect">
            <a:avLst/>
          </a:prstGeom>
          <a:noFill/>
        </p:spPr>
        <p:txBody>
          <a:bodyPr wrap="square" lIns="0" rIns="0" tIns="0" bIns="0" anchor="ctr">
            <a:noAutofit/>
          </a:bodyPr>
          <a:lstStyle/>
          <a:p>
            <a:pPr algn="l">
              <a:lnSpc>
                <a:spcPct val="122000"/>
              </a:lnSpc>
              <a:spcBef>
                <a:spcPts val="0"/>
              </a:spcBef>
              <a:spcAft>
                <a:spcPts val="0"/>
              </a:spcAft>
            </a:pPr>
            <a:r>
              <a:rPr sz="1430" b="0" lang="ko-KR" dirty="0">
                <a:solidFill>
                  <a:srgbClr val="607582"/>
                </a:solidFill>
                <a:latin typeface="Noto Sans CJK KR"/>
                <a:ea typeface="Noto Sans CJK KR"/>
              </a:rPr>
              <a:t>안내문을 읽었는데,</a:t>
            </a:r>
          </a:p>
          <a:p>
            <a:pPr algn="l">
              <a:lnSpc>
                <a:spcPct val="122000"/>
              </a:lnSpc>
              <a:spcBef>
                <a:spcPts val="0"/>
              </a:spcBef>
              <a:spcAft>
                <a:spcPts val="0"/>
              </a:spcAft>
            </a:pPr>
            <a:r>
              <a:rPr sz="1430" b="0" lang="ko-KR" dirty="0">
                <a:solidFill>
                  <a:srgbClr val="607582"/>
                </a:solidFill>
                <a:latin typeface="Noto Sans CJK KR"/>
                <a:ea typeface="Noto Sans CJK KR"/>
              </a:rPr>
              <a:t>나도 신청할 수 있는 걸까?</a:t>
            </a:r>
          </a:p>
        </p:txBody>
      </p:sp>
      <p:cxnSp>
        <p:nvCxnSpPr>
          <p:cNvPr id="37" name="Connector 36"/>
          <p:cNvCxnSpPr/>
          <p:nvPr/>
        </p:nvCxnSpPr>
        <p:spPr>
          <a:xfrm>
            <a:off x="8348471" y="4700016"/>
            <a:ext cx="3044953" cy="0"/>
          </a:xfrm>
          <a:prstGeom prst="line">
            <a:avLst/>
          </a:prstGeom>
          <a:ln w="10160">
            <a:solidFill>
              <a:srgbClr val="D9E4E5"/>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8348471" y="4855464"/>
            <a:ext cx="3063240" cy="182880"/>
          </a:xfrm>
          <a:prstGeom prst="rect">
            <a:avLst/>
          </a:prstGeom>
          <a:noFill/>
        </p:spPr>
        <p:txBody>
          <a:bodyPr wrap="square" lIns="0" rIns="0" tIns="0" bIns="0" anchor="ctr">
            <a:noAutofit/>
          </a:bodyPr>
          <a:lstStyle/>
          <a:p>
            <a:pPr algn="l">
              <a:lnSpc>
                <a:spcPct val="122000"/>
              </a:lnSpc>
              <a:spcBef>
                <a:spcPts val="0"/>
              </a:spcBef>
              <a:spcAft>
                <a:spcPts val="0"/>
              </a:spcAft>
            </a:pPr>
            <a:r>
              <a:rPr sz="1030" b="1" lang="ko-KR" dirty="0">
                <a:solidFill>
                  <a:srgbClr val="607582"/>
                </a:solidFill>
                <a:latin typeface="Noto Sans CJK KR"/>
                <a:ea typeface="Noto Sans CJK KR"/>
              </a:rPr>
              <a:t>안내 방향</a:t>
            </a:r>
          </a:p>
        </p:txBody>
      </p:sp>
      <p:sp>
        <p:nvSpPr>
          <p:cNvPr id="39" name="TextBox 38"/>
          <p:cNvSpPr txBox="1"/>
          <p:nvPr/>
        </p:nvSpPr>
        <p:spPr>
          <a:xfrm>
            <a:off x="8348471" y="5129784"/>
            <a:ext cx="3063240" cy="274320"/>
          </a:xfrm>
          <a:prstGeom prst="rect">
            <a:avLst/>
          </a:prstGeom>
          <a:noFill/>
        </p:spPr>
        <p:txBody>
          <a:bodyPr wrap="square" lIns="0" rIns="0" tIns="0" bIns="0" anchor="ctr">
            <a:noAutofit/>
          </a:bodyPr>
          <a:lstStyle/>
          <a:p>
            <a:pPr algn="l">
              <a:lnSpc>
                <a:spcPct val="122000"/>
              </a:lnSpc>
              <a:spcBef>
                <a:spcPts val="0"/>
              </a:spcBef>
              <a:spcAft>
                <a:spcPts val="0"/>
              </a:spcAft>
            </a:pPr>
            <a:r>
              <a:rPr sz="1440" b="1" lang="ko-KR" dirty="0">
                <a:solidFill>
                  <a:srgbClr val="008979"/>
                </a:solidFill>
                <a:latin typeface="Noto Sans CJK KR"/>
                <a:ea typeface="Noto Sans CJK KR"/>
              </a:rPr>
              <a:t>자격 조건·문의처 안내</a:t>
            </a:r>
          </a:p>
        </p:txBody>
      </p:sp>
      <p:sp>
        <p:nvSpPr>
          <p:cNvPr id="40" name="TextBox 39"/>
          <p:cNvSpPr txBox="1"/>
          <p:nvPr/>
        </p:nvSpPr>
        <p:spPr>
          <a:xfrm>
            <a:off x="603504" y="5705856"/>
            <a:ext cx="10972800" cy="329184"/>
          </a:xfrm>
          <a:prstGeom prst="rect">
            <a:avLst/>
          </a:prstGeom>
          <a:noFill/>
        </p:spPr>
        <p:txBody>
          <a:bodyPr wrap="square" lIns="0" rIns="0" tIns="0" bIns="0" anchor="ctr">
            <a:noAutofit/>
          </a:bodyPr>
          <a:lstStyle/>
          <a:p>
            <a:pPr algn="l">
              <a:lnSpc>
                <a:spcPct val="122000"/>
              </a:lnSpc>
              <a:spcBef>
                <a:spcPts val="0"/>
              </a:spcBef>
              <a:spcAft>
                <a:spcPts val="0"/>
              </a:spcAft>
            </a:pPr>
            <a:r>
              <a:rPr sz="1760" b="1" lang="ko-KR" dirty="0">
                <a:solidFill>
                  <a:srgbClr val="17354C"/>
                </a:solidFill>
                <a:latin typeface="Noto Sans CJK KR"/>
                <a:ea typeface="Noto Sans CJK KR"/>
              </a:rPr>
              <a:t>공통 과제  |  복지 정보와 내 조건을 연결하는 과정의 부담</a:t>
            </a:r>
          </a:p>
        </p:txBody>
      </p:sp>
      <p:sp>
        <p:nvSpPr>
          <p:cNvPr id="41" name="TextBox 40"/>
          <p:cNvSpPr txBox="1"/>
          <p:nvPr/>
        </p:nvSpPr>
        <p:spPr>
          <a:xfrm>
            <a:off x="594360" y="6153912"/>
            <a:ext cx="11000232" cy="164592"/>
          </a:xfrm>
          <a:prstGeom prst="rect">
            <a:avLst/>
          </a:prstGeom>
          <a:noFill/>
        </p:spPr>
        <p:txBody>
          <a:bodyPr wrap="square" lIns="0" rIns="0" tIns="0" bIns="0" anchor="ctr">
            <a:noAutofit/>
          </a:bodyPr>
          <a:lstStyle/>
          <a:p>
            <a:pPr algn="l">
              <a:lnSpc>
                <a:spcPct val="122000"/>
              </a:lnSpc>
              <a:spcBef>
                <a:spcPts val="0"/>
              </a:spcBef>
              <a:spcAft>
                <a:spcPts val="0"/>
              </a:spcAft>
            </a:pPr>
            <a:r>
              <a:rPr sz="850" b="0" lang="ko-KR" dirty="0">
                <a:solidFill>
                  <a:srgbClr val="607582"/>
                </a:solidFill>
                <a:latin typeface="Noto Sans CJK KR"/>
                <a:ea typeface="Noto Sans CJK KR"/>
              </a:rPr>
              <a:t>초기 기획 가설 · 실제 주민 인터뷰 결과가 아니며, 집단별 인구 비중과 수요 규모는 추가 확인</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5F8F8"/>
        </a:solidFill>
      </p:bgPr>
    </p:bg>
    <p:spTree>
      <p:nvGrpSpPr>
        <p:cNvPr id="1" name=""/>
        <p:cNvGrpSpPr/>
        <p:nvPr/>
      </p:nvGrpSpPr>
      <p:grpSpPr>
        <a:xfrm>
          <a:off x="0" y="0"/>
          <a:ext cx="0" cy="0"/>
          <a:chOff x="0" y="0"/>
          <a:chExt cx="0" cy="0"/>
        </a:xfrm>
      </p:grpSpPr>
      <p:sp>
        <p:nvSpPr>
          <p:cNvPr id="2" name="circle_26"/>
          <p:cNvSpPr/>
          <p:nvPr/>
        </p:nvSpPr>
        <p:spPr>
          <a:xfrm>
            <a:off x="502920" y="292608"/>
            <a:ext cx="292608" cy="292608"/>
          </a:xfrm>
          <a:prstGeom prst="ellipse">
            <a:avLst/>
          </a:prstGeom>
          <a:solidFill>
            <a:srgbClr val="FFFFFF">
              <a:alpha val="0"/>
            </a:srgbClr>
          </a:solidFill>
          <a:ln w="22860">
            <a:solidFill>
              <a:srgbClr val="DDE7E8"/>
            </a:solidFill>
            <a:prstDash val="solid"/>
          </a:ln>
        </p:spPr>
      </p:sp>
      <p:sp>
        <p:nvSpPr>
          <p:cNvPr id="3" name="Shape 1"/>
          <p:cNvSpPr/>
          <p:nvPr/>
        </p:nvSpPr>
        <p:spPr>
          <a:xfrm rot="1500000">
            <a:off x="612648" y="326258"/>
            <a:ext cx="73152" cy="124358"/>
          </a:xfrm>
          <a:prstGeom prst="triangle">
            <a:avLst/>
          </a:prstGeom>
          <a:solidFill>
            <a:srgbClr val="008979"/>
          </a:solidFill>
          <a:ln w="12700">
            <a:solidFill>
              <a:srgbClr val="008979"/>
            </a:solidFill>
            <a:prstDash val="solid"/>
          </a:ln>
        </p:spPr>
      </p:sp>
      <p:sp>
        <p:nvSpPr>
          <p:cNvPr id="4" name="Shape 2"/>
          <p:cNvSpPr/>
          <p:nvPr/>
        </p:nvSpPr>
        <p:spPr>
          <a:xfrm rot="12300000">
            <a:off x="612648" y="435986"/>
            <a:ext cx="73152" cy="124358"/>
          </a:xfrm>
          <a:prstGeom prst="triangle">
            <a:avLst/>
          </a:prstGeom>
          <a:solidFill>
            <a:srgbClr val="17354C"/>
          </a:solidFill>
          <a:ln w="12700">
            <a:solidFill>
              <a:srgbClr val="17354C"/>
            </a:solidFill>
            <a:prstDash val="solid"/>
          </a:ln>
        </p:spPr>
      </p:sp>
      <p:sp>
        <p:nvSpPr>
          <p:cNvPr id="5" name="circle_27"/>
          <p:cNvSpPr/>
          <p:nvPr/>
        </p:nvSpPr>
        <p:spPr>
          <a:xfrm>
            <a:off x="636057" y="425745"/>
            <a:ext cx="26335" cy="26335"/>
          </a:xfrm>
          <a:prstGeom prst="ellipse">
            <a:avLst/>
          </a:prstGeom>
          <a:solidFill>
            <a:srgbClr val="FFFFFF"/>
          </a:solidFill>
          <a:ln w="12700">
            <a:solidFill>
              <a:srgbClr val="FFFFFF"/>
            </a:solidFill>
            <a:prstDash val="solid"/>
          </a:ln>
        </p:spPr>
      </p:sp>
      <p:sp>
        <p:nvSpPr>
          <p:cNvPr id="6" name="text_28"/>
          <p:cNvSpPr/>
          <p:nvPr/>
        </p:nvSpPr>
        <p:spPr>
          <a:xfrm>
            <a:off x="914400" y="292608"/>
            <a:ext cx="9601200" cy="274320"/>
          </a:xfrm>
          <a:prstGeom prst="rect">
            <a:avLst/>
          </a:prstGeom>
          <a:noFill/>
          <a:ln/>
        </p:spPr>
        <p:txBody>
          <a:bodyPr wrap="square" lIns="0" tIns="0" rIns="0" bIns="0" rtlCol="0" anchor="ctr">
            <a:normAutofit/>
          </a:bodyPr>
          <a:lstStyle/>
          <a:p>
            <a:pPr indent="0" marL="0">
              <a:buNone/>
            </a:pPr>
            <a:r>
              <a:rPr lang="ko-KR" altLang="en-US" sz="1050" b="1" spc="20" kern="0" dirty="0">
                <a:solidFill>
                  <a:srgbClr val="008979"/>
                </a:solidFill>
                <a:latin typeface="Noto Sans CJK KR" pitchFamily="34" charset="0"/>
                <a:ea typeface="Noto Sans CJK KR" pitchFamily="34" charset="-122"/>
                <a:cs typeface="Noto Sans CJK KR" pitchFamily="34" charset="-120"/>
              </a:rPr>
              <a:t>주제 선정 이유 02  ·  정보의 빈틈</a:t>
            </a:r>
            <a:endParaRPr lang="ko-KR" sz="1050" dirty="0"/>
          </a:p>
        </p:txBody>
      </p:sp>
      <p:sp>
        <p:nvSpPr>
          <p:cNvPr id="7" name="text_29"/>
          <p:cNvSpPr/>
          <p:nvPr/>
        </p:nvSpPr>
        <p:spPr>
          <a:xfrm>
            <a:off x="548640" y="896112"/>
            <a:ext cx="11045952" cy="640080"/>
          </a:xfrm>
          <a:prstGeom prst="rect">
            <a:avLst/>
          </a:prstGeom>
          <a:noFill/>
          <a:ln/>
        </p:spPr>
        <p:txBody>
          <a:bodyPr wrap="square" lIns="0" tIns="0" rIns="0" bIns="0" rtlCol="0" anchor="ctr">
            <a:normAutofit/>
          </a:bodyPr>
          <a:lstStyle/>
          <a:p>
            <a:pPr indent="0" marL="0">
              <a:buNone/>
            </a:pPr>
            <a:r>
              <a:rPr lang="ko-KR" altLang="en-US" sz="3000" b="1" dirty="0">
                <a:solidFill>
                  <a:srgbClr val="17354C"/>
                </a:solidFill>
                <a:latin typeface="Noto Sans CJK KR" pitchFamily="34" charset="0"/>
                <a:ea typeface="Noto Sans CJK KR" pitchFamily="34" charset="-122"/>
                <a:cs typeface="Noto Sans CJK KR" pitchFamily="34" charset="-120"/>
              </a:rPr>
              <a:t>지원이 있어도, 정보를 모르면 닿기 어렵다</a:t>
            </a:r>
            <a:endParaRPr lang="ko-KR" sz="3000" dirty="0"/>
          </a:p>
        </p:txBody>
      </p:sp>
      <p:sp>
        <p:nvSpPr>
          <p:cNvPr id="8" name="text_30"/>
          <p:cNvSpPr/>
          <p:nvPr/>
        </p:nvSpPr>
        <p:spPr>
          <a:xfrm>
            <a:off x="576072" y="1627632"/>
            <a:ext cx="10972800" cy="347472"/>
          </a:xfrm>
          <a:prstGeom prst="rect">
            <a:avLst/>
          </a:prstGeom>
          <a:noFill/>
          <a:ln/>
        </p:spPr>
        <p:txBody>
          <a:bodyPr wrap="square" lIns="0" tIns="0" rIns="0" bIns="0" rtlCol="0" anchor="ctr">
            <a:normAutofit/>
          </a:bodyPr>
          <a:lstStyle/>
          <a:p>
            <a:pPr indent="0" marL="0">
              <a:buNone/>
            </a:pPr>
            <a:r>
              <a:rPr lang="ko-KR" altLang="en-US" sz="1420" dirty="0">
                <a:solidFill>
                  <a:srgbClr val="607582"/>
                </a:solidFill>
                <a:latin typeface="Noto Sans CJK KR" pitchFamily="34" charset="0"/>
                <a:ea typeface="Noto Sans CJK KR" pitchFamily="34" charset="-122"/>
                <a:cs typeface="Noto Sans CJK KR" pitchFamily="34" charset="-120"/>
              </a:rPr>
              <a:t>외부 조사에서 확인한 정보의 빈틈, 월계1동에서 살펴볼 이용자의 어려움</a:t>
            </a:r>
            <a:endParaRPr lang="ko-KR" sz="1420" dirty="0"/>
          </a:p>
        </p:txBody>
      </p:sp>
      <p:sp>
        <p:nvSpPr>
          <p:cNvPr id="9" name="line_31"/>
          <p:cNvSpPr/>
          <p:nvPr/>
        </p:nvSpPr>
        <p:spPr>
          <a:xfrm>
            <a:off x="502920" y="6391656"/>
            <a:ext cx="11183112" cy="0"/>
          </a:xfrm>
          <a:prstGeom prst="line">
            <a:avLst/>
          </a:prstGeom>
          <a:noFill/>
          <a:ln w="9525">
            <a:solidFill>
              <a:srgbClr val="DDE7E8"/>
            </a:solidFill>
            <a:prstDash val="solid"/>
          </a:ln>
        </p:spPr>
      </p:sp>
      <p:sp>
        <p:nvSpPr>
          <p:cNvPr id="10" name="text_32"/>
          <p:cNvSpPr/>
          <p:nvPr/>
        </p:nvSpPr>
        <p:spPr>
          <a:xfrm>
            <a:off x="521208" y="6483096"/>
            <a:ext cx="6400800" cy="182880"/>
          </a:xfrm>
          <a:prstGeom prst="rect">
            <a:avLst/>
          </a:prstGeom>
          <a:noFill/>
          <a:ln/>
        </p:spPr>
        <p:txBody>
          <a:bodyPr wrap="square" lIns="0" tIns="0" rIns="0" bIns="0" rtlCol="0" anchor="ctr">
            <a:normAutofit/>
          </a:bodyPr>
          <a:lstStyle/>
          <a:p>
            <a:pPr indent="0" marL="0">
              <a:buNone/>
            </a:pPr>
            <a:r>
              <a:rPr lang="ko-KR" altLang="en-US" sz="880" dirty="0">
                <a:solidFill>
                  <a:srgbClr val="607582"/>
                </a:solidFill>
                <a:latin typeface="Noto Sans CJK KR" pitchFamily="34" charset="0"/>
                <a:ea typeface="Noto Sans CJK KR" pitchFamily="34" charset="-122"/>
                <a:cs typeface="Noto Sans CJK KR" pitchFamily="34" charset="-120"/>
              </a:rPr>
              <a:t>복지나침반  ·  중간발표</a:t>
            </a:r>
            <a:endParaRPr lang="ko-KR" sz="880" dirty="0"/>
          </a:p>
        </p:txBody>
      </p:sp>
      <p:sp>
        <p:nvSpPr>
          <p:cNvPr id="11" name="text_33"/>
          <p:cNvSpPr/>
          <p:nvPr/>
        </p:nvSpPr>
        <p:spPr>
          <a:xfrm>
            <a:off x="10625328" y="6460236"/>
            <a:ext cx="1033272" cy="228600"/>
          </a:xfrm>
          <a:prstGeom prst="rect">
            <a:avLst/>
          </a:prstGeom>
          <a:noFill/>
          <a:ln/>
        </p:spPr>
        <p:txBody>
          <a:bodyPr wrap="square" lIns="0" tIns="0" rIns="0" bIns="0" rtlCol="0" anchor="ctr">
            <a:normAutofit/>
          </a:bodyPr>
          <a:lstStyle/>
          <a:p>
            <a:pPr algn="r" indent="0" marL="0">
              <a:buNone/>
            </a:pPr>
            <a:r>
              <a:rPr lang="ko-KR" altLang="en-US" sz="920" dirty="0">
                <a:solidFill>
                  <a:srgbClr val="607582"/>
                </a:solidFill>
                <a:latin typeface="Noto Sans CJK KR" pitchFamily="34" charset="0"/>
                <a:ea typeface="Noto Sans CJK KR" pitchFamily="34" charset="-122"/>
                <a:cs typeface="Noto Sans CJK KR" pitchFamily="34" charset="-120"/>
              </a:rPr>
              <a:t>03 / 06</a:t>
            </a:r>
            <a:endParaRPr lang="ko-KR" sz="920" dirty="0"/>
          </a:p>
        </p:txBody>
      </p:sp>
      <p:sp>
        <p:nvSpPr>
          <p:cNvPr id="12" name="card_34"/>
          <p:cNvSpPr/>
          <p:nvPr/>
        </p:nvSpPr>
        <p:spPr>
          <a:xfrm>
            <a:off x="548640" y="2212848"/>
            <a:ext cx="4681728" cy="3511296"/>
          </a:xfrm>
          <a:prstGeom prst="roundRect">
            <a:avLst>
              <a:gd name="adj" fmla="val 4688"/>
            </a:avLst>
          </a:prstGeom>
          <a:solidFill>
            <a:srgbClr val="FFFFFF"/>
          </a:solidFill>
          <a:ln w="8890">
            <a:solidFill>
              <a:srgbClr val="DDE7E8"/>
            </a:solidFill>
            <a:prstDash val="solid"/>
          </a:ln>
        </p:spPr>
      </p:sp>
      <p:sp>
        <p:nvSpPr>
          <p:cNvPr id="13" name="text_35"/>
          <p:cNvSpPr/>
          <p:nvPr/>
        </p:nvSpPr>
        <p:spPr>
          <a:xfrm>
            <a:off x="822960" y="2450592"/>
            <a:ext cx="4133088" cy="347472"/>
          </a:xfrm>
          <a:prstGeom prst="rect">
            <a:avLst/>
          </a:prstGeom>
          <a:noFill/>
          <a:ln/>
        </p:spPr>
        <p:txBody>
          <a:bodyPr wrap="square" lIns="0" tIns="0" rIns="0" bIns="0" rtlCol="0" anchor="ctr">
            <a:normAutofit/>
          </a:bodyPr>
          <a:lstStyle/>
          <a:p>
            <a:pPr algn="ctr" indent="0" marL="0">
              <a:buNone/>
            </a:pPr>
            <a:r>
              <a:rPr lang="ko-KR" altLang="en-US" sz="1380" b="1" dirty="0">
                <a:solidFill>
                  <a:srgbClr val="607582"/>
                </a:solidFill>
                <a:latin typeface="Noto Sans CJK KR" pitchFamily="34" charset="0"/>
                <a:ea typeface="Noto Sans CJK KR" pitchFamily="34" charset="-122"/>
                <a:cs typeface="Noto Sans CJK KR" pitchFamily="34" charset="-120"/>
              </a:rPr>
              <a:t>공공 복지지원 미경험자의 응답</a:t>
            </a:r>
            <a:endParaRPr lang="ko-KR" sz="1380" dirty="0"/>
          </a:p>
        </p:txBody>
      </p:sp>
      <p:graphicFrame>
        <p:nvGraphicFramePr>
          <p:cNvPr id="14" name="Chart 0" descr="공공 복지지원 미경험자 중 43.5%가 서비스를 몰라서라고 응답. 회색은 100에서 43.5를 뺀 도식상의 나머지."/>
          <p:cNvGraphicFramePr/>
          <p:nvPr/>
        </p:nvGraphicFramePr>
        <p:xfrm>
          <a:off x="1499616" y="2852928"/>
          <a:ext cx="2779776" cy="2441448"/>
        </p:xfrm>
        <a:graphic xmlns:a="http://schemas.openxmlformats.org/drawingml/2006/main">
          <a:graphicData uri="http://schemas.openxmlformats.org/drawingml/2006/chart">
            <c:chart xmlns:c="http://schemas.openxmlformats.org/drawingml/2006/chart" r:id="rId1"/>
          </a:graphicData>
        </a:graphic>
      </p:graphicFrame>
      <p:sp>
        <p:nvSpPr>
          <p:cNvPr id="15" name="circle_36"/>
          <p:cNvSpPr/>
          <p:nvPr/>
        </p:nvSpPr>
        <p:spPr>
          <a:xfrm>
            <a:off x="2034540" y="3218688"/>
            <a:ext cx="1709928" cy="1709928"/>
          </a:xfrm>
          <a:prstGeom prst="ellipse">
            <a:avLst/>
          </a:prstGeom>
          <a:solidFill>
            <a:srgbClr val="FFFFFF"/>
          </a:solidFill>
          <a:ln w="12700">
            <a:solidFill>
              <a:srgbClr val="FFFFFF"/>
            </a:solidFill>
            <a:prstDash val="solid"/>
          </a:ln>
        </p:spPr>
      </p:sp>
      <p:sp>
        <p:nvSpPr>
          <p:cNvPr id="16" name="text_37"/>
          <p:cNvSpPr/>
          <p:nvPr/>
        </p:nvSpPr>
        <p:spPr>
          <a:xfrm>
            <a:off x="1943100" y="3771900"/>
            <a:ext cx="1892808" cy="603504"/>
          </a:xfrm>
          <a:prstGeom prst="rect">
            <a:avLst/>
          </a:prstGeom>
          <a:noFill/>
          <a:ln/>
        </p:spPr>
        <p:txBody>
          <a:bodyPr wrap="square" lIns="0" tIns="0" rIns="0" bIns="0" rtlCol="0" anchor="ctr">
            <a:normAutofit/>
          </a:bodyPr>
          <a:lstStyle/>
          <a:p>
            <a:pPr algn="ctr" indent="0" marL="0">
              <a:buNone/>
            </a:pPr>
            <a:r>
              <a:rPr lang="ko-KR" altLang="en-US" sz="4000" b="1" dirty="0">
                <a:solidFill>
                  <a:srgbClr val="008979"/>
                </a:solidFill>
                <a:latin typeface="Aptos" pitchFamily="34" charset="0"/>
                <a:ea typeface="Aptos" pitchFamily="34" charset="-122"/>
                <a:cs typeface="Aptos" pitchFamily="34" charset="-120"/>
              </a:rPr>
              <a:t>43.5</a:t>
            </a:r>
            <a:pPr algn="ctr" indent="0" marL="0">
              <a:buNone/>
            </a:pPr>
            <a:r>
              <a:rPr lang="ko-KR" altLang="en-US" sz="2400" b="1" dirty="0">
                <a:solidFill>
                  <a:srgbClr val="008979"/>
                </a:solidFill>
                <a:latin typeface="Aptos" pitchFamily="34" charset="0"/>
                <a:ea typeface="Aptos" pitchFamily="34" charset="-122"/>
                <a:cs typeface="Aptos" pitchFamily="34" charset="-120"/>
              </a:rPr>
              <a:t>%</a:t>
            </a:r>
            <a:endParaRPr lang="ko-KR" sz="4000" dirty="0"/>
          </a:p>
        </p:txBody>
      </p:sp>
      <p:sp>
        <p:nvSpPr>
          <p:cNvPr id="17" name="text_38"/>
          <p:cNvSpPr/>
          <p:nvPr/>
        </p:nvSpPr>
        <p:spPr>
          <a:xfrm>
            <a:off x="1060704" y="5138928"/>
            <a:ext cx="3675888" cy="329184"/>
          </a:xfrm>
          <a:prstGeom prst="rect">
            <a:avLst/>
          </a:prstGeom>
          <a:noFill/>
          <a:ln/>
        </p:spPr>
        <p:txBody>
          <a:bodyPr wrap="square" lIns="0" tIns="0" rIns="0" bIns="0" rtlCol="0" anchor="ctr">
            <a:normAutofit/>
          </a:bodyPr>
          <a:lstStyle/>
          <a:p>
            <a:pPr algn="ctr" indent="0" marL="0">
              <a:buNone/>
            </a:pPr>
            <a:r>
              <a:rPr lang="ko-KR" altLang="en-US" sz="1500" b="1" dirty="0">
                <a:solidFill>
                  <a:srgbClr val="17354C"/>
                </a:solidFill>
                <a:latin typeface="Noto Sans CJK KR" pitchFamily="34" charset="0"/>
                <a:ea typeface="Noto Sans CJK KR" pitchFamily="34" charset="-122"/>
                <a:cs typeface="Noto Sans CJK KR" pitchFamily="34" charset="-120"/>
              </a:rPr>
              <a:t>“서비스를 몰라서”</a:t>
            </a:r>
            <a:endParaRPr lang="ko-KR" sz="1500" dirty="0"/>
          </a:p>
        </p:txBody>
      </p:sp>
      <p:sp>
        <p:nvSpPr>
          <p:cNvPr id="18" name="card_39"/>
          <p:cNvSpPr/>
          <p:nvPr/>
        </p:nvSpPr>
        <p:spPr>
          <a:xfrm>
            <a:off x="5696712" y="2340864"/>
            <a:ext cx="4233672" cy="320040"/>
          </a:xfrm>
          <a:prstGeom prst="roundRect">
            <a:avLst>
              <a:gd name="adj" fmla="val 28571"/>
            </a:avLst>
          </a:prstGeom>
          <a:solidFill>
            <a:srgbClr val="E8F4EF"/>
          </a:solidFill>
          <a:ln w="8890">
            <a:solidFill>
              <a:srgbClr val="E8F4EF"/>
            </a:solidFill>
            <a:prstDash val="solid"/>
          </a:ln>
        </p:spPr>
      </p:sp>
      <p:sp>
        <p:nvSpPr>
          <p:cNvPr id="19" name="text_40"/>
          <p:cNvSpPr/>
          <p:nvPr/>
        </p:nvSpPr>
        <p:spPr>
          <a:xfrm>
            <a:off x="5806440" y="2363724"/>
            <a:ext cx="4014216" cy="265176"/>
          </a:xfrm>
          <a:prstGeom prst="rect">
            <a:avLst/>
          </a:prstGeom>
          <a:noFill/>
          <a:ln/>
        </p:spPr>
        <p:txBody>
          <a:bodyPr wrap="square" lIns="0" tIns="0" rIns="0" bIns="0" rtlCol="0" anchor="ctr">
            <a:normAutofit/>
          </a:bodyPr>
          <a:lstStyle/>
          <a:p>
            <a:pPr indent="0" marL="0">
              <a:buNone/>
            </a:pPr>
            <a:r>
              <a:rPr lang="ko-KR" altLang="en-US" sz="1050" b="1" dirty="0">
                <a:solidFill>
                  <a:srgbClr val="008979"/>
                </a:solidFill>
                <a:latin typeface="Noto Sans CJK KR" pitchFamily="34" charset="0"/>
                <a:ea typeface="Noto Sans CJK KR" pitchFamily="34" charset="-122"/>
                <a:cs typeface="Noto Sans CJK KR" pitchFamily="34" charset="-120"/>
              </a:rPr>
              <a:t>경기도 가족돌봄 청(소)년 조사</a:t>
            </a:r>
            <a:endParaRPr lang="ko-KR" sz="1050" dirty="0"/>
          </a:p>
        </p:txBody>
      </p:sp>
      <p:sp>
        <p:nvSpPr>
          <p:cNvPr id="20" name="text_41"/>
          <p:cNvSpPr/>
          <p:nvPr/>
        </p:nvSpPr>
        <p:spPr>
          <a:xfrm>
            <a:off x="5751576" y="2770632"/>
            <a:ext cx="5138928" cy="237744"/>
          </a:xfrm>
          <a:prstGeom prst="rect">
            <a:avLst/>
          </a:prstGeom>
          <a:noFill/>
          <a:ln/>
        </p:spPr>
        <p:txBody>
          <a:bodyPr wrap="square" lIns="0" tIns="0" rIns="0" bIns="0" rtlCol="0" anchor="ctr">
            <a:normAutofit/>
          </a:bodyPr>
          <a:lstStyle/>
          <a:p>
            <a:pPr indent="0" marL="0">
              <a:buNone/>
            </a:pPr>
            <a:r>
              <a:rPr lang="ko-KR" altLang="en-US" sz="1200" dirty="0">
                <a:solidFill>
                  <a:srgbClr val="607582"/>
                </a:solidFill>
                <a:latin typeface="Noto Sans CJK KR" pitchFamily="34" charset="0"/>
                <a:ea typeface="Noto Sans CJK KR" pitchFamily="34" charset="-122"/>
                <a:cs typeface="Noto Sans CJK KR" pitchFamily="34" charset="-120"/>
              </a:rPr>
              <a:t>13–34세  ·  2024년</a:t>
            </a:r>
            <a:endParaRPr lang="ko-KR" sz="1200" dirty="0"/>
          </a:p>
        </p:txBody>
      </p:sp>
      <p:sp>
        <p:nvSpPr>
          <p:cNvPr id="21" name="text_42"/>
          <p:cNvSpPr/>
          <p:nvPr/>
        </p:nvSpPr>
        <p:spPr>
          <a:xfrm>
            <a:off x="5705856" y="3172968"/>
            <a:ext cx="5495544" cy="905256"/>
          </a:xfrm>
          <a:prstGeom prst="rect">
            <a:avLst/>
          </a:prstGeom>
          <a:noFill/>
          <a:ln/>
        </p:spPr>
        <p:txBody>
          <a:bodyPr wrap="square" lIns="0" tIns="0" rIns="0" bIns="0" rtlCol="0" anchor="ctr">
            <a:normAutofit/>
          </a:bodyPr>
          <a:lstStyle/>
          <a:p>
            <a:pPr indent="0" marL="0">
              <a:buNone/>
            </a:pPr>
            <a:r>
              <a:rPr lang="ko-KR" altLang="en-US" sz="2550" b="1" dirty="0">
                <a:solidFill>
                  <a:srgbClr val="17354C"/>
                </a:solidFill>
                <a:latin typeface="Noto Sans CJK KR" pitchFamily="34" charset="0"/>
                <a:ea typeface="Noto Sans CJK KR" pitchFamily="34" charset="-122"/>
                <a:cs typeface="Noto Sans CJK KR" pitchFamily="34" charset="-120"/>
              </a:rPr>
              <a:t>어떤 지원이 있는지부터</a:t>
            </a:r>
            <a:endParaRPr lang="ko-KR" sz="2550" dirty="0"/>
          </a:p>
          <a:p>
            <a:pPr indent="0" marL="0">
              <a:buNone/>
            </a:pPr>
            <a:r>
              <a:rPr lang="ko-KR" altLang="en-US" sz="2550" b="1" dirty="0">
                <a:solidFill>
                  <a:srgbClr val="17354C"/>
                </a:solidFill>
                <a:latin typeface="Noto Sans CJK KR" pitchFamily="34" charset="0"/>
                <a:ea typeface="Noto Sans CJK KR" pitchFamily="34" charset="-122"/>
                <a:cs typeface="Noto Sans CJK KR" pitchFamily="34" charset="-120"/>
              </a:rPr>
              <a:t>알기 어려운 현실</a:t>
            </a:r>
            <a:endParaRPr lang="ko-KR" sz="2550" dirty="0"/>
          </a:p>
        </p:txBody>
      </p:sp>
      <p:sp>
        <p:nvSpPr>
          <p:cNvPr id="22" name="line_43"/>
          <p:cNvSpPr/>
          <p:nvPr/>
        </p:nvSpPr>
        <p:spPr>
          <a:xfrm>
            <a:off x="5733288" y="4242816"/>
            <a:ext cx="5495544" cy="0"/>
          </a:xfrm>
          <a:prstGeom prst="line">
            <a:avLst/>
          </a:prstGeom>
          <a:noFill/>
          <a:ln w="15240">
            <a:solidFill>
              <a:srgbClr val="DDE7E8"/>
            </a:solidFill>
            <a:prstDash val="solid"/>
          </a:ln>
        </p:spPr>
      </p:sp>
      <p:sp>
        <p:nvSpPr>
          <p:cNvPr id="23" name="text_44"/>
          <p:cNvSpPr/>
          <p:nvPr/>
        </p:nvSpPr>
        <p:spPr>
          <a:xfrm>
            <a:off x="5742432" y="4562856"/>
            <a:ext cx="4937760" cy="274320"/>
          </a:xfrm>
          <a:prstGeom prst="rect">
            <a:avLst/>
          </a:prstGeom>
          <a:noFill/>
          <a:ln/>
        </p:spPr>
        <p:txBody>
          <a:bodyPr wrap="square" lIns="0" tIns="0" rIns="0" bIns="0" rtlCol="0" anchor="ctr">
            <a:normAutofit/>
          </a:bodyPr>
          <a:lstStyle/>
          <a:p>
            <a:pPr indent="0" marL="0">
              <a:buNone/>
            </a:pPr>
            <a:r>
              <a:rPr lang="ko-KR" altLang="en-US" sz="1140" b="1" dirty="0">
                <a:solidFill>
                  <a:srgbClr val="008979"/>
                </a:solidFill>
                <a:latin typeface="Noto Sans CJK KR" pitchFamily="34" charset="0"/>
                <a:ea typeface="Noto Sans CJK KR" pitchFamily="34" charset="-122"/>
                <a:cs typeface="Noto Sans CJK KR" pitchFamily="34" charset="-120"/>
              </a:rPr>
              <a:t>월계1동에서 확인할 과제</a:t>
            </a:r>
            <a:endParaRPr lang="ko-KR" sz="1140" dirty="0"/>
          </a:p>
        </p:txBody>
      </p:sp>
      <p:sp>
        <p:nvSpPr>
          <p:cNvPr id="24" name="text_45"/>
          <p:cNvSpPr/>
          <p:nvPr/>
        </p:nvSpPr>
        <p:spPr>
          <a:xfrm>
            <a:off x="5733288" y="4946904"/>
            <a:ext cx="5367528" cy="713232"/>
          </a:xfrm>
          <a:prstGeom prst="rect">
            <a:avLst/>
          </a:prstGeom>
          <a:noFill/>
          <a:ln/>
        </p:spPr>
        <p:txBody>
          <a:bodyPr wrap="square" lIns="0" tIns="0" rIns="0" bIns="0" rtlCol="0" anchor="ctr">
            <a:normAutofit/>
          </a:bodyPr>
          <a:lstStyle/>
          <a:p>
            <a:pPr indent="0" marL="0">
              <a:buNone/>
            </a:pPr>
            <a:r>
              <a:rPr lang="ko-KR" altLang="en-US" sz="2140" b="1" dirty="0">
                <a:solidFill>
                  <a:srgbClr val="17354C"/>
                </a:solidFill>
                <a:latin typeface="Noto Sans CJK KR" pitchFamily="34" charset="0"/>
                <a:ea typeface="Noto Sans CJK KR" pitchFamily="34" charset="-122"/>
                <a:cs typeface="Noto Sans CJK KR" pitchFamily="34" charset="-120"/>
              </a:rPr>
              <a:t>필요한 공고를 발견하고</a:t>
            </a:r>
            <a:endParaRPr lang="ko-KR" sz="2140" dirty="0"/>
          </a:p>
          <a:p>
            <a:pPr indent="0" marL="0">
              <a:buNone/>
            </a:pPr>
            <a:r>
              <a:rPr lang="ko-KR" altLang="en-US" sz="2140" b="1" dirty="0">
                <a:solidFill>
                  <a:srgbClr val="17354C"/>
                </a:solidFill>
                <a:latin typeface="Noto Sans CJK KR" pitchFamily="34" charset="0"/>
                <a:ea typeface="Noto Sans CJK KR" pitchFamily="34" charset="-122"/>
                <a:cs typeface="Noto Sans CJK KR" pitchFamily="34" charset="-120"/>
              </a:rPr>
              <a:t>조건을 이해하도록 돕기</a:t>
            </a:r>
          </a:p>
        </p:txBody>
      </p:sp>
      <p:sp>
        <p:nvSpPr>
          <p:cNvPr id="25" name="text_46"/>
          <p:cNvSpPr/>
          <p:nvPr/>
        </p:nvSpPr>
        <p:spPr>
          <a:xfrm>
            <a:off x="576072" y="5870448"/>
            <a:ext cx="10972800" cy="219456"/>
          </a:xfrm>
          <a:prstGeom prst="rect">
            <a:avLst/>
          </a:prstGeom>
          <a:noFill/>
          <a:ln/>
        </p:spPr>
        <p:txBody>
          <a:bodyPr wrap="square" lIns="0" tIns="0" rIns="0" bIns="0" rtlCol="0" anchor="ctr">
            <a:normAutofit/>
          </a:bodyPr>
          <a:lstStyle/>
          <a:p>
            <a:pPr indent="0" marL="0">
              <a:buNone/>
            </a:pPr>
            <a:r>
              <a:rPr lang="ko-KR" altLang="en-US" sz="950" dirty="0">
                <a:solidFill>
                  <a:srgbClr val="607582"/>
                </a:solidFill>
                <a:latin typeface="Noto Sans CJK KR" pitchFamily="34" charset="0"/>
                <a:ea typeface="Noto Sans CJK KR" pitchFamily="34" charset="-122"/>
                <a:cs typeface="Noto Sans CJK KR" pitchFamily="34" charset="-120"/>
              </a:rPr>
              <a:t>조사 대상: 경기도 13–34세 가족돌봄 청(소)년 1,213명. 43.5%의 분모는 이 중 공공 복지지원 미경험자.</a:t>
            </a:r>
            <a:endParaRPr lang="ko-KR" sz="950" dirty="0"/>
          </a:p>
        </p:txBody>
      </p:sp>
      <p:sp>
        <p:nvSpPr>
          <p:cNvPr id="26" name="text_47">
            <a:hlinkClick r:id="rId2" tooltip="경기복지재단 원문 보고서와 요약"/>
          </p:cNvPr>
          <p:cNvSpPr/>
          <p:nvPr/>
        </p:nvSpPr>
        <p:spPr>
          <a:xfrm>
            <a:off x="576072" y="6163056"/>
            <a:ext cx="10972800" cy="155448"/>
          </a:xfrm>
          <a:prstGeom prst="rect">
            <a:avLst/>
          </a:prstGeom>
          <a:noFill/>
          <a:ln/>
        </p:spPr>
        <p:txBody>
          <a:bodyPr wrap="square" lIns="0" tIns="0" rIns="0" bIns="0" rtlCol="0" anchor="ctr">
            <a:normAutofit/>
          </a:bodyPr>
          <a:lstStyle/>
          <a:p>
            <a:pPr indent="0" marL="0">
              <a:buNone/>
            </a:pPr>
            <a:r>
              <a:rPr lang="ko-KR" altLang="en-US" sz="810" u="sng" dirty="0">
                <a:solidFill>
                  <a:srgbClr val="607582"/>
                </a:solidFill>
                <a:latin typeface="Noto Sans CJK KR" pitchFamily="34" charset="0"/>
                <a:ea typeface="Noto Sans CJK KR" pitchFamily="34" charset="-122"/>
                <a:cs typeface="Noto Sans CJK KR" pitchFamily="34" charset="-120"/>
                <a:hlinkClick r:id="rId2" invalidUrl="" action="" tgtFrame="" tooltip="경기복지재단 원문 보고서와 요약" history="1" highlightClick="0" endSnd="0">
                  <a:extLst>
                    <a:ext uri="{A12FA001-AC4F-418D-AE19-62706E023703}">
                      <ahyp:hlinkClr xmlns:ahyp="http://schemas.microsoft.com/office/drawing/2018/hyperlinkcolor" val="tx"/>
                    </a:ext>
                  </a:extLst>
                </a:hlinkClick>
              </a:rPr>
              <a:t>출처: 경기복지재단, 「경기도 가족돌봄청(소)년 실태조사 연구」(2024.11). 월계1동·전국민의 미수급률이 아님.</a:t>
            </a:r>
            <a:endParaRPr lang="ko-KR" sz="83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5F8F8"/>
        </a:solidFill>
      </p:bgPr>
    </p:bg>
    <p:spTree>
      <p:nvGrpSpPr>
        <p:cNvPr id="1" name=""/>
        <p:cNvGrpSpPr/>
        <p:nvPr/>
      </p:nvGrpSpPr>
      <p:grpSpPr>
        <a:xfrm>
          <a:off x="0" y="0"/>
          <a:ext cx="0" cy="0"/>
          <a:chOff x="0" y="0"/>
          <a:chExt cx="0" cy="0"/>
        </a:xfrm>
      </p:grpSpPr>
      <p:sp>
        <p:nvSpPr>
          <p:cNvPr id="2" name="circle_76"/>
          <p:cNvSpPr/>
          <p:nvPr/>
        </p:nvSpPr>
        <p:spPr>
          <a:xfrm>
            <a:off x="502920" y="292608"/>
            <a:ext cx="292608" cy="292608"/>
          </a:xfrm>
          <a:prstGeom prst="ellipse">
            <a:avLst/>
          </a:prstGeom>
          <a:solidFill>
            <a:srgbClr val="FFFFFF">
              <a:alpha val="0"/>
            </a:srgbClr>
          </a:solidFill>
          <a:ln w="22860">
            <a:solidFill>
              <a:srgbClr val="DDE7E8"/>
            </a:solidFill>
            <a:prstDash val="solid"/>
          </a:ln>
        </p:spPr>
        <p:txBody>
          <a:bodyPr/>
          <a:p/>
        </p:txBody>
      </p:sp>
      <p:sp>
        <p:nvSpPr>
          <p:cNvPr id="3" name="Shape 1"/>
          <p:cNvSpPr/>
          <p:nvPr/>
        </p:nvSpPr>
        <p:spPr>
          <a:xfrm rot="1500000">
            <a:off x="612648" y="326258"/>
            <a:ext cx="73152" cy="124358"/>
          </a:xfrm>
          <a:prstGeom prst="triangle">
            <a:avLst/>
          </a:prstGeom>
          <a:solidFill>
            <a:srgbClr val="008979"/>
          </a:solidFill>
          <a:ln w="12700">
            <a:solidFill>
              <a:srgbClr val="008979"/>
            </a:solidFill>
            <a:prstDash val="solid"/>
          </a:ln>
        </p:spPr>
        <p:txBody>
          <a:bodyPr/>
          <a:p/>
        </p:txBody>
      </p:sp>
      <p:sp>
        <p:nvSpPr>
          <p:cNvPr id="4" name="Shape 2"/>
          <p:cNvSpPr/>
          <p:nvPr/>
        </p:nvSpPr>
        <p:spPr>
          <a:xfrm rot="12300000">
            <a:off x="612648" y="435986"/>
            <a:ext cx="73152" cy="124358"/>
          </a:xfrm>
          <a:prstGeom prst="triangle">
            <a:avLst/>
          </a:prstGeom>
          <a:solidFill>
            <a:srgbClr val="17354C"/>
          </a:solidFill>
          <a:ln w="12700">
            <a:solidFill>
              <a:srgbClr val="17354C"/>
            </a:solidFill>
            <a:prstDash val="solid"/>
          </a:ln>
        </p:spPr>
        <p:txBody>
          <a:bodyPr/>
          <a:p/>
        </p:txBody>
      </p:sp>
      <p:sp>
        <p:nvSpPr>
          <p:cNvPr id="5" name="circle_77"/>
          <p:cNvSpPr/>
          <p:nvPr/>
        </p:nvSpPr>
        <p:spPr>
          <a:xfrm>
            <a:off x="636057" y="425745"/>
            <a:ext cx="26335" cy="26335"/>
          </a:xfrm>
          <a:prstGeom prst="ellipse">
            <a:avLst/>
          </a:prstGeom>
          <a:solidFill>
            <a:srgbClr val="FFFFFF"/>
          </a:solidFill>
          <a:ln w="12700">
            <a:solidFill>
              <a:srgbClr val="FFFFFF"/>
            </a:solidFill>
            <a:prstDash val="solid"/>
          </a:ln>
        </p:spPr>
        <p:txBody>
          <a:bodyPr/>
          <a:p/>
        </p:txBody>
      </p:sp>
      <p:sp>
        <p:nvSpPr>
          <p:cNvPr id="6" name="text_78"/>
          <p:cNvSpPr/>
          <p:nvPr/>
        </p:nvSpPr>
        <p:spPr>
          <a:xfrm>
            <a:off x="914400" y="292608"/>
            <a:ext cx="9601200" cy="274320"/>
          </a:xfrm>
          <a:prstGeom prst="rect">
            <a:avLst/>
          </a:prstGeom>
          <a:noFill/>
          <a:ln/>
        </p:spPr>
        <p:txBody>
          <a:bodyPr wrap="square" lIns="0" tIns="0" rIns="0" bIns="0" rtlCol="0" anchor="ctr">
            <a:normAutofit/>
          </a:bodyPr>
          <a:lstStyle/>
          <a:p>
            <a:pPr indent="0" marL="0">
              <a:buNone/>
            </a:pPr>
            <a:r>
              <a:rPr lang="ko-KR" altLang="en-US" sz="1050" b="1" spc="20" kern="0" dirty="0">
                <a:solidFill>
                  <a:srgbClr val="008979"/>
                </a:solidFill>
                <a:latin typeface="Noto Sans CJK KR" pitchFamily="34" charset="0"/>
                <a:ea typeface="Noto Sans CJK KR" pitchFamily="34" charset="-122"/>
                <a:cs typeface="Noto Sans CJK KR" pitchFamily="34" charset="-120"/>
              </a:rPr>
              <a:t>선택한 주제  ·  서비스 이용 흐름</a:t>
            </a:r>
            <a:endParaRPr lang="ko-KR" sz="1050" dirty="0"/>
          </a:p>
        </p:txBody>
      </p:sp>
      <p:sp>
        <p:nvSpPr>
          <p:cNvPr id="7" name="text_79"/>
          <p:cNvSpPr/>
          <p:nvPr/>
        </p:nvSpPr>
        <p:spPr>
          <a:xfrm>
            <a:off x="548640" y="896112"/>
            <a:ext cx="11045952" cy="640080"/>
          </a:xfrm>
          <a:prstGeom prst="rect">
            <a:avLst/>
          </a:prstGeom>
          <a:noFill/>
          <a:ln/>
        </p:spPr>
        <p:txBody>
          <a:bodyPr wrap="square" lIns="0" tIns="0" rIns="0" bIns="0" rtlCol="0" anchor="ctr">
            <a:normAutofit/>
          </a:bodyPr>
          <a:lstStyle/>
          <a:p>
            <a:pPr indent="0" marL="0">
              <a:buNone/>
            </a:pPr>
            <a:r>
              <a:rPr lang="ko-KR" altLang="en-US" sz="3000" b="1" dirty="0">
                <a:solidFill>
                  <a:srgbClr val="17354C"/>
                </a:solidFill>
                <a:latin typeface="Noto Sans CJK KR" pitchFamily="34" charset="0"/>
                <a:ea typeface="Noto Sans CJK KR" pitchFamily="34" charset="-122"/>
                <a:cs typeface="Noto Sans CJK KR" pitchFamily="34" charset="-120"/>
              </a:rPr>
              <a:t>내 상황에서 시작하는 복지 안내</a:t>
            </a:r>
            <a:endParaRPr lang="ko-KR" sz="3000" dirty="0"/>
          </a:p>
        </p:txBody>
      </p:sp>
      <p:sp>
        <p:nvSpPr>
          <p:cNvPr id="8" name="text_80"/>
          <p:cNvSpPr/>
          <p:nvPr/>
        </p:nvSpPr>
        <p:spPr>
          <a:xfrm>
            <a:off x="576072" y="1627632"/>
            <a:ext cx="10972800" cy="347472"/>
          </a:xfrm>
          <a:prstGeom prst="rect">
            <a:avLst/>
          </a:prstGeom>
          <a:noFill/>
          <a:ln/>
        </p:spPr>
        <p:txBody>
          <a:bodyPr wrap="square" lIns="0" tIns="0" rIns="0" bIns="0" rtlCol="0" anchor="ctr">
            <a:normAutofit/>
          </a:bodyPr>
          <a:lstStyle/>
          <a:p>
            <a:pPr indent="0" marL="0">
              <a:buNone/>
            </a:pPr>
            <a:r>
              <a:rPr lang="ko-KR" altLang="en-US" sz="1400" dirty="0">
                <a:solidFill>
                  <a:srgbClr val="607582"/>
                </a:solidFill>
                <a:latin typeface="Noto Sans CJK KR" pitchFamily="34" charset="0"/>
                <a:ea typeface="Noto Sans CJK KR" pitchFamily="34" charset="-122"/>
                <a:cs typeface="Noto Sans CJK KR" pitchFamily="34" charset="-120"/>
              </a:rPr>
              <a:t>내 상황 입력부터 공식 안내 확인까지, 세 단계로 이어지는 이용 흐름</a:t>
            </a:r>
            <a:endParaRPr lang="ko-KR" sz="1420" dirty="0"/>
          </a:p>
        </p:txBody>
      </p:sp>
      <p:sp>
        <p:nvSpPr>
          <p:cNvPr id="9" name="line_81"/>
          <p:cNvSpPr/>
          <p:nvPr/>
        </p:nvSpPr>
        <p:spPr>
          <a:xfrm>
            <a:off x="502920" y="6391656"/>
            <a:ext cx="11183112" cy="0"/>
          </a:xfrm>
          <a:prstGeom prst="line">
            <a:avLst/>
          </a:prstGeom>
          <a:noFill/>
          <a:ln w="9525">
            <a:solidFill>
              <a:srgbClr val="DDE7E8"/>
            </a:solidFill>
            <a:prstDash val="solid"/>
          </a:ln>
        </p:spPr>
      </p:sp>
      <p:sp>
        <p:nvSpPr>
          <p:cNvPr id="10" name="text_82"/>
          <p:cNvSpPr/>
          <p:nvPr/>
        </p:nvSpPr>
        <p:spPr>
          <a:xfrm>
            <a:off x="521208" y="6483096"/>
            <a:ext cx="6400800" cy="182880"/>
          </a:xfrm>
          <a:prstGeom prst="rect">
            <a:avLst/>
          </a:prstGeom>
          <a:noFill/>
          <a:ln/>
        </p:spPr>
        <p:txBody>
          <a:bodyPr wrap="square" lIns="0" tIns="0" rIns="0" bIns="0" rtlCol="0" anchor="ctr">
            <a:normAutofit/>
          </a:bodyPr>
          <a:lstStyle/>
          <a:p>
            <a:pPr indent="0" marL="0">
              <a:buNone/>
            </a:pPr>
            <a:r>
              <a:rPr lang="ko-KR" altLang="en-US" sz="880" dirty="0">
                <a:solidFill>
                  <a:srgbClr val="607582"/>
                </a:solidFill>
                <a:latin typeface="Noto Sans CJK KR" pitchFamily="34" charset="0"/>
                <a:ea typeface="Noto Sans CJK KR" pitchFamily="34" charset="-122"/>
                <a:cs typeface="Noto Sans CJK KR" pitchFamily="34" charset="-120"/>
              </a:rPr>
              <a:t>복지나침반  ·  중간발표</a:t>
            </a:r>
            <a:endParaRPr lang="ko-KR" sz="880" dirty="0"/>
          </a:p>
        </p:txBody>
      </p:sp>
      <p:sp>
        <p:nvSpPr>
          <p:cNvPr id="11" name="text_83"/>
          <p:cNvSpPr/>
          <p:nvPr/>
        </p:nvSpPr>
        <p:spPr>
          <a:xfrm>
            <a:off x="10625328" y="6460236"/>
            <a:ext cx="1033272" cy="228600"/>
          </a:xfrm>
          <a:prstGeom prst="rect">
            <a:avLst/>
          </a:prstGeom>
          <a:noFill/>
          <a:ln/>
        </p:spPr>
        <p:txBody>
          <a:bodyPr wrap="square" lIns="0" tIns="0" rIns="0" bIns="0" rtlCol="0" anchor="ctr">
            <a:normAutofit/>
          </a:bodyPr>
          <a:lstStyle/>
          <a:p>
            <a:pPr algn="r" indent="0" marL="0">
              <a:buNone/>
            </a:pPr>
            <a:r>
              <a:rPr lang="ko-KR" altLang="en-US" sz="920" dirty="0">
                <a:solidFill>
                  <a:srgbClr val="607582"/>
                </a:solidFill>
                <a:latin typeface="Noto Sans CJK KR" pitchFamily="34" charset="0"/>
                <a:ea typeface="Noto Sans CJK KR" pitchFamily="34" charset="-122"/>
                <a:cs typeface="Noto Sans CJK KR" pitchFamily="34" charset="-120"/>
              </a:rPr>
              <a:t>04 / 06</a:t>
            </a:r>
            <a:endParaRPr lang="ko-KR" sz="920" dirty="0"/>
          </a:p>
        </p:txBody>
      </p:sp>
      <p:sp>
        <p:nvSpPr>
          <p:cNvPr id="12" name="card_84"/>
          <p:cNvSpPr/>
          <p:nvPr/>
        </p:nvSpPr>
        <p:spPr>
          <a:xfrm>
            <a:off x="548640" y="2478024"/>
            <a:ext cx="3319272" cy="3099816"/>
          </a:xfrm>
          <a:prstGeom prst="roundRect">
            <a:avLst>
              <a:gd name="adj" fmla="val 5310"/>
            </a:avLst>
          </a:prstGeom>
          <a:solidFill>
            <a:srgbClr val="FFFFFF"/>
          </a:solidFill>
          <a:ln w="8890">
            <a:solidFill>
              <a:srgbClr val="DDE7E8"/>
            </a:solidFill>
            <a:prstDash val="solid"/>
          </a:ln>
        </p:spPr>
      </p:sp>
      <p:sp>
        <p:nvSpPr>
          <p:cNvPr id="13" name="text_85"/>
          <p:cNvSpPr/>
          <p:nvPr/>
        </p:nvSpPr>
        <p:spPr>
          <a:xfrm>
            <a:off x="822960" y="2679192"/>
            <a:ext cx="585216" cy="320040"/>
          </a:xfrm>
          <a:prstGeom prst="rect">
            <a:avLst/>
          </a:prstGeom>
          <a:noFill/>
          <a:ln/>
        </p:spPr>
        <p:txBody>
          <a:bodyPr wrap="square" lIns="0" tIns="0" rIns="0" bIns="0" rtlCol="0" anchor="ctr">
            <a:normAutofit/>
          </a:bodyPr>
          <a:lstStyle/>
          <a:p>
            <a:pPr indent="0" marL="0">
              <a:buNone/>
            </a:pPr>
            <a:r>
              <a:rPr lang="ko-KR" altLang="en-US" sz="1600" b="1" dirty="0">
                <a:solidFill>
                  <a:srgbClr val="008979"/>
                </a:solidFill>
                <a:latin typeface="Aptos" pitchFamily="34" charset="0"/>
                <a:ea typeface="Aptos" pitchFamily="34" charset="-122"/>
                <a:cs typeface="Aptos" pitchFamily="34" charset="-120"/>
              </a:rPr>
              <a:t>01</a:t>
            </a:r>
            <a:endParaRPr lang="ko-KR" sz="1600" dirty="0"/>
          </a:p>
        </p:txBody>
      </p:sp>
      <p:sp>
        <p:nvSpPr>
          <p:cNvPr id="14" name="circle_86"/>
          <p:cNvSpPr/>
          <p:nvPr/>
        </p:nvSpPr>
        <p:spPr>
          <a:xfrm>
            <a:off x="991682" y="3366467"/>
            <a:ext cx="247035" cy="247035"/>
          </a:xfrm>
          <a:prstGeom prst="ellipse">
            <a:avLst/>
          </a:prstGeom>
          <a:solidFill>
            <a:srgbClr val="FFFFFF">
              <a:alpha val="0"/>
            </a:srgbClr>
          </a:solidFill>
          <a:ln w="25400">
            <a:solidFill>
              <a:srgbClr val="008979"/>
            </a:solidFill>
            <a:prstDash val="solid"/>
          </a:ln>
        </p:spPr>
      </p:sp>
      <p:sp>
        <p:nvSpPr>
          <p:cNvPr id="15" name="card_87"/>
          <p:cNvSpPr/>
          <p:nvPr/>
        </p:nvSpPr>
        <p:spPr>
          <a:xfrm>
            <a:off x="863223" y="3672791"/>
            <a:ext cx="503952" cy="266798"/>
          </a:xfrm>
          <a:prstGeom prst="roundRect">
            <a:avLst>
              <a:gd name="adj" fmla="val 27418"/>
            </a:avLst>
          </a:prstGeom>
          <a:solidFill>
            <a:srgbClr val="FFFFFF">
              <a:alpha val="0"/>
            </a:srgbClr>
          </a:solidFill>
          <a:ln w="25400">
            <a:solidFill>
              <a:srgbClr val="008979"/>
            </a:solidFill>
            <a:prstDash val="solid"/>
          </a:ln>
        </p:spPr>
      </p:sp>
      <p:sp>
        <p:nvSpPr>
          <p:cNvPr id="16" name="text_88"/>
          <p:cNvSpPr/>
          <p:nvPr/>
        </p:nvSpPr>
        <p:spPr>
          <a:xfrm>
            <a:off x="822960" y="4169664"/>
            <a:ext cx="2816352" cy="429768"/>
          </a:xfrm>
          <a:prstGeom prst="rect">
            <a:avLst/>
          </a:prstGeom>
          <a:noFill/>
          <a:ln/>
        </p:spPr>
        <p:txBody>
          <a:bodyPr wrap="square" lIns="0" tIns="0" rIns="0" bIns="0" rtlCol="0" anchor="ctr">
            <a:normAutofit/>
          </a:bodyPr>
          <a:lstStyle/>
          <a:p>
            <a:pPr indent="0" marL="0">
              <a:buNone/>
            </a:pPr>
            <a:r>
              <a:rPr lang="ko-KR" altLang="en-US" sz="2300" b="1" dirty="0">
                <a:solidFill>
                  <a:srgbClr val="17354C"/>
                </a:solidFill>
                <a:latin typeface="Noto Sans CJK KR" pitchFamily="34" charset="0"/>
                <a:ea typeface="Noto Sans CJK KR" pitchFamily="34" charset="-122"/>
                <a:cs typeface="Noto Sans CJK KR" pitchFamily="34" charset="-120"/>
              </a:rPr>
              <a:t>내 상황 입력</a:t>
            </a:r>
            <a:endParaRPr lang="ko-KR" sz="2300" dirty="0"/>
          </a:p>
        </p:txBody>
      </p:sp>
      <p:sp>
        <p:nvSpPr>
          <p:cNvPr id="17" name="text_89"/>
          <p:cNvSpPr/>
          <p:nvPr/>
        </p:nvSpPr>
        <p:spPr>
          <a:xfrm>
            <a:off x="832104" y="4700016"/>
            <a:ext cx="2798064" cy="310896"/>
          </a:xfrm>
          <a:prstGeom prst="rect">
            <a:avLst/>
          </a:prstGeom>
          <a:noFill/>
          <a:ln/>
        </p:spPr>
        <p:txBody>
          <a:bodyPr wrap="square" lIns="0" tIns="0" rIns="0" bIns="0" rtlCol="0" anchor="ctr">
            <a:normAutofit/>
          </a:bodyPr>
          <a:lstStyle/>
          <a:p>
            <a:pPr indent="0" marL="0">
              <a:buNone/>
            </a:pPr>
            <a:r>
              <a:rPr lang="ko-KR" altLang="en-US" sz="1380" dirty="0">
                <a:solidFill>
                  <a:srgbClr val="607582"/>
                </a:solidFill>
                <a:latin typeface="Noto Sans CJK KR" pitchFamily="34" charset="0"/>
                <a:ea typeface="Noto Sans CJK KR" pitchFamily="34" charset="-122"/>
                <a:cs typeface="Noto Sans CJK KR" pitchFamily="34" charset="-120"/>
              </a:rPr>
              <a:t>지역·연령·생활 상황</a:t>
            </a:r>
            <a:endParaRPr lang="ko-KR" sz="1380" dirty="0"/>
          </a:p>
        </p:txBody>
      </p:sp>
      <p:sp>
        <p:nvSpPr>
          <p:cNvPr id="18" name="text_90"/>
          <p:cNvSpPr/>
          <p:nvPr/>
        </p:nvSpPr>
        <p:spPr>
          <a:xfrm>
            <a:off x="832104" y="5157216"/>
            <a:ext cx="2798064" cy="192024"/>
          </a:xfrm>
          <a:prstGeom prst="rect">
            <a:avLst/>
          </a:prstGeom>
          <a:noFill/>
          <a:ln/>
        </p:spPr>
        <p:txBody>
          <a:bodyPr wrap="square" lIns="0" tIns="0" rIns="0" bIns="0" rtlCol="0" anchor="ctr">
            <a:normAutofit/>
          </a:bodyPr>
          <a:lstStyle/>
          <a:p>
            <a:pPr indent="0" marL="0">
              <a:buNone/>
            </a:pPr>
            <a:r>
              <a:rPr lang="ko-KR" altLang="en-US" sz="1060" dirty="0">
                <a:solidFill>
                  <a:srgbClr val="607582"/>
                </a:solidFill>
                <a:latin typeface="Noto Sans CJK KR" pitchFamily="34" charset="0"/>
                <a:ea typeface="Noto Sans CJK KR" pitchFamily="34" charset="-122"/>
                <a:cs typeface="Noto Sans CJK KR" pitchFamily="34" charset="-120"/>
              </a:rPr>
              <a:t>공고를 찾기 위한 출발점</a:t>
            </a:r>
            <a:endParaRPr lang="ko-KR" sz="1060" dirty="0"/>
          </a:p>
        </p:txBody>
      </p:sp>
      <p:sp>
        <p:nvSpPr>
          <p:cNvPr id="19" name="card_91"/>
          <p:cNvSpPr/>
          <p:nvPr/>
        </p:nvSpPr>
        <p:spPr>
          <a:xfrm>
            <a:off x="4434840" y="2478024"/>
            <a:ext cx="3319272" cy="3099816"/>
          </a:xfrm>
          <a:prstGeom prst="roundRect">
            <a:avLst>
              <a:gd name="adj" fmla="val 5310"/>
            </a:avLst>
          </a:prstGeom>
          <a:solidFill>
            <a:srgbClr val="17354C"/>
          </a:solidFill>
          <a:ln w="8890">
            <a:solidFill>
              <a:srgbClr val="17354C"/>
            </a:solidFill>
            <a:prstDash val="solid"/>
          </a:ln>
        </p:spPr>
      </p:sp>
      <p:sp>
        <p:nvSpPr>
          <p:cNvPr id="20" name="text_92"/>
          <p:cNvSpPr/>
          <p:nvPr/>
        </p:nvSpPr>
        <p:spPr>
          <a:xfrm>
            <a:off x="4709160" y="2679192"/>
            <a:ext cx="585216" cy="320040"/>
          </a:xfrm>
          <a:prstGeom prst="rect">
            <a:avLst/>
          </a:prstGeom>
          <a:noFill/>
          <a:ln/>
        </p:spPr>
        <p:txBody>
          <a:bodyPr wrap="square" lIns="0" tIns="0" rIns="0" bIns="0" rtlCol="0" anchor="ctr">
            <a:normAutofit/>
          </a:bodyPr>
          <a:lstStyle/>
          <a:p>
            <a:pPr indent="0" marL="0">
              <a:buNone/>
            </a:pPr>
            <a:r>
              <a:rPr lang="ko-KR" altLang="en-US" sz="1600" b="1" dirty="0">
                <a:solidFill>
                  <a:srgbClr val="BFEADF"/>
                </a:solidFill>
                <a:latin typeface="Aptos" pitchFamily="34" charset="0"/>
                <a:ea typeface="Aptos" pitchFamily="34" charset="-122"/>
                <a:cs typeface="Aptos" pitchFamily="34" charset="-120"/>
              </a:rPr>
              <a:t>02</a:t>
            </a:r>
            <a:endParaRPr lang="ko-KR" sz="1600" dirty="0"/>
          </a:p>
        </p:txBody>
      </p:sp>
      <p:sp>
        <p:nvSpPr>
          <p:cNvPr id="21" name="card_93"/>
          <p:cNvSpPr/>
          <p:nvPr/>
        </p:nvSpPr>
        <p:spPr>
          <a:xfrm>
            <a:off x="4749423" y="3366467"/>
            <a:ext cx="434782" cy="543478"/>
          </a:xfrm>
          <a:prstGeom prst="roundRect">
            <a:avLst>
              <a:gd name="adj" fmla="val 12619"/>
            </a:avLst>
          </a:prstGeom>
          <a:solidFill>
            <a:srgbClr val="FFFFFF">
              <a:alpha val="0"/>
            </a:srgbClr>
          </a:solidFill>
          <a:ln w="25400">
            <a:solidFill>
              <a:srgbClr val="BFEADF"/>
            </a:solidFill>
            <a:prstDash val="solid"/>
          </a:ln>
        </p:spPr>
      </p:sp>
      <p:sp>
        <p:nvSpPr>
          <p:cNvPr id="22" name="line_94"/>
          <p:cNvSpPr/>
          <p:nvPr/>
        </p:nvSpPr>
        <p:spPr>
          <a:xfrm>
            <a:off x="4868000" y="3633265"/>
            <a:ext cx="88933" cy="88933"/>
          </a:xfrm>
          <a:prstGeom prst="line">
            <a:avLst/>
          </a:prstGeom>
          <a:noFill/>
          <a:ln w="29210">
            <a:solidFill>
              <a:srgbClr val="BFEADF"/>
            </a:solidFill>
            <a:prstDash val="solid"/>
          </a:ln>
        </p:spPr>
      </p:sp>
      <p:sp>
        <p:nvSpPr>
          <p:cNvPr id="23" name="line_95"/>
          <p:cNvSpPr/>
          <p:nvPr/>
        </p:nvSpPr>
        <p:spPr>
          <a:xfrm>
            <a:off x="4956933" y="3722198"/>
            <a:ext cx="167984" cy="-207510"/>
          </a:xfrm>
          <a:prstGeom prst="line">
            <a:avLst/>
          </a:prstGeom>
          <a:noFill/>
          <a:ln w="29210">
            <a:solidFill>
              <a:srgbClr val="BFEADF"/>
            </a:solidFill>
            <a:prstDash val="solid"/>
          </a:ln>
        </p:spPr>
      </p:sp>
      <p:sp>
        <p:nvSpPr>
          <p:cNvPr id="24" name="text_96"/>
          <p:cNvSpPr/>
          <p:nvPr/>
        </p:nvSpPr>
        <p:spPr>
          <a:xfrm>
            <a:off x="4709160" y="4169664"/>
            <a:ext cx="2816352" cy="429768"/>
          </a:xfrm>
          <a:prstGeom prst="rect">
            <a:avLst/>
          </a:prstGeom>
          <a:noFill/>
          <a:ln/>
        </p:spPr>
        <p:txBody>
          <a:bodyPr wrap="square" lIns="0" tIns="0" rIns="0" bIns="0" rtlCol="0" anchor="ctr">
            <a:normAutofit/>
          </a:bodyPr>
          <a:lstStyle/>
          <a:p>
            <a:pPr indent="0" marL="0">
              <a:buNone/>
            </a:pPr>
            <a:r>
              <a:rPr lang="ko-KR" altLang="en-US" sz="2300" b="1" dirty="0">
                <a:solidFill>
                  <a:srgbClr val="FFFFFF"/>
                </a:solidFill>
                <a:latin typeface="Noto Sans CJK KR" pitchFamily="34" charset="0"/>
                <a:ea typeface="Noto Sans CJK KR" pitchFamily="34" charset="-122"/>
                <a:cs typeface="Noto Sans CJK KR" pitchFamily="34" charset="-120"/>
              </a:rPr>
              <a:t>공고와 이유 확인</a:t>
            </a:r>
            <a:endParaRPr lang="ko-KR" sz="2300" dirty="0"/>
          </a:p>
        </p:txBody>
      </p:sp>
      <p:sp>
        <p:nvSpPr>
          <p:cNvPr id="25" name="text_97"/>
          <p:cNvSpPr/>
          <p:nvPr/>
        </p:nvSpPr>
        <p:spPr>
          <a:xfrm>
            <a:off x="4718304" y="4700016"/>
            <a:ext cx="2798064" cy="310896"/>
          </a:xfrm>
          <a:prstGeom prst="rect">
            <a:avLst/>
          </a:prstGeom>
          <a:noFill/>
          <a:ln/>
        </p:spPr>
        <p:txBody>
          <a:bodyPr wrap="square" lIns="0" tIns="0" rIns="0" bIns="0" rtlCol="0" anchor="ctr">
            <a:normAutofit/>
          </a:bodyPr>
          <a:lstStyle/>
          <a:p>
            <a:pPr indent="0" marL="0">
              <a:buNone/>
            </a:pPr>
            <a:r>
              <a:rPr lang="ko-KR" altLang="en-US" sz="1380" dirty="0">
                <a:solidFill>
                  <a:srgbClr val="BCD0D8"/>
                </a:solidFill>
                <a:latin typeface="Noto Sans CJK KR" pitchFamily="34" charset="0"/>
                <a:ea typeface="Noto Sans CJK KR" pitchFamily="34" charset="-122"/>
                <a:cs typeface="Noto Sans CJK KR" pitchFamily="34" charset="-120"/>
              </a:rPr>
              <a:t>관련 이유·확인할 조건</a:t>
            </a:r>
            <a:endParaRPr lang="ko-KR" sz="1380" dirty="0"/>
          </a:p>
        </p:txBody>
      </p:sp>
      <p:sp>
        <p:nvSpPr>
          <p:cNvPr id="26" name="text_98"/>
          <p:cNvSpPr/>
          <p:nvPr/>
        </p:nvSpPr>
        <p:spPr>
          <a:xfrm>
            <a:off x="4718304" y="5157216"/>
            <a:ext cx="2798064" cy="192024"/>
          </a:xfrm>
          <a:prstGeom prst="rect">
            <a:avLst/>
          </a:prstGeom>
          <a:noFill/>
          <a:ln/>
        </p:spPr>
        <p:txBody>
          <a:bodyPr wrap="square" lIns="0" tIns="0" rIns="0" bIns="0" rtlCol="0" anchor="ctr">
            <a:normAutofit/>
          </a:bodyPr>
          <a:lstStyle/>
          <a:p>
            <a:pPr indent="0" marL="0">
              <a:buNone/>
            </a:pPr>
            <a:r>
              <a:rPr lang="ko-KR" altLang="en-US" sz="1060" dirty="0">
                <a:solidFill>
                  <a:srgbClr val="BCD0D8"/>
                </a:solidFill>
                <a:latin typeface="Noto Sans CJK KR" pitchFamily="34" charset="0"/>
                <a:ea typeface="Noto Sans CJK KR" pitchFamily="34" charset="-122"/>
                <a:cs typeface="Noto Sans CJK KR" pitchFamily="34" charset="-120"/>
              </a:rPr>
              <a:t>나에게 왜 필요한지 이해</a:t>
            </a:r>
            <a:endParaRPr lang="ko-KR" sz="1060" dirty="0"/>
          </a:p>
        </p:txBody>
      </p:sp>
      <p:sp>
        <p:nvSpPr>
          <p:cNvPr id="27" name="card_99"/>
          <p:cNvSpPr/>
          <p:nvPr/>
        </p:nvSpPr>
        <p:spPr>
          <a:xfrm>
            <a:off x="8321040" y="2478024"/>
            <a:ext cx="3319272" cy="3099816"/>
          </a:xfrm>
          <a:prstGeom prst="roundRect">
            <a:avLst>
              <a:gd name="adj" fmla="val 5310"/>
            </a:avLst>
          </a:prstGeom>
          <a:solidFill>
            <a:srgbClr val="FFFFFF"/>
          </a:solidFill>
          <a:ln w="8890">
            <a:solidFill>
              <a:srgbClr val="DDE7E8"/>
            </a:solidFill>
            <a:prstDash val="solid"/>
          </a:ln>
        </p:spPr>
      </p:sp>
      <p:sp>
        <p:nvSpPr>
          <p:cNvPr id="28" name="text_100"/>
          <p:cNvSpPr/>
          <p:nvPr/>
        </p:nvSpPr>
        <p:spPr>
          <a:xfrm>
            <a:off x="8595360" y="2679192"/>
            <a:ext cx="585216" cy="320040"/>
          </a:xfrm>
          <a:prstGeom prst="rect">
            <a:avLst/>
          </a:prstGeom>
          <a:noFill/>
          <a:ln/>
        </p:spPr>
        <p:txBody>
          <a:bodyPr wrap="square" lIns="0" tIns="0" rIns="0" bIns="0" rtlCol="0" anchor="ctr">
            <a:normAutofit/>
          </a:bodyPr>
          <a:lstStyle/>
          <a:p>
            <a:pPr indent="0" marL="0">
              <a:buNone/>
            </a:pPr>
            <a:r>
              <a:rPr lang="ko-KR" altLang="en-US" sz="1600" b="1" dirty="0">
                <a:solidFill>
                  <a:srgbClr val="008979"/>
                </a:solidFill>
                <a:latin typeface="Aptos" pitchFamily="34" charset="0"/>
                <a:ea typeface="Aptos" pitchFamily="34" charset="-122"/>
                <a:cs typeface="Aptos" pitchFamily="34" charset="-120"/>
              </a:rPr>
              <a:t>03</a:t>
            </a:r>
            <a:endParaRPr lang="ko-KR" sz="1600" dirty="0"/>
          </a:p>
        </p:txBody>
      </p:sp>
      <p:sp>
        <p:nvSpPr>
          <p:cNvPr id="29" name="card_101"/>
          <p:cNvSpPr/>
          <p:nvPr/>
        </p:nvSpPr>
        <p:spPr>
          <a:xfrm>
            <a:off x="8615860" y="3465281"/>
            <a:ext cx="464427" cy="444664"/>
          </a:xfrm>
          <a:prstGeom prst="roundRect">
            <a:avLst>
              <a:gd name="adj" fmla="val 12338"/>
            </a:avLst>
          </a:prstGeom>
          <a:solidFill>
            <a:srgbClr val="FFFFFF">
              <a:alpha val="0"/>
            </a:srgbClr>
          </a:solidFill>
          <a:ln w="25400">
            <a:solidFill>
              <a:srgbClr val="008979"/>
            </a:solidFill>
            <a:prstDash val="solid"/>
          </a:ln>
        </p:spPr>
      </p:sp>
      <p:sp>
        <p:nvSpPr>
          <p:cNvPr id="30" name="line_102"/>
          <p:cNvSpPr/>
          <p:nvPr/>
        </p:nvSpPr>
        <p:spPr>
          <a:xfrm>
            <a:off x="8813489" y="3692554"/>
            <a:ext cx="355731" cy="-335968"/>
          </a:xfrm>
          <a:prstGeom prst="line">
            <a:avLst/>
          </a:prstGeom>
          <a:noFill/>
          <a:ln w="26670">
            <a:solidFill>
              <a:srgbClr val="008979"/>
            </a:solidFill>
            <a:prstDash val="solid"/>
          </a:ln>
        </p:spPr>
      </p:sp>
      <p:sp>
        <p:nvSpPr>
          <p:cNvPr id="31" name="line_103"/>
          <p:cNvSpPr/>
          <p:nvPr/>
        </p:nvSpPr>
        <p:spPr>
          <a:xfrm>
            <a:off x="8981473" y="3356585"/>
            <a:ext cx="187747" cy="0"/>
          </a:xfrm>
          <a:prstGeom prst="line">
            <a:avLst/>
          </a:prstGeom>
          <a:noFill/>
          <a:ln w="26670">
            <a:solidFill>
              <a:srgbClr val="008979"/>
            </a:solidFill>
            <a:prstDash val="solid"/>
          </a:ln>
        </p:spPr>
      </p:sp>
      <p:sp>
        <p:nvSpPr>
          <p:cNvPr id="32" name="line_104"/>
          <p:cNvSpPr/>
          <p:nvPr/>
        </p:nvSpPr>
        <p:spPr>
          <a:xfrm>
            <a:off x="9169220" y="3356585"/>
            <a:ext cx="0" cy="187747"/>
          </a:xfrm>
          <a:prstGeom prst="line">
            <a:avLst/>
          </a:prstGeom>
          <a:noFill/>
          <a:ln w="26670">
            <a:solidFill>
              <a:srgbClr val="008979"/>
            </a:solidFill>
            <a:prstDash val="solid"/>
          </a:ln>
        </p:spPr>
      </p:sp>
      <p:sp>
        <p:nvSpPr>
          <p:cNvPr id="33" name="text_105"/>
          <p:cNvSpPr/>
          <p:nvPr/>
        </p:nvSpPr>
        <p:spPr>
          <a:xfrm>
            <a:off x="8595360" y="4169664"/>
            <a:ext cx="2816352" cy="429768"/>
          </a:xfrm>
          <a:prstGeom prst="rect">
            <a:avLst/>
          </a:prstGeom>
          <a:noFill/>
          <a:ln/>
        </p:spPr>
        <p:txBody>
          <a:bodyPr wrap="square" lIns="0" tIns="0" rIns="0" bIns="0" rtlCol="0" anchor="ctr">
            <a:normAutofit/>
          </a:bodyPr>
          <a:lstStyle/>
          <a:p>
            <a:pPr indent="0" marL="0">
              <a:buNone/>
            </a:pPr>
            <a:r>
              <a:rPr lang="ko-KR" altLang="en-US" sz="2300" b="1" dirty="0">
                <a:solidFill>
                  <a:srgbClr val="17354C"/>
                </a:solidFill>
                <a:latin typeface="Noto Sans CJK KR" pitchFamily="34" charset="0"/>
                <a:ea typeface="Noto Sans CJK KR" pitchFamily="34" charset="-122"/>
                <a:cs typeface="Noto Sans CJK KR" pitchFamily="34" charset="-120"/>
              </a:rPr>
              <a:t>공식 안내 확인</a:t>
            </a:r>
            <a:endParaRPr lang="ko-KR" sz="2300" dirty="0"/>
          </a:p>
        </p:txBody>
      </p:sp>
      <p:sp>
        <p:nvSpPr>
          <p:cNvPr id="34" name="text_106"/>
          <p:cNvSpPr/>
          <p:nvPr/>
        </p:nvSpPr>
        <p:spPr>
          <a:xfrm>
            <a:off x="8604504" y="4700016"/>
            <a:ext cx="2798064" cy="310896"/>
          </a:xfrm>
          <a:prstGeom prst="rect">
            <a:avLst/>
          </a:prstGeom>
          <a:noFill/>
          <a:ln/>
        </p:spPr>
        <p:txBody>
          <a:bodyPr wrap="square" lIns="0" tIns="0" rIns="0" bIns="0" rtlCol="0" anchor="ctr">
            <a:normAutofit/>
          </a:bodyPr>
          <a:lstStyle/>
          <a:p>
            <a:pPr indent="0" marL="0">
              <a:buNone/>
            </a:pPr>
            <a:r>
              <a:rPr lang="ko-KR" altLang="en-US" sz="1380" dirty="0">
                <a:solidFill>
                  <a:srgbClr val="607582"/>
                </a:solidFill>
                <a:latin typeface="Noto Sans CJK KR" pitchFamily="34" charset="0"/>
                <a:ea typeface="Noto Sans CJK KR" pitchFamily="34" charset="-122"/>
                <a:cs typeface="Noto Sans CJK KR" pitchFamily="34" charset="-120"/>
              </a:rPr>
              <a:t>상세 내용·신청 방법</a:t>
            </a:r>
            <a:endParaRPr lang="ko-KR" sz="1380" dirty="0"/>
          </a:p>
        </p:txBody>
      </p:sp>
      <p:sp>
        <p:nvSpPr>
          <p:cNvPr id="35" name="text_107"/>
          <p:cNvSpPr/>
          <p:nvPr/>
        </p:nvSpPr>
        <p:spPr>
          <a:xfrm>
            <a:off x="8604504" y="5157216"/>
            <a:ext cx="2798064" cy="192024"/>
          </a:xfrm>
          <a:prstGeom prst="rect">
            <a:avLst/>
          </a:prstGeom>
          <a:noFill/>
          <a:ln/>
        </p:spPr>
        <p:txBody>
          <a:bodyPr wrap="square" lIns="0" tIns="0" rIns="0" bIns="0" rtlCol="0" anchor="ctr">
            <a:normAutofit/>
          </a:bodyPr>
          <a:lstStyle/>
          <a:p>
            <a:pPr indent="0" marL="0">
              <a:buNone/>
            </a:pPr>
            <a:r>
              <a:rPr lang="ko-KR" altLang="en-US" sz="1060" dirty="0">
                <a:solidFill>
                  <a:srgbClr val="607582"/>
                </a:solidFill>
                <a:latin typeface="Noto Sans CJK KR" pitchFamily="34" charset="0"/>
                <a:ea typeface="Noto Sans CJK KR" pitchFamily="34" charset="-122"/>
                <a:cs typeface="Noto Sans CJK KR" pitchFamily="34" charset="-120"/>
              </a:rPr>
              <a:t>정확한 조건은 원문에서 확인</a:t>
            </a:r>
            <a:endParaRPr lang="ko-KR" sz="1060" dirty="0"/>
          </a:p>
        </p:txBody>
      </p:sp>
      <p:sp>
        <p:nvSpPr>
          <p:cNvPr id="36" name="circle_108"/>
          <p:cNvSpPr/>
          <p:nvPr/>
        </p:nvSpPr>
        <p:spPr>
          <a:xfrm>
            <a:off x="3977640" y="3749040"/>
            <a:ext cx="384048" cy="384048"/>
          </a:xfrm>
          <a:prstGeom prst="ellipse">
            <a:avLst/>
          </a:prstGeom>
          <a:solidFill>
            <a:srgbClr val="E8F4EF"/>
          </a:solidFill>
          <a:ln w="12700">
            <a:solidFill>
              <a:srgbClr val="E8F4EF"/>
            </a:solidFill>
            <a:prstDash val="solid"/>
          </a:ln>
        </p:spPr>
      </p:sp>
      <p:sp>
        <p:nvSpPr>
          <p:cNvPr id="37" name="line_109"/>
          <p:cNvSpPr/>
          <p:nvPr/>
        </p:nvSpPr>
        <p:spPr>
          <a:xfrm>
            <a:off x="4078224" y="3941064"/>
            <a:ext cx="173736" cy="0"/>
          </a:xfrm>
          <a:prstGeom prst="line">
            <a:avLst/>
          </a:prstGeom>
          <a:noFill/>
          <a:ln w="20320">
            <a:solidFill>
              <a:srgbClr val="008979"/>
            </a:solidFill>
            <a:prstDash val="solid"/>
            <a:tailEnd type="triangle"/>
          </a:ln>
        </p:spPr>
      </p:sp>
      <p:sp>
        <p:nvSpPr>
          <p:cNvPr id="38" name="circle_110"/>
          <p:cNvSpPr/>
          <p:nvPr/>
        </p:nvSpPr>
        <p:spPr>
          <a:xfrm>
            <a:off x="7863840" y="3749040"/>
            <a:ext cx="384048" cy="384048"/>
          </a:xfrm>
          <a:prstGeom prst="ellipse">
            <a:avLst/>
          </a:prstGeom>
          <a:solidFill>
            <a:srgbClr val="E8F4EF"/>
          </a:solidFill>
          <a:ln w="12700">
            <a:solidFill>
              <a:srgbClr val="E8F4EF"/>
            </a:solidFill>
            <a:prstDash val="solid"/>
          </a:ln>
        </p:spPr>
      </p:sp>
      <p:sp>
        <p:nvSpPr>
          <p:cNvPr id="39" name="line_111"/>
          <p:cNvSpPr/>
          <p:nvPr/>
        </p:nvSpPr>
        <p:spPr>
          <a:xfrm>
            <a:off x="7964424" y="3941064"/>
            <a:ext cx="173736" cy="0"/>
          </a:xfrm>
          <a:prstGeom prst="line">
            <a:avLst/>
          </a:prstGeom>
          <a:noFill/>
          <a:ln w="20320">
            <a:solidFill>
              <a:srgbClr val="008979"/>
            </a:solidFill>
            <a:prstDash val="solid"/>
            <a:tailEnd type="triangle"/>
          </a:ln>
        </p:spPr>
      </p:sp>
      <p:sp>
        <p:nvSpPr>
          <p:cNvPr id="40" name="text_112"/>
          <p:cNvSpPr/>
          <p:nvPr/>
        </p:nvSpPr>
        <p:spPr>
          <a:xfrm>
            <a:off x="603504" y="5861304"/>
            <a:ext cx="1207008" cy="283464"/>
          </a:xfrm>
          <a:prstGeom prst="rect">
            <a:avLst/>
          </a:prstGeom>
          <a:noFill/>
          <a:ln/>
        </p:spPr>
        <p:txBody>
          <a:bodyPr wrap="square" lIns="0" tIns="0" rIns="0" bIns="0" rtlCol="0" anchor="ctr">
            <a:normAutofit/>
          </a:bodyPr>
          <a:lstStyle/>
          <a:p>
            <a:pPr indent="0" marL="0">
              <a:buNone/>
            </a:pPr>
            <a:r>
              <a:rPr lang="ko-KR" altLang="en-US" sz="1120" b="1" dirty="0">
                <a:solidFill>
                  <a:srgbClr val="008979"/>
                </a:solidFill>
                <a:latin typeface="Noto Sans CJK KR" pitchFamily="34" charset="0"/>
                <a:ea typeface="Noto Sans CJK KR" pitchFamily="34" charset="-122"/>
                <a:cs typeface="Noto Sans CJK KR" pitchFamily="34" charset="-120"/>
              </a:rPr>
              <a:t>역할의 경계</a:t>
            </a:r>
            <a:endParaRPr lang="ko-KR" sz="1120" dirty="0"/>
          </a:p>
        </p:txBody>
      </p:sp>
      <p:sp>
        <p:nvSpPr>
          <p:cNvPr id="41" name="text_113"/>
          <p:cNvSpPr/>
          <p:nvPr/>
        </p:nvSpPr>
        <p:spPr>
          <a:xfrm>
            <a:off x="1856232" y="5852160"/>
            <a:ext cx="9509760" cy="292608"/>
          </a:xfrm>
          <a:prstGeom prst="rect">
            <a:avLst/>
          </a:prstGeom>
          <a:noFill/>
          <a:ln/>
        </p:spPr>
        <p:txBody>
          <a:bodyPr wrap="square" lIns="0" tIns="0" rIns="0" bIns="0" rtlCol="0" anchor="ctr">
            <a:normAutofit/>
          </a:bodyPr>
          <a:lstStyle/>
          <a:p>
            <a:pPr indent="0" marL="0">
              <a:buNone/>
            </a:pPr>
            <a:r>
              <a:rPr lang="ko-KR" altLang="en-US" sz="1210" dirty="0">
                <a:solidFill>
                  <a:srgbClr val="607582"/>
                </a:solidFill>
                <a:latin typeface="Noto Sans CJK KR" pitchFamily="34" charset="0"/>
                <a:ea typeface="Noto Sans CJK KR" pitchFamily="34" charset="-122"/>
                <a:cs typeface="Noto Sans CJK KR" pitchFamily="34" charset="-120"/>
              </a:rPr>
              <a:t>신청 자격을 확정하는 서비스가 아니라, 필요한 공고를 찾고 이해하도록 돕는 안내</a:t>
            </a:r>
            <a:endParaRPr lang="ko-KR" sz="1210" dirty="0"/>
          </a:p>
        </p:txBody>
      </p:sp>
      <p:sp>
        <p:nvSpPr>
          <p:cNvPr id="42" name="TextBox 41"/>
          <p:cNvSpPr txBox="1"/>
          <p:nvPr/>
        </p:nvSpPr>
        <p:spPr>
          <a:xfrm>
            <a:off x="594360" y="2084831"/>
            <a:ext cx="10972800" cy="219456"/>
          </a:xfrm>
          <a:prstGeom prst="rect">
            <a:avLst/>
          </a:prstGeom>
          <a:noFill/>
        </p:spPr>
        <p:txBody>
          <a:bodyPr wrap="square" lIns="0" rIns="0" tIns="0" bIns="0" anchor="ctr">
            <a:noAutofit/>
          </a:bodyPr>
          <a:lstStyle/>
          <a:p>
            <a:pPr algn="l">
              <a:lnSpc>
                <a:spcPct val="112000"/>
              </a:lnSpc>
              <a:spcBef>
                <a:spcPts val="0"/>
              </a:spcBef>
              <a:spcAft>
                <a:spcPts val="0"/>
              </a:spcAft>
            </a:pPr>
            <a:r>
              <a:rPr sz="1120" b="0" lang="ko-KR" dirty="0">
                <a:solidFill>
                  <a:srgbClr val="008979"/>
                </a:solidFill>
                <a:latin typeface="Noto Sans CJK KR"/>
                <a:ea typeface="Noto Sans CJK KR"/>
                <a:cs typeface="Noto Sans CJK KR"/>
              </a:rPr>
              <a:t>지역 확장 제안  ·  주소지는 타지역, 생활은 월계1동인 학생의 주소지·재학 조건 구분</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5F8F8"/>
        </a:solidFill>
      </p:bgPr>
    </p:bg>
    <p:spTree>
      <p:nvGrpSpPr>
        <p:cNvPr id="1" name=""/>
        <p:cNvGrpSpPr/>
        <p:nvPr/>
      </p:nvGrpSpPr>
      <p:grpSpPr>
        <a:xfrm>
          <a:off x="0" y="0"/>
          <a:ext cx="0" cy="0"/>
          <a:chOff x="0" y="0"/>
          <a:chExt cx="0" cy="0"/>
        </a:xfrm>
      </p:grpSpPr>
      <p:sp>
        <p:nvSpPr>
          <p:cNvPr id="2" name="circle_114"/>
          <p:cNvSpPr/>
          <p:nvPr/>
        </p:nvSpPr>
        <p:spPr>
          <a:xfrm>
            <a:off x="502920" y="292608"/>
            <a:ext cx="292608" cy="292608"/>
          </a:xfrm>
          <a:prstGeom prst="ellipse">
            <a:avLst/>
          </a:prstGeom>
          <a:solidFill>
            <a:srgbClr val="FFFFFF">
              <a:alpha val="0"/>
            </a:srgbClr>
          </a:solidFill>
          <a:ln w="22860">
            <a:solidFill>
              <a:srgbClr val="DDE7E8"/>
            </a:solidFill>
            <a:prstDash val="solid"/>
          </a:ln>
        </p:spPr>
      </p:sp>
      <p:sp>
        <p:nvSpPr>
          <p:cNvPr id="3" name="Shape 1"/>
          <p:cNvSpPr/>
          <p:nvPr/>
        </p:nvSpPr>
        <p:spPr>
          <a:xfrm rot="1500000">
            <a:off x="612648" y="326258"/>
            <a:ext cx="73152" cy="124358"/>
          </a:xfrm>
          <a:prstGeom prst="triangle">
            <a:avLst/>
          </a:prstGeom>
          <a:solidFill>
            <a:srgbClr val="008979"/>
          </a:solidFill>
          <a:ln w="12700">
            <a:solidFill>
              <a:srgbClr val="008979"/>
            </a:solidFill>
            <a:prstDash val="solid"/>
          </a:ln>
        </p:spPr>
      </p:sp>
      <p:sp>
        <p:nvSpPr>
          <p:cNvPr id="4" name="Shape 2"/>
          <p:cNvSpPr/>
          <p:nvPr/>
        </p:nvSpPr>
        <p:spPr>
          <a:xfrm rot="12300000">
            <a:off x="612648" y="435986"/>
            <a:ext cx="73152" cy="124358"/>
          </a:xfrm>
          <a:prstGeom prst="triangle">
            <a:avLst/>
          </a:prstGeom>
          <a:solidFill>
            <a:srgbClr val="17354C"/>
          </a:solidFill>
          <a:ln w="12700">
            <a:solidFill>
              <a:srgbClr val="17354C"/>
            </a:solidFill>
            <a:prstDash val="solid"/>
          </a:ln>
        </p:spPr>
      </p:sp>
      <p:sp>
        <p:nvSpPr>
          <p:cNvPr id="5" name="circle_115"/>
          <p:cNvSpPr/>
          <p:nvPr/>
        </p:nvSpPr>
        <p:spPr>
          <a:xfrm>
            <a:off x="636057" y="425745"/>
            <a:ext cx="26335" cy="26335"/>
          </a:xfrm>
          <a:prstGeom prst="ellipse">
            <a:avLst/>
          </a:prstGeom>
          <a:solidFill>
            <a:srgbClr val="FFFFFF"/>
          </a:solidFill>
          <a:ln w="12700">
            <a:solidFill>
              <a:srgbClr val="FFFFFF"/>
            </a:solidFill>
            <a:prstDash val="solid"/>
          </a:ln>
        </p:spPr>
      </p:sp>
      <p:sp>
        <p:nvSpPr>
          <p:cNvPr id="6" name="text_116"/>
          <p:cNvSpPr/>
          <p:nvPr/>
        </p:nvSpPr>
        <p:spPr>
          <a:xfrm>
            <a:off x="914400" y="292608"/>
            <a:ext cx="9601200" cy="274320"/>
          </a:xfrm>
          <a:prstGeom prst="rect">
            <a:avLst/>
          </a:prstGeom>
          <a:noFill/>
          <a:ln/>
        </p:spPr>
        <p:txBody>
          <a:bodyPr wrap="square" lIns="0" tIns="0" rIns="0" bIns="0" rtlCol="0" anchor="ctr">
            <a:normAutofit/>
          </a:bodyPr>
          <a:lstStyle/>
          <a:p>
            <a:pPr indent="0" marL="0">
              <a:buNone/>
            </a:pPr>
            <a:r>
              <a:rPr lang="ko-KR" altLang="en-US" sz="1050" b="1" spc="20" kern="0" dirty="0">
                <a:solidFill>
                  <a:srgbClr val="008979"/>
                </a:solidFill>
                <a:latin typeface="Noto Sans CJK KR" pitchFamily="34" charset="0"/>
                <a:ea typeface="Noto Sans CJK KR" pitchFamily="34" charset="-122"/>
                <a:cs typeface="Noto Sans CJK KR" pitchFamily="34" charset="-120"/>
              </a:rPr>
              <a:t>이용 방식  ·  실제 시제품 화면</a:t>
            </a:r>
            <a:endParaRPr lang="ko-KR" sz="1050" dirty="0"/>
          </a:p>
        </p:txBody>
      </p:sp>
      <p:sp>
        <p:nvSpPr>
          <p:cNvPr id="7" name="text_117"/>
          <p:cNvSpPr/>
          <p:nvPr/>
        </p:nvSpPr>
        <p:spPr>
          <a:xfrm>
            <a:off x="548640" y="896112"/>
            <a:ext cx="11045952" cy="640080"/>
          </a:xfrm>
          <a:prstGeom prst="rect">
            <a:avLst/>
          </a:prstGeom>
          <a:noFill/>
          <a:ln/>
        </p:spPr>
        <p:txBody>
          <a:bodyPr wrap="square" lIns="0" tIns="0" rIns="0" bIns="0" rtlCol="0" anchor="ctr">
            <a:normAutofit/>
          </a:bodyPr>
          <a:lstStyle/>
          <a:p>
            <a:pPr indent="0" marL="0">
              <a:buNone/>
            </a:pPr>
            <a:r>
              <a:rPr lang="ko-KR" altLang="en-US" sz="2900" b="1" dirty="0">
                <a:solidFill>
                  <a:srgbClr val="17354C"/>
                </a:solidFill>
                <a:latin typeface="Noto Sans CJK KR" pitchFamily="34" charset="0"/>
                <a:ea typeface="Noto Sans CJK KR" pitchFamily="34" charset="-122"/>
                <a:cs typeface="Noto Sans CJK KR" pitchFamily="34" charset="-120"/>
              </a:rPr>
              <a:t>월계1동 이용자도, 나에게 편한 화면</a:t>
            </a:r>
            <a:endParaRPr lang="ko-KR" sz="3000" dirty="0"/>
          </a:p>
        </p:txBody>
      </p:sp>
      <p:sp>
        <p:nvSpPr>
          <p:cNvPr id="8" name="text_118"/>
          <p:cNvSpPr/>
          <p:nvPr/>
        </p:nvSpPr>
        <p:spPr>
          <a:xfrm>
            <a:off x="576072" y="1627632"/>
            <a:ext cx="10972800" cy="347472"/>
          </a:xfrm>
          <a:prstGeom prst="rect">
            <a:avLst/>
          </a:prstGeom>
          <a:noFill/>
          <a:ln/>
        </p:spPr>
        <p:txBody>
          <a:bodyPr wrap="square" lIns="0" tIns="0" rIns="0" bIns="0" rtlCol="0" anchor="ctr">
            <a:normAutofit/>
          </a:bodyPr>
          <a:lstStyle/>
          <a:p>
            <a:pPr indent="0" marL="0">
              <a:buNone/>
            </a:pPr>
            <a:r>
              <a:rPr lang="ko-KR" altLang="en-US" sz="1420" dirty="0">
                <a:solidFill>
                  <a:srgbClr val="607582"/>
                </a:solidFill>
                <a:latin typeface="Noto Sans CJK KR" pitchFamily="34" charset="0"/>
                <a:ea typeface="Noto Sans CJK KR" pitchFamily="34" charset="-122"/>
                <a:cs typeface="Noto Sans CJK KR" pitchFamily="34" charset="-120"/>
              </a:rPr>
              <a:t>예시 공고를 사용하는 시제품  ·  실제 공고 연결과 사용자 평가는 다음 단계</a:t>
            </a:r>
            <a:endParaRPr lang="ko-KR" sz="1420" dirty="0"/>
          </a:p>
        </p:txBody>
      </p:sp>
      <p:sp>
        <p:nvSpPr>
          <p:cNvPr id="9" name="line_119"/>
          <p:cNvSpPr/>
          <p:nvPr/>
        </p:nvSpPr>
        <p:spPr>
          <a:xfrm>
            <a:off x="502920" y="6391656"/>
            <a:ext cx="11183112" cy="0"/>
          </a:xfrm>
          <a:prstGeom prst="line">
            <a:avLst/>
          </a:prstGeom>
          <a:noFill/>
          <a:ln w="9525">
            <a:solidFill>
              <a:srgbClr val="DDE7E8"/>
            </a:solidFill>
            <a:prstDash val="solid"/>
          </a:ln>
        </p:spPr>
      </p:sp>
      <p:sp>
        <p:nvSpPr>
          <p:cNvPr id="10" name="text_120"/>
          <p:cNvSpPr/>
          <p:nvPr/>
        </p:nvSpPr>
        <p:spPr>
          <a:xfrm>
            <a:off x="521208" y="6483096"/>
            <a:ext cx="6400800" cy="182880"/>
          </a:xfrm>
          <a:prstGeom prst="rect">
            <a:avLst/>
          </a:prstGeom>
          <a:noFill/>
          <a:ln/>
        </p:spPr>
        <p:txBody>
          <a:bodyPr wrap="square" lIns="0" tIns="0" rIns="0" bIns="0" rtlCol="0" anchor="ctr">
            <a:normAutofit/>
          </a:bodyPr>
          <a:lstStyle/>
          <a:p>
            <a:pPr indent="0" marL="0">
              <a:buNone/>
            </a:pPr>
            <a:r>
              <a:rPr lang="ko-KR" altLang="en-US" sz="880" dirty="0">
                <a:solidFill>
                  <a:srgbClr val="607582"/>
                </a:solidFill>
                <a:latin typeface="Noto Sans CJK KR" pitchFamily="34" charset="0"/>
                <a:ea typeface="Noto Sans CJK KR" pitchFamily="34" charset="-122"/>
                <a:cs typeface="Noto Sans CJK KR" pitchFamily="34" charset="-120"/>
              </a:rPr>
              <a:t>복지나침반  ·  중간발표</a:t>
            </a:r>
            <a:endParaRPr lang="ko-KR" sz="880" dirty="0"/>
          </a:p>
        </p:txBody>
      </p:sp>
      <p:sp>
        <p:nvSpPr>
          <p:cNvPr id="11" name="text_121"/>
          <p:cNvSpPr/>
          <p:nvPr/>
        </p:nvSpPr>
        <p:spPr>
          <a:xfrm>
            <a:off x="10625328" y="6460236"/>
            <a:ext cx="1033272" cy="228600"/>
          </a:xfrm>
          <a:prstGeom prst="rect">
            <a:avLst/>
          </a:prstGeom>
          <a:noFill/>
          <a:ln/>
        </p:spPr>
        <p:txBody>
          <a:bodyPr wrap="square" lIns="0" tIns="0" rIns="0" bIns="0" rtlCol="0" anchor="ctr">
            <a:normAutofit/>
          </a:bodyPr>
          <a:lstStyle/>
          <a:p>
            <a:pPr algn="r" indent="0" marL="0">
              <a:buNone/>
            </a:pPr>
            <a:r>
              <a:rPr lang="ko-KR" altLang="en-US" sz="920" dirty="0">
                <a:solidFill>
                  <a:srgbClr val="607582"/>
                </a:solidFill>
                <a:latin typeface="Noto Sans CJK KR" pitchFamily="34" charset="0"/>
                <a:ea typeface="Noto Sans CJK KR" pitchFamily="34" charset="-122"/>
                <a:cs typeface="Noto Sans CJK KR" pitchFamily="34" charset="-120"/>
              </a:rPr>
              <a:t>05 / 06</a:t>
            </a:r>
            <a:endParaRPr lang="ko-KR" sz="920" dirty="0"/>
          </a:p>
        </p:txBody>
      </p:sp>
      <p:sp>
        <p:nvSpPr>
          <p:cNvPr id="12" name="card_122"/>
          <p:cNvSpPr/>
          <p:nvPr/>
        </p:nvSpPr>
        <p:spPr>
          <a:xfrm>
            <a:off x="548640" y="2148840"/>
            <a:ext cx="1289304" cy="320040"/>
          </a:xfrm>
          <a:prstGeom prst="roundRect">
            <a:avLst>
              <a:gd name="adj" fmla="val 28571"/>
            </a:avLst>
          </a:prstGeom>
          <a:solidFill>
            <a:srgbClr val="FFFFFF"/>
          </a:solidFill>
          <a:ln w="8890">
            <a:solidFill>
              <a:srgbClr val="FFFFFF"/>
            </a:solidFill>
            <a:prstDash val="solid"/>
          </a:ln>
        </p:spPr>
      </p:sp>
      <p:sp>
        <p:nvSpPr>
          <p:cNvPr id="13" name="text_123"/>
          <p:cNvSpPr/>
          <p:nvPr/>
        </p:nvSpPr>
        <p:spPr>
          <a:xfrm>
            <a:off x="658368" y="2171700"/>
            <a:ext cx="1069848" cy="265176"/>
          </a:xfrm>
          <a:prstGeom prst="rect">
            <a:avLst/>
          </a:prstGeom>
          <a:noFill/>
          <a:ln/>
        </p:spPr>
        <p:txBody>
          <a:bodyPr wrap="square" lIns="0" tIns="0" rIns="0" bIns="0" rtlCol="0" anchor="ctr">
            <a:normAutofit/>
          </a:bodyPr>
          <a:lstStyle/>
          <a:p>
            <a:pPr indent="0" marL="0">
              <a:buNone/>
            </a:pPr>
            <a:r>
              <a:rPr lang="ko-KR" altLang="en-US" sz="1050" b="1" dirty="0">
                <a:solidFill>
                  <a:srgbClr val="17354C"/>
                </a:solidFill>
                <a:latin typeface="Noto Sans CJK KR" pitchFamily="34" charset="0"/>
                <a:ea typeface="Noto Sans CJK KR" pitchFamily="34" charset="-122"/>
                <a:cs typeface="Noto Sans CJK KR" pitchFamily="34" charset="-120"/>
              </a:rPr>
              <a:t>일반 화면</a:t>
            </a:r>
            <a:endParaRPr lang="ko-KR" sz="1050" dirty="0"/>
          </a:p>
        </p:txBody>
      </p:sp>
      <p:sp>
        <p:nvSpPr>
          <p:cNvPr id="14" name="text_124"/>
          <p:cNvSpPr/>
          <p:nvPr/>
        </p:nvSpPr>
        <p:spPr>
          <a:xfrm>
            <a:off x="2057400" y="2185416"/>
            <a:ext cx="4489704" cy="256032"/>
          </a:xfrm>
          <a:prstGeom prst="rect">
            <a:avLst/>
          </a:prstGeom>
          <a:noFill/>
          <a:ln/>
        </p:spPr>
        <p:txBody>
          <a:bodyPr wrap="square" lIns="0" tIns="0" rIns="0" bIns="0" rtlCol="0" anchor="ctr">
            <a:normAutofit/>
          </a:bodyPr>
          <a:lstStyle/>
          <a:p>
            <a:pPr indent="0" marL="0">
              <a:buNone/>
            </a:pPr>
            <a:r>
              <a:rPr lang="ko-KR" altLang="en-US" sz="1350" dirty="0">
                <a:solidFill>
                  <a:srgbClr val="607582"/>
                </a:solidFill>
                <a:latin typeface="Noto Sans CJK KR" pitchFamily="34" charset="0"/>
                <a:ea typeface="Noto Sans CJK KR" pitchFamily="34" charset="-122"/>
                <a:cs typeface="Noto Sans CJK KR" pitchFamily="34" charset="-120"/>
              </a:rPr>
              <a:t>한눈에 살펴보는 공고 탐색</a:t>
            </a:r>
            <a:endParaRPr lang="ko-KR" sz="1350" dirty="0"/>
          </a:p>
        </p:txBody>
      </p:sp>
      <p:sp>
        <p:nvSpPr>
          <p:cNvPr id="15" name="card_125"/>
          <p:cNvSpPr/>
          <p:nvPr/>
        </p:nvSpPr>
        <p:spPr>
          <a:xfrm>
            <a:off x="6958584" y="2148840"/>
            <a:ext cx="1316736" cy="320040"/>
          </a:xfrm>
          <a:prstGeom prst="roundRect">
            <a:avLst>
              <a:gd name="adj" fmla="val 28571"/>
            </a:avLst>
          </a:prstGeom>
          <a:solidFill>
            <a:srgbClr val="E8F4EF"/>
          </a:solidFill>
          <a:ln w="8890">
            <a:solidFill>
              <a:srgbClr val="E8F4EF"/>
            </a:solidFill>
            <a:prstDash val="solid"/>
          </a:ln>
        </p:spPr>
      </p:sp>
      <p:sp>
        <p:nvSpPr>
          <p:cNvPr id="16" name="text_126"/>
          <p:cNvSpPr/>
          <p:nvPr/>
        </p:nvSpPr>
        <p:spPr>
          <a:xfrm>
            <a:off x="7068312" y="2171700"/>
            <a:ext cx="1097280" cy="265176"/>
          </a:xfrm>
          <a:prstGeom prst="rect">
            <a:avLst/>
          </a:prstGeom>
          <a:noFill/>
          <a:ln/>
        </p:spPr>
        <p:txBody>
          <a:bodyPr wrap="square" lIns="0" tIns="0" rIns="0" bIns="0" rtlCol="0" anchor="ctr">
            <a:normAutofit/>
          </a:bodyPr>
          <a:lstStyle/>
          <a:p>
            <a:pPr indent="0" marL="0">
              <a:buNone/>
            </a:pPr>
            <a:r>
              <a:rPr lang="ko-KR" altLang="en-US" sz="1050" b="1" dirty="0">
                <a:solidFill>
                  <a:srgbClr val="008979"/>
                </a:solidFill>
                <a:latin typeface="Noto Sans CJK KR" pitchFamily="34" charset="0"/>
                <a:ea typeface="Noto Sans CJK KR" pitchFamily="34" charset="-122"/>
                <a:cs typeface="Noto Sans CJK KR" pitchFamily="34" charset="-120"/>
              </a:rPr>
              <a:t>쉬운 화면</a:t>
            </a:r>
            <a:endParaRPr lang="ko-KR" sz="1050" dirty="0"/>
          </a:p>
        </p:txBody>
      </p:sp>
      <p:sp>
        <p:nvSpPr>
          <p:cNvPr id="17" name="text_127"/>
          <p:cNvSpPr/>
          <p:nvPr/>
        </p:nvSpPr>
        <p:spPr>
          <a:xfrm>
            <a:off x="8476488" y="2185416"/>
            <a:ext cx="3145536" cy="256032"/>
          </a:xfrm>
          <a:prstGeom prst="rect">
            <a:avLst/>
          </a:prstGeom>
          <a:noFill/>
          <a:ln/>
        </p:spPr>
        <p:txBody>
          <a:bodyPr wrap="square" lIns="0" tIns="0" rIns="0" bIns="0" rtlCol="0" anchor="ctr">
            <a:normAutofit/>
          </a:bodyPr>
          <a:lstStyle/>
          <a:p>
            <a:pPr indent="0" marL="0">
              <a:buNone/>
            </a:pPr>
            <a:r>
              <a:rPr lang="ko-KR" altLang="en-US" sz="1310" dirty="0">
                <a:solidFill>
                  <a:srgbClr val="607582"/>
                </a:solidFill>
                <a:latin typeface="Noto Sans CJK KR" pitchFamily="34" charset="0"/>
                <a:ea typeface="Noto Sans CJK KR" pitchFamily="34" charset="-122"/>
                <a:cs typeface="Noto Sans CJK KR" pitchFamily="34" charset="-120"/>
              </a:rPr>
              <a:t>큰 글씨·단계별 입력</a:t>
            </a:r>
            <a:endParaRPr lang="ko-KR" sz="1310" dirty="0"/>
          </a:p>
        </p:txBody>
      </p:sp>
      <p:sp>
        <p:nvSpPr>
          <p:cNvPr id="18" name="card_128"/>
          <p:cNvSpPr/>
          <p:nvPr/>
        </p:nvSpPr>
        <p:spPr>
          <a:xfrm>
            <a:off x="548640" y="2670048"/>
            <a:ext cx="6153912" cy="3639312"/>
          </a:xfrm>
          <a:prstGeom prst="roundRect">
            <a:avLst>
              <a:gd name="adj" fmla="val 3518"/>
            </a:avLst>
          </a:prstGeom>
          <a:solidFill>
            <a:srgbClr val="FFFFFF"/>
          </a:solidFill>
          <a:ln w="8890">
            <a:solidFill>
              <a:srgbClr val="DDE7E8"/>
            </a:solidFill>
            <a:prstDash val="solid"/>
          </a:ln>
        </p:spPr>
      </p:sp>
      <p:sp>
        <p:nvSpPr>
          <p:cNvPr id="19" name="card_129"/>
          <p:cNvSpPr/>
          <p:nvPr/>
        </p:nvSpPr>
        <p:spPr>
          <a:xfrm>
            <a:off x="6958584" y="2670048"/>
            <a:ext cx="4681728" cy="3639312"/>
          </a:xfrm>
          <a:prstGeom prst="roundRect">
            <a:avLst>
              <a:gd name="adj" fmla="val 3518"/>
            </a:avLst>
          </a:prstGeom>
          <a:solidFill>
            <a:srgbClr val="FFFFFF"/>
          </a:solidFill>
          <a:ln w="8890">
            <a:solidFill>
              <a:srgbClr val="DDE7E8"/>
            </a:solidFill>
            <a:prstDash val="solid"/>
          </a:ln>
        </p:spPr>
      </p:sp>
      <p:sp>
        <p:nvSpPr>
          <p:cNvPr id="20" name="shape_130"/>
          <p:cNvSpPr/>
          <p:nvPr/>
        </p:nvSpPr>
        <p:spPr>
          <a:xfrm>
            <a:off x="557784" y="2706624"/>
            <a:ext cx="6135624" cy="246888"/>
          </a:xfrm>
          <a:prstGeom prst="rect">
            <a:avLst/>
          </a:prstGeom>
          <a:solidFill>
            <a:srgbClr val="EAF0F1"/>
          </a:solidFill>
          <a:ln w="8890">
            <a:solidFill>
              <a:srgbClr val="EAF0F1"/>
            </a:solidFill>
            <a:prstDash val="solid"/>
          </a:ln>
        </p:spPr>
      </p:sp>
      <p:sp>
        <p:nvSpPr>
          <p:cNvPr id="21" name="shape_131"/>
          <p:cNvSpPr/>
          <p:nvPr/>
        </p:nvSpPr>
        <p:spPr>
          <a:xfrm>
            <a:off x="6967728" y="2706624"/>
            <a:ext cx="4663440" cy="246888"/>
          </a:xfrm>
          <a:prstGeom prst="rect">
            <a:avLst/>
          </a:prstGeom>
          <a:solidFill>
            <a:srgbClr val="EAF0F1"/>
          </a:solidFill>
          <a:ln w="8890">
            <a:solidFill>
              <a:srgbClr val="EAF0F1"/>
            </a:solidFill>
            <a:prstDash val="solid"/>
          </a:ln>
        </p:spPr>
      </p:sp>
      <p:sp>
        <p:nvSpPr>
          <p:cNvPr id="22" name="circle_132"/>
          <p:cNvSpPr/>
          <p:nvPr/>
        </p:nvSpPr>
        <p:spPr>
          <a:xfrm>
            <a:off x="685800" y="2775204"/>
            <a:ext cx="50292" cy="50292"/>
          </a:xfrm>
          <a:prstGeom prst="ellipse">
            <a:avLst/>
          </a:prstGeom>
          <a:solidFill>
            <a:srgbClr val="93A7AC"/>
          </a:solidFill>
          <a:ln w="12700">
            <a:solidFill>
              <a:srgbClr val="93A7AC"/>
            </a:solidFill>
            <a:prstDash val="solid"/>
          </a:ln>
        </p:spPr>
      </p:sp>
      <p:sp>
        <p:nvSpPr>
          <p:cNvPr id="23" name="circle_133"/>
          <p:cNvSpPr/>
          <p:nvPr/>
        </p:nvSpPr>
        <p:spPr>
          <a:xfrm>
            <a:off x="7095744" y="2775204"/>
            <a:ext cx="50292" cy="50292"/>
          </a:xfrm>
          <a:prstGeom prst="ellipse">
            <a:avLst/>
          </a:prstGeom>
          <a:solidFill>
            <a:srgbClr val="93A7AC"/>
          </a:solidFill>
          <a:ln w="12700">
            <a:solidFill>
              <a:srgbClr val="93A7AC"/>
            </a:solidFill>
            <a:prstDash val="solid"/>
          </a:ln>
        </p:spPr>
      </p:sp>
      <p:sp>
        <p:nvSpPr>
          <p:cNvPr id="24" name="circle_134"/>
          <p:cNvSpPr/>
          <p:nvPr/>
        </p:nvSpPr>
        <p:spPr>
          <a:xfrm>
            <a:off x="813816" y="2775204"/>
            <a:ext cx="50292" cy="50292"/>
          </a:xfrm>
          <a:prstGeom prst="ellipse">
            <a:avLst/>
          </a:prstGeom>
          <a:solidFill>
            <a:srgbClr val="93A7AC"/>
          </a:solidFill>
          <a:ln w="12700">
            <a:solidFill>
              <a:srgbClr val="93A7AC"/>
            </a:solidFill>
            <a:prstDash val="solid"/>
          </a:ln>
        </p:spPr>
      </p:sp>
      <p:sp>
        <p:nvSpPr>
          <p:cNvPr id="25" name="circle_135"/>
          <p:cNvSpPr/>
          <p:nvPr/>
        </p:nvSpPr>
        <p:spPr>
          <a:xfrm>
            <a:off x="7223760" y="2775204"/>
            <a:ext cx="50292" cy="50292"/>
          </a:xfrm>
          <a:prstGeom prst="ellipse">
            <a:avLst/>
          </a:prstGeom>
          <a:solidFill>
            <a:srgbClr val="93A7AC"/>
          </a:solidFill>
          <a:ln w="12700">
            <a:solidFill>
              <a:srgbClr val="93A7AC"/>
            </a:solidFill>
            <a:prstDash val="solid"/>
          </a:ln>
        </p:spPr>
      </p:sp>
      <p:sp>
        <p:nvSpPr>
          <p:cNvPr id="26" name="circle_136"/>
          <p:cNvSpPr/>
          <p:nvPr/>
        </p:nvSpPr>
        <p:spPr>
          <a:xfrm>
            <a:off x="941832" y="2775204"/>
            <a:ext cx="50292" cy="50292"/>
          </a:xfrm>
          <a:prstGeom prst="ellipse">
            <a:avLst/>
          </a:prstGeom>
          <a:solidFill>
            <a:srgbClr val="93A7AC"/>
          </a:solidFill>
          <a:ln w="12700">
            <a:solidFill>
              <a:srgbClr val="93A7AC"/>
            </a:solidFill>
            <a:prstDash val="solid"/>
          </a:ln>
        </p:spPr>
      </p:sp>
      <p:sp>
        <p:nvSpPr>
          <p:cNvPr id="27" name="circle_137"/>
          <p:cNvSpPr/>
          <p:nvPr/>
        </p:nvSpPr>
        <p:spPr>
          <a:xfrm>
            <a:off x="7351776" y="2775204"/>
            <a:ext cx="50292" cy="50292"/>
          </a:xfrm>
          <a:prstGeom prst="ellipse">
            <a:avLst/>
          </a:prstGeom>
          <a:solidFill>
            <a:srgbClr val="93A7AC"/>
          </a:solidFill>
          <a:ln w="12700">
            <a:solidFill>
              <a:srgbClr val="93A7AC"/>
            </a:solidFill>
            <a:prstDash val="solid"/>
          </a:ln>
        </p:spPr>
      </p:sp>
      <p:sp>
        <p:nvSpPr>
          <p:cNvPr id="28" name="text_138"/>
          <p:cNvSpPr/>
          <p:nvPr/>
        </p:nvSpPr>
        <p:spPr>
          <a:xfrm>
            <a:off x="1234440" y="2738628"/>
            <a:ext cx="5330952" cy="173736"/>
          </a:xfrm>
          <a:prstGeom prst="rect">
            <a:avLst/>
          </a:prstGeom>
          <a:noFill/>
          <a:ln/>
        </p:spPr>
        <p:txBody>
          <a:bodyPr wrap="square" lIns="0" tIns="0" rIns="0" bIns="0" rtlCol="0" anchor="ctr">
            <a:normAutofit/>
          </a:bodyPr>
          <a:lstStyle/>
          <a:p>
            <a:pPr indent="0" marL="0">
              <a:buNone/>
            </a:pPr>
            <a:r>
              <a:rPr lang="ko-KR" altLang="en-US" sz="780" dirty="0">
                <a:solidFill>
                  <a:srgbClr val="607582"/>
                </a:solidFill>
                <a:latin typeface="Noto Sans CJK KR" pitchFamily="34" charset="0"/>
                <a:ea typeface="Noto Sans CJK KR" pitchFamily="34" charset="-122"/>
                <a:cs typeface="Noto Sans CJK KR" pitchFamily="34" charset="-120"/>
              </a:rPr>
              <a:t>예시 공고를 사용하는 시제품</a:t>
            </a:r>
            <a:endParaRPr lang="ko-KR" sz="780" dirty="0"/>
          </a:p>
        </p:txBody>
      </p:sp>
      <p:sp>
        <p:nvSpPr>
          <p:cNvPr id="29" name="text_139"/>
          <p:cNvSpPr/>
          <p:nvPr/>
        </p:nvSpPr>
        <p:spPr>
          <a:xfrm>
            <a:off x="7644384" y="2738628"/>
            <a:ext cx="3858768" cy="173736"/>
          </a:xfrm>
          <a:prstGeom prst="rect">
            <a:avLst/>
          </a:prstGeom>
          <a:noFill/>
          <a:ln/>
        </p:spPr>
        <p:txBody>
          <a:bodyPr wrap="square" lIns="0" tIns="0" rIns="0" bIns="0" rtlCol="0" anchor="ctr">
            <a:normAutofit/>
          </a:bodyPr>
          <a:lstStyle/>
          <a:p>
            <a:pPr indent="0" marL="0">
              <a:buNone/>
            </a:pPr>
            <a:r>
              <a:rPr lang="ko-KR" altLang="en-US" sz="780" dirty="0">
                <a:solidFill>
                  <a:srgbClr val="607582"/>
                </a:solidFill>
                <a:latin typeface="Noto Sans CJK KR" pitchFamily="34" charset="0"/>
                <a:ea typeface="Noto Sans CJK KR" pitchFamily="34" charset="-122"/>
                <a:cs typeface="Noto Sans CJK KR" pitchFamily="34" charset="-120"/>
              </a:rPr>
              <a:t>입력 화면 확대</a:t>
            </a:r>
            <a:endParaRPr lang="ko-KR" sz="780" dirty="0"/>
          </a:p>
        </p:txBody>
      </p:sp>
      <p:pic>
        <p:nvPicPr>
          <p:cNvPr id="30" name="Image 0" descr="원본의 실제 일반 화면: 내 정보 입력으로 개인 복지 안내 시작. 예시 공고 화면임을 표시.">    </p:cNvPr>
          <p:cNvPicPr>
            <a:picLocks noChangeAspect="1"/>
          </p:cNvPicPr>
          <p:nvPr/>
        </p:nvPicPr>
        <p:blipFill>
          <a:blip r:embed="rId1"/>
          <a:stretch>
            <a:fillRect/>
          </a:stretch>
        </p:blipFill>
        <p:spPr>
          <a:xfrm>
            <a:off x="617220" y="3008376"/>
            <a:ext cx="6016752" cy="3287815"/>
          </a:xfrm>
          <a:prstGeom prst="rect">
            <a:avLst/>
          </a:prstGeom>
        </p:spPr>
      </p:pic>
      <p:pic>
        <p:nvPicPr>
          <p:cNvPr id="31" name="Image 1" descr="원본의 실제 쉬운 화면 확대: 3단계 중 1단계에서 거주 지역과 연령대를 입력.">    </p:cNvPr>
          <p:cNvPicPr>
            <a:picLocks noChangeAspect="1"/>
          </p:cNvPicPr>
          <p:nvPr/>
        </p:nvPicPr>
        <p:blipFill>
          <a:blip r:embed="rId2"/>
          <a:stretch>
            <a:fillRect/>
          </a:stretch>
        </p:blipFill>
        <p:spPr>
          <a:xfrm>
            <a:off x="7050024" y="3008376"/>
            <a:ext cx="4498848" cy="31802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17354C"/>
        </a:solidFill>
      </p:bgPr>
    </p:bg>
    <p:spTree>
      <p:nvGrpSpPr>
        <p:cNvPr id="1" name=""/>
        <p:cNvGrpSpPr/>
        <p:nvPr/>
      </p:nvGrpSpPr>
      <p:grpSpPr>
        <a:xfrm>
          <a:off x="0" y="0"/>
          <a:ext cx="0" cy="0"/>
          <a:chOff x="0" y="0"/>
          <a:chExt cx="0" cy="0"/>
        </a:xfrm>
      </p:grpSpPr>
      <p:sp>
        <p:nvSpPr>
          <p:cNvPr id="2" name="TextBox 1"/>
          <p:cNvSpPr txBox="1"/>
          <p:nvPr/>
        </p:nvSpPr>
        <p:spPr>
          <a:xfrm>
            <a:off x="975360" y="822960"/>
            <a:ext cx="10241280" cy="1028700"/>
          </a:xfrm>
          <a:prstGeom prst="rect">
            <a:avLst/>
          </a:prstGeom>
          <a:noFill/>
        </p:spPr>
        <p:txBody>
          <a:bodyPr wrap="none">
            <a:spAutoFit/>
          </a:bodyPr>
          <a:lstStyle/>
          <a:p>
            <a:pPr algn="l"/>
            <a:r>
              <a:rPr sz="2000" b="1">
                <a:solidFill>
                  <a:srgbClr val="1F3954"/>
                </a:solidFill>
                <a:latin typeface="Noto Sans CJK KR"/>
              </a:rPr>
              <a:t>복지나침반  ·  질의응답</a:t>
            </a:r>
          </a:p>
        </p:txBody>
      </p:sp>
      <p:sp>
        <p:nvSpPr>
          <p:cNvPr id="3" name="TextBox 2"/>
          <p:cNvSpPr txBox="1"/>
          <p:nvPr/>
        </p:nvSpPr>
        <p:spPr>
          <a:xfrm>
            <a:off x="1463040" y="1920240"/>
            <a:ext cx="9265920" cy="1920240"/>
          </a:xfrm>
          <a:prstGeom prst="rect">
            <a:avLst/>
          </a:prstGeom>
          <a:noFill/>
        </p:spPr>
        <p:txBody>
          <a:bodyPr wrap="none" anchor="ctr">
            <a:spAutoFit/>
          </a:bodyPr>
          <a:lstStyle/>
          <a:p>
            <a:pPr algn="ctr"/>
            <a:r>
              <a:rPr sz="4000" b="1">
                <a:solidFill>
                  <a:srgbClr val="1F3954"/>
                </a:solidFill>
                <a:latin typeface="Noto Sans CJK KR"/>
              </a:rPr>
              <a:t>Q&amp;A</a:t>
            </a:r>
          </a:p>
        </p:txBody>
      </p:sp>
      <p:sp>
        <p:nvSpPr>
          <p:cNvPr id="4" name="TextBox 3"/>
          <p:cNvSpPr txBox="1"/>
          <p:nvPr/>
        </p:nvSpPr>
        <p:spPr>
          <a:xfrm>
            <a:off x="2194560" y="3840480"/>
            <a:ext cx="7802880" cy="685800"/>
          </a:xfrm>
          <a:prstGeom prst="rect">
            <a:avLst/>
          </a:prstGeom>
          <a:noFill/>
        </p:spPr>
        <p:txBody>
          <a:bodyPr wrap="none">
            <a:spAutoFit/>
          </a:bodyPr>
          <a:lstStyle/>
          <a:p>
            <a:pPr algn="ctr"/>
            <a:r>
              <a:rPr sz="1800">
                <a:solidFill>
                  <a:srgbClr val="5B6E82"/>
                </a:solidFill>
                <a:latin typeface="Noto Sans CJK KR"/>
              </a:rPr>
              <a:t>질문해 주시면 답변드리겠습니다</a:t>
            </a:r>
          </a:p>
        </p:txBody>
      </p:sp>
      <p:sp>
        <p:nvSpPr>
          <p:cNvPr id="5" name="TextBox 4"/>
          <p:cNvSpPr txBox="1"/>
          <p:nvPr/>
        </p:nvSpPr>
        <p:spPr>
          <a:xfrm>
            <a:off x="10241280" y="6172200"/>
            <a:ext cx="1219200" cy="342900"/>
          </a:xfrm>
          <a:prstGeom prst="rect">
            <a:avLst/>
          </a:prstGeom>
          <a:noFill/>
        </p:spPr>
        <p:txBody>
          <a:bodyPr wrap="none">
            <a:spAutoFit/>
          </a:bodyPr>
          <a:lstStyle/>
          <a:p>
            <a:pPr algn="r"/>
            <a:r>
              <a:rPr sz="1200">
                <a:solidFill>
                  <a:srgbClr val="5B6E82"/>
                </a:solidFill>
                <a:latin typeface="Noto Sans CJK KR"/>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show="0">
  <p:cSld>
    <p:bg>
      <p:bgPr>
        <a:solidFill>
          <a:srgbClr val="F5F8F8"/>
        </a:solidFill>
        <a:effectLst/>
      </p:bgPr>
    </p:bg>
    <p:spTree>
      <p:nvGrpSpPr>
        <p:cNvPr id="1" name=""/>
        <p:cNvGrpSpPr/>
        <p:nvPr/>
      </p:nvGrpSpPr>
      <p:grpSpPr/>
      <p:sp>
        <p:nvSpPr>
          <p:cNvPr id="2" name="Compass"/>
          <p:cNvSpPr/>
          <p:nvPr/>
        </p:nvSpPr>
        <p:spPr>
          <a:xfrm>
            <a:off x="502920" y="292608"/>
            <a:ext cx="292608" cy="292608"/>
          </a:xfrm>
          <a:prstGeom prst="ellipse">
            <a:avLst/>
          </a:prstGeom>
          <a:solidFill>
            <a:srgbClr val="FFFFFF">
              <a:alpha val="0"/>
            </a:srgbClr>
          </a:solidFill>
          <a:ln w="22860">
            <a:solidFill>
              <a:srgbClr val="DDE7E8"/>
            </a:solidFill>
            <a:prstDash val="solid"/>
          </a:ln>
        </p:spPr>
        <p:txBody>
          <a:bodyPr/>
          <a:p/>
        </p:txBody>
      </p:sp>
      <p:sp>
        <p:nvSpPr>
          <p:cNvPr id="3" name="Compass"/>
          <p:cNvSpPr/>
          <p:nvPr/>
        </p:nvSpPr>
        <p:spPr>
          <a:xfrm rot="1500000">
            <a:off x="612648" y="326258"/>
            <a:ext cx="73152" cy="124358"/>
          </a:xfrm>
          <a:prstGeom prst="triangle">
            <a:avLst/>
          </a:prstGeom>
          <a:solidFill>
            <a:srgbClr val="008979"/>
          </a:solidFill>
          <a:ln w="12700">
            <a:solidFill>
              <a:srgbClr val="008979"/>
            </a:solidFill>
            <a:prstDash val="solid"/>
          </a:ln>
        </p:spPr>
        <p:txBody>
          <a:bodyPr/>
          <a:p/>
        </p:txBody>
      </p:sp>
      <p:sp>
        <p:nvSpPr>
          <p:cNvPr id="4" name="Compass"/>
          <p:cNvSpPr/>
          <p:nvPr/>
        </p:nvSpPr>
        <p:spPr>
          <a:xfrm rot="12300000">
            <a:off x="612648" y="435986"/>
            <a:ext cx="73152" cy="124358"/>
          </a:xfrm>
          <a:prstGeom prst="triangle">
            <a:avLst/>
          </a:prstGeom>
          <a:solidFill>
            <a:srgbClr val="17354C"/>
          </a:solidFill>
          <a:ln w="12700">
            <a:solidFill>
              <a:srgbClr val="17354C"/>
            </a:solidFill>
            <a:prstDash val="solid"/>
          </a:ln>
        </p:spPr>
        <p:txBody>
          <a:bodyPr/>
          <a:p/>
        </p:txBody>
      </p:sp>
      <p:sp>
        <p:nvSpPr>
          <p:cNvPr id="5" name="Compass"/>
          <p:cNvSpPr/>
          <p:nvPr/>
        </p:nvSpPr>
        <p:spPr>
          <a:xfrm>
            <a:off x="636057" y="425745"/>
            <a:ext cx="26335" cy="26335"/>
          </a:xfrm>
          <a:prstGeom prst="ellipse">
            <a:avLst/>
          </a:prstGeom>
          <a:solidFill>
            <a:srgbClr val="FFFFFF"/>
          </a:solidFill>
          <a:ln w="12700">
            <a:solidFill>
              <a:srgbClr val="FFFFFF"/>
            </a:solidFill>
            <a:prstDash val="solid"/>
          </a:ln>
        </p:spPr>
        <p:txBody>
          <a:bodyPr/>
          <a:p/>
        </p:txBody>
      </p:sp>
      <p:sp>
        <p:nvSpPr>
          <p:cNvPr id="6" name="TextBox 5"/>
          <p:cNvSpPr txBox="1"/>
          <p:nvPr/>
        </p:nvSpPr>
        <p:spPr>
          <a:xfrm>
            <a:off x="914400" y="292608"/>
            <a:ext cx="9601200" cy="274320"/>
          </a:xfrm>
          <a:prstGeom prst="rect">
            <a:avLst/>
          </a:prstGeom>
          <a:noFill/>
        </p:spPr>
        <p:txBody>
          <a:bodyPr wrap="square" lIns="0" rIns="0" tIns="0" bIns="0" anchor="ctr">
            <a:noAutofit/>
          </a:bodyPr>
          <a:lstStyle/>
          <a:p>
            <a:pPr algn="l">
              <a:lnSpc>
                <a:spcPct val="112000"/>
              </a:lnSpc>
              <a:spcBef>
                <a:spcPts val="0"/>
              </a:spcBef>
              <a:spcAft>
                <a:spcPts val="0"/>
              </a:spcAft>
            </a:pPr>
            <a:r>
              <a:rPr sz="1050" b="1" lang="ko-KR" dirty="0">
                <a:solidFill>
                  <a:srgbClr val="008979"/>
                </a:solidFill>
                <a:latin typeface="Noto Sans CJK KR"/>
                <a:ea typeface="Noto Sans CJK KR"/>
                <a:cs typeface="Noto Sans CJK KR"/>
              </a:rPr>
              <a:t>질의응답 01  ·  기존 서비스와의 관계</a:t>
            </a:r>
          </a:p>
        </p:txBody>
      </p:sp>
      <p:sp>
        <p:nvSpPr>
          <p:cNvPr id="7" name="TextBox 6"/>
          <p:cNvSpPr txBox="1"/>
          <p:nvPr/>
        </p:nvSpPr>
        <p:spPr>
          <a:xfrm>
            <a:off x="548640" y="896112"/>
            <a:ext cx="11045952" cy="640080"/>
          </a:xfrm>
          <a:prstGeom prst="rect">
            <a:avLst/>
          </a:prstGeom>
          <a:noFill/>
        </p:spPr>
        <p:txBody>
          <a:bodyPr wrap="square" lIns="0" rIns="0" tIns="0" bIns="0" anchor="ctr">
            <a:noAutofit/>
          </a:bodyPr>
          <a:lstStyle/>
          <a:p>
            <a:pPr algn="l">
              <a:lnSpc>
                <a:spcPct val="112000"/>
              </a:lnSpc>
              <a:spcBef>
                <a:spcPts val="0"/>
              </a:spcBef>
              <a:spcAft>
                <a:spcPts val="0"/>
              </a:spcAft>
            </a:pPr>
            <a:r>
              <a:rPr sz="3000" b="1" lang="ko-KR" dirty="0">
                <a:solidFill>
                  <a:srgbClr val="17354C"/>
                </a:solidFill>
                <a:latin typeface="Noto Sans CJK KR"/>
                <a:ea typeface="Noto Sans CJK KR"/>
                <a:cs typeface="Noto Sans CJK KR"/>
              </a:rPr>
              <a:t>복지로가 있는데, 왜 복지나침반인가요?</a:t>
            </a:r>
          </a:p>
        </p:txBody>
      </p:sp>
      <p:sp>
        <p:nvSpPr>
          <p:cNvPr id="8" name="TextBox 7"/>
          <p:cNvSpPr txBox="1"/>
          <p:nvPr/>
        </p:nvSpPr>
        <p:spPr>
          <a:xfrm>
            <a:off x="576072" y="1627632"/>
            <a:ext cx="10972800" cy="347472"/>
          </a:xfrm>
          <a:prstGeom prst="rect">
            <a:avLst/>
          </a:prstGeom>
          <a:noFill/>
        </p:spPr>
        <p:txBody>
          <a:bodyPr wrap="square" lIns="0" rIns="0" tIns="0" bIns="0" anchor="ctr">
            <a:noAutofit/>
          </a:bodyPr>
          <a:lstStyle/>
          <a:p>
            <a:pPr algn="l">
              <a:lnSpc>
                <a:spcPct val="112000"/>
              </a:lnSpc>
              <a:spcBef>
                <a:spcPts val="0"/>
              </a:spcBef>
              <a:spcAft>
                <a:spcPts val="0"/>
              </a:spcAft>
            </a:pPr>
            <a:r>
              <a:rPr sz="1400" b="0" lang="ko-KR" dirty="0">
                <a:solidFill>
                  <a:srgbClr val="607582"/>
                </a:solidFill>
                <a:latin typeface="Noto Sans CJK KR"/>
                <a:ea typeface="Noto Sans CJK KR"/>
                <a:cs typeface="Noto Sans CJK KR"/>
              </a:rPr>
              <a:t>이미 있는 맞춤 안내를 전제로, 월계1동 이용자의 공고 탐색·조건 이해에 초점</a:t>
            </a:r>
          </a:p>
        </p:txBody>
      </p:sp>
      <p:cxnSp>
        <p:nvCxnSpPr>
          <p:cNvPr id="9" name="Connector 8"/>
          <p:cNvCxnSpPr/>
          <p:nvPr/>
        </p:nvCxnSpPr>
        <p:spPr>
          <a:xfrm>
            <a:off x="502920" y="6391656"/>
            <a:ext cx="11183112" cy="0"/>
          </a:xfrm>
          <a:prstGeom prst="line">
            <a:avLst/>
          </a:prstGeom>
          <a:ln w="8890">
            <a:solidFill>
              <a:srgbClr val="D9E4E5"/>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21207" y="6483096"/>
            <a:ext cx="6400800" cy="182880"/>
          </a:xfrm>
          <a:prstGeom prst="rect">
            <a:avLst/>
          </a:prstGeom>
          <a:noFill/>
        </p:spPr>
        <p:txBody>
          <a:bodyPr wrap="square" lIns="0" rIns="0" tIns="0" bIns="0" anchor="ctr">
            <a:noAutofit/>
          </a:bodyPr>
          <a:lstStyle/>
          <a:p>
            <a:pPr algn="l">
              <a:lnSpc>
                <a:spcPct val="112000"/>
              </a:lnSpc>
              <a:spcBef>
                <a:spcPts val="0"/>
              </a:spcBef>
              <a:spcAft>
                <a:spcPts val="0"/>
              </a:spcAft>
            </a:pPr>
            <a:r>
              <a:rPr sz="880" b="0" lang="ko-KR" dirty="0">
                <a:solidFill>
                  <a:srgbClr val="607582"/>
                </a:solidFill>
                <a:latin typeface="Noto Sans CJK KR"/>
                <a:ea typeface="Noto Sans CJK KR"/>
                <a:cs typeface="Noto Sans CJK KR"/>
              </a:rPr>
              <a:t>복지나침반  ·  질의응답 참고</a:t>
            </a:r>
          </a:p>
        </p:txBody>
      </p:sp>
      <p:sp>
        <p:nvSpPr>
          <p:cNvPr id="11" name="TextBox 10"/>
          <p:cNvSpPr txBox="1"/>
          <p:nvPr/>
        </p:nvSpPr>
        <p:spPr>
          <a:xfrm>
            <a:off x="10625328" y="6464808"/>
            <a:ext cx="1033271" cy="228600"/>
          </a:xfrm>
          <a:prstGeom prst="rect">
            <a:avLst/>
          </a:prstGeom>
          <a:noFill/>
        </p:spPr>
        <p:txBody>
          <a:bodyPr wrap="square" lIns="0" rIns="0" tIns="0" bIns="0" anchor="ctr">
            <a:noAutofit/>
          </a:bodyPr>
          <a:lstStyle/>
          <a:p>
            <a:pPr algn="r">
              <a:lnSpc>
                <a:spcPct val="112000"/>
              </a:lnSpc>
              <a:spcBef>
                <a:spcPts val="0"/>
              </a:spcBef>
              <a:spcAft>
                <a:spcPts val="0"/>
              </a:spcAft>
            </a:pPr>
            <a:r>
              <a:rPr sz="919" b="0" lang="ko-KR" dirty="0">
                <a:solidFill>
                  <a:srgbClr val="607582"/>
                </a:solidFill>
                <a:latin typeface="Noto Sans CJK KR"/>
                <a:ea typeface="Noto Sans CJK KR"/>
                <a:cs typeface="Noto Sans CJK KR"/>
              </a:rPr>
              <a:t>Q1 / 04</a:t>
            </a:r>
          </a:p>
        </p:txBody>
      </p:sp>
      <p:graphicFrame>
        <p:nvGraphicFramePr>
          <p:cNvPr id="12" name="Table 11"/>
          <p:cNvGraphicFramePr>
            <a:graphicFrameLocks noGrp="1"/>
          </p:cNvGraphicFramePr>
          <p:nvPr/>
        </p:nvGraphicFramePr>
        <p:xfrm>
          <a:off x="548640" y="2194560"/>
          <a:ext cx="11091672" cy="3401566"/>
        </p:xfrm>
        <a:graphic>
          <a:graphicData uri="http://schemas.openxmlformats.org/drawingml/2006/table">
            <a:tbl>
              <a:tblPr firstRow="1" bandRow="1">
                <a:tableStyleId>{5C22544A-7EE6-4342-B048-85BDC9FD1C3A}</a:tableStyleId>
              </a:tblPr>
              <a:tblGrid>
                <a:gridCol w="1399032"/>
                <a:gridCol w="4718304"/>
                <a:gridCol w="4974336"/>
              </a:tblGrid>
              <a:tr h="493776">
                <a:tc>
                  <a:txBody>
                    <a:bodyPr/>
                    <a:lstStyle/>
                    <a:p>
                      <a:pPr>
                        <a:lnSpc>
                          <a:spcPts val="1860"/>
                        </a:lnSpc>
                        <a:spcBef>
                          <a:spcPts val="0"/>
                        </a:spcBef>
                        <a:spcAft>
                          <a:spcPts val="0"/>
                        </a:spcAft>
                        <a:defRPr sz="1450">
                          <a:latin typeface="Noto Sans CJK KR"/>
                        </a:defRPr>
                      </a:pPr>
                      <a:r>
                        <a:rPr sz="1340" b="1" lang="ko-KR" dirty="0">
                          <a:solidFill>
                            <a:srgbClr val="FFFFFF"/>
                          </a:solidFill>
                          <a:latin typeface="Noto Sans CJK KR"/>
                          <a:ea typeface="Noto Sans CJK KR"/>
                          <a:cs typeface="Noto Sans CJK KR"/>
                        </a:rPr>
                        <a:t>비교 항목</a:t>
                      </a:r>
                    </a:p>
                  </a:txBody>
                  <a:tcPr marL="100584" marR="73152" marT="54864" marB="36576" anchor="ctr">
                    <a:solidFill>
                      <a:srgbClr val="17354C"/>
                    </a:solidFill>
                    <a:lnL w="6350">
                      <a:solidFill>
                        <a:srgbClr val="D9E4E5"/>
                      </a:solidFill>
                    </a:lnL>
                    <a:lnR w="6350">
                      <a:solidFill>
                        <a:srgbClr val="D9E4E5"/>
                      </a:solidFill>
                    </a:lnR>
                    <a:lnT w="6350">
                      <a:solidFill>
                        <a:srgbClr val="D9E4E5"/>
                      </a:solidFill>
                    </a:lnT>
                    <a:lnB w="6350">
                      <a:solidFill>
                        <a:srgbClr val="D9E4E5"/>
                      </a:solidFill>
                    </a:lnB>
                  </a:tcPr>
                </a:tc>
                <a:tc>
                  <a:txBody>
                    <a:bodyPr/>
                    <a:lstStyle/>
                    <a:p>
                      <a:pPr>
                        <a:lnSpc>
                          <a:spcPts val="1860"/>
                        </a:lnSpc>
                        <a:spcBef>
                          <a:spcPts val="0"/>
                        </a:spcBef>
                        <a:spcAft>
                          <a:spcPts val="0"/>
                        </a:spcAft>
                        <a:defRPr sz="1450">
                          <a:latin typeface="Noto Sans CJK KR"/>
                        </a:defRPr>
                      </a:pPr>
                      <a:r>
                        <a:rPr sz="1340" b="1" lang="ko-KR" dirty="0">
                          <a:solidFill>
                            <a:srgbClr val="FFFFFF"/>
                          </a:solidFill>
                          <a:latin typeface="Noto Sans CJK KR"/>
                          <a:ea typeface="Noto Sans CJK KR"/>
                          <a:cs typeface="Noto Sans CJK KR"/>
                        </a:rPr>
                        <a:t>복지로·복지멤버십  |  운영 서비스</a:t>
                      </a:r>
                    </a:p>
                  </a:txBody>
                  <a:tcPr marL="100584" marR="73152" marT="54864" marB="36576" anchor="ctr">
                    <a:solidFill>
                      <a:srgbClr val="17354C"/>
                    </a:solidFill>
                    <a:lnL w="6350">
                      <a:solidFill>
                        <a:srgbClr val="D9E4E5"/>
                      </a:solidFill>
                    </a:lnL>
                    <a:lnR w="6350">
                      <a:solidFill>
                        <a:srgbClr val="D9E4E5"/>
                      </a:solidFill>
                    </a:lnR>
                    <a:lnT w="6350">
                      <a:solidFill>
                        <a:srgbClr val="D9E4E5"/>
                      </a:solidFill>
                    </a:lnT>
                    <a:lnB w="6350">
                      <a:solidFill>
                        <a:srgbClr val="D9E4E5"/>
                      </a:solidFill>
                    </a:lnB>
                  </a:tcPr>
                </a:tc>
                <a:tc>
                  <a:txBody>
                    <a:bodyPr/>
                    <a:lstStyle/>
                    <a:p>
                      <a:pPr>
                        <a:lnSpc>
                          <a:spcPts val="1860"/>
                        </a:lnSpc>
                        <a:spcBef>
                          <a:spcPts val="0"/>
                        </a:spcBef>
                        <a:spcAft>
                          <a:spcPts val="0"/>
                        </a:spcAft>
                        <a:defRPr sz="1450">
                          <a:latin typeface="Noto Sans CJK KR"/>
                        </a:defRPr>
                      </a:pPr>
                      <a:r>
                        <a:rPr sz="1340" b="1" lang="ko-KR" dirty="0">
                          <a:solidFill>
                            <a:srgbClr val="FFFFFF"/>
                          </a:solidFill>
                          <a:latin typeface="Noto Sans CJK KR"/>
                          <a:ea typeface="Noto Sans CJK KR"/>
                          <a:cs typeface="Noto Sans CJK KR"/>
                        </a:rPr>
                        <a:t>복지나침반  |  현재·목표</a:t>
                      </a:r>
                    </a:p>
                  </a:txBody>
                  <a:tcPr marL="100584" marR="73152" marT="54864" marB="36576" anchor="ctr">
                    <a:solidFill>
                      <a:srgbClr val="17354C"/>
                    </a:solidFill>
                    <a:lnL w="6350">
                      <a:solidFill>
                        <a:srgbClr val="D9E4E5"/>
                      </a:solidFill>
                    </a:lnL>
                    <a:lnR w="6350">
                      <a:solidFill>
                        <a:srgbClr val="D9E4E5"/>
                      </a:solidFill>
                    </a:lnR>
                    <a:lnT w="6350">
                      <a:solidFill>
                        <a:srgbClr val="D9E4E5"/>
                      </a:solidFill>
                    </a:lnT>
                    <a:lnB w="6350">
                      <a:solidFill>
                        <a:srgbClr val="D9E4E5"/>
                      </a:solidFill>
                    </a:lnB>
                  </a:tcPr>
                </a:tc>
              </a:tr>
              <a:tr h="581558">
                <a:tc>
                  <a:txBody>
                    <a:bodyPr/>
                    <a:lstStyle/>
                    <a:p>
                      <a:pPr>
                        <a:lnSpc>
                          <a:spcPts val="1860"/>
                        </a:lnSpc>
                        <a:spcBef>
                          <a:spcPts val="0"/>
                        </a:spcBef>
                        <a:spcAft>
                          <a:spcPts val="0"/>
                        </a:spcAft>
                        <a:defRPr sz="1450">
                          <a:latin typeface="Noto Sans CJK KR"/>
                        </a:defRPr>
                      </a:pPr>
                      <a:r>
                        <a:rPr sz="1380" b="1" lang="ko-KR" dirty="0">
                          <a:solidFill>
                            <a:srgbClr val="17354C"/>
                          </a:solidFill>
                          <a:latin typeface="Noto Sans CJK KR"/>
                          <a:ea typeface="Noto Sans CJK KR"/>
                          <a:cs typeface="Noto Sans CJK KR"/>
                        </a:rPr>
                        <a:t>맞춤 안내</a:t>
                      </a:r>
                    </a:p>
                  </a:txBody>
                  <a:tcPr marL="100584" marR="73152" marT="54864" marB="36576" anchor="ctr">
                    <a:solidFill>
                      <a:srgbClr val="E5F2EF"/>
                    </a:solidFill>
                    <a:lnL w="6350">
                      <a:solidFill>
                        <a:srgbClr val="D9E4E5"/>
                      </a:solidFill>
                    </a:lnL>
                    <a:lnR w="6350">
                      <a:solidFill>
                        <a:srgbClr val="D9E4E5"/>
                      </a:solidFill>
                    </a:lnR>
                    <a:lnT w="6350">
                      <a:solidFill>
                        <a:srgbClr val="D9E4E5"/>
                      </a:solidFill>
                    </a:lnT>
                    <a:lnB w="6350">
                      <a:solidFill>
                        <a:srgbClr val="D9E4E5"/>
                      </a:solidFill>
                    </a:lnB>
                  </a:tcPr>
                </a:tc>
                <a:tc>
                  <a:txBody>
                    <a:bodyPr/>
                    <a:lstStyle/>
                    <a:p>
                      <a:pPr>
                        <a:lnSpc>
                          <a:spcPts val="1860"/>
                        </a:lnSpc>
                        <a:spcBef>
                          <a:spcPts val="0"/>
                        </a:spcBef>
                        <a:spcAft>
                          <a:spcPts val="0"/>
                        </a:spcAft>
                        <a:defRPr sz="1450">
                          <a:latin typeface="Noto Sans CJK KR"/>
                        </a:defRPr>
                      </a:pPr>
                      <a:r>
                        <a:rPr sz="1380" b="0" lang="ko-KR" dirty="0">
                          <a:solidFill>
                            <a:srgbClr val="17354C"/>
                          </a:solidFill>
                          <a:latin typeface="Noto Sans CJK KR"/>
                          <a:ea typeface="Noto Sans CJK KR"/>
                          <a:cs typeface="Noto Sans CJK KR"/>
                        </a:rPr>
                        <a:t>공적자료를 바탕으로</a:t>
                      </a:r>
                    </a:p>
                    <a:p>
                      <a:pPr>
                        <a:lnSpc>
                          <a:spcPts val="1860"/>
                        </a:lnSpc>
                        <a:spcBef>
                          <a:spcPts val="0"/>
                        </a:spcBef>
                        <a:spcAft>
                          <a:spcPts val="0"/>
                        </a:spcAft>
                        <a:defRPr sz="1450">
                          <a:latin typeface="Noto Sans CJK KR"/>
                        </a:defRPr>
                      </a:pPr>
                      <a:r>
                        <a:rPr sz="1380" b="0" lang="ko-KR" dirty="0">
                          <a:solidFill>
                            <a:srgbClr val="17354C"/>
                          </a:solidFill>
                          <a:latin typeface="Noto Sans CJK KR"/>
                          <a:ea typeface="Noto Sans CJK KR"/>
                          <a:cs typeface="Noto Sans CJK KR"/>
                        </a:rPr>
                        <a:t>개인·가구별 지원 가능 서비스 안내 [1]</a:t>
                      </a:r>
                    </a:p>
                  </a:txBody>
                  <a:tcPr marL="100584" marR="73152" marT="54864" marB="36576" anchor="ctr">
                    <a:solidFill>
                      <a:srgbClr val="FFFFFF"/>
                    </a:solidFill>
                    <a:lnL w="6350">
                      <a:solidFill>
                        <a:srgbClr val="D9E4E5"/>
                      </a:solidFill>
                    </a:lnL>
                    <a:lnR w="6350">
                      <a:solidFill>
                        <a:srgbClr val="D9E4E5"/>
                      </a:solidFill>
                    </a:lnR>
                    <a:lnT w="6350">
                      <a:solidFill>
                        <a:srgbClr val="D9E4E5"/>
                      </a:solidFill>
                    </a:lnT>
                    <a:lnB w="6350">
                      <a:solidFill>
                        <a:srgbClr val="D9E4E5"/>
                      </a:solidFill>
                    </a:lnB>
                  </a:tcPr>
                </a:tc>
                <a:tc>
                  <a:txBody>
                    <a:bodyPr/>
                    <a:lstStyle/>
                    <a:p>
                      <a:pPr>
                        <a:lnSpc>
                          <a:spcPts val="1860"/>
                        </a:lnSpc>
                        <a:spcBef>
                          <a:spcPts val="0"/>
                        </a:spcBef>
                        <a:spcAft>
                          <a:spcPts val="0"/>
                        </a:spcAft>
                        <a:defRPr sz="1450">
                          <a:latin typeface="Noto Sans CJK KR"/>
                        </a:defRPr>
                      </a:pPr>
                      <a:r>
                        <a:rPr sz="1380" b="0" lang="ko-KR" dirty="0">
                          <a:solidFill>
                            <a:srgbClr val="176A61"/>
                          </a:solidFill>
                          <a:latin typeface="Noto Sans CJK KR"/>
                          <a:ea typeface="Noto Sans CJK KR"/>
                          <a:cs typeface="Noto Sans CJK KR"/>
                        </a:rPr>
                        <a:t>목표  입력한 상황에 맞는</a:t>
                      </a:r>
                    </a:p>
                    <a:p>
                      <a:pPr>
                        <a:lnSpc>
                          <a:spcPts val="1860"/>
                        </a:lnSpc>
                        <a:spcBef>
                          <a:spcPts val="0"/>
                        </a:spcBef>
                        <a:spcAft>
                          <a:spcPts val="0"/>
                        </a:spcAft>
                        <a:defRPr sz="1450">
                          <a:latin typeface="Noto Sans CJK KR"/>
                        </a:defRPr>
                      </a:pPr>
                      <a:r>
                        <a:rPr sz="1380" b="0" lang="ko-KR" dirty="0">
                          <a:solidFill>
                            <a:srgbClr val="176A61"/>
                          </a:solidFill>
                          <a:latin typeface="Noto Sans CJK KR"/>
                          <a:ea typeface="Noto Sans CJK KR"/>
                          <a:cs typeface="Noto Sans CJK KR"/>
                        </a:rPr>
                        <a:t>공고와 관련 이유 안내</a:t>
                      </a:r>
                    </a:p>
                  </a:txBody>
                  <a:tcPr marL="100584" marR="73152" marT="54864" marB="36576" anchor="ctr">
                    <a:solidFill>
                      <a:srgbClr val="FFFFFF"/>
                    </a:solidFill>
                    <a:lnL w="6350">
                      <a:solidFill>
                        <a:srgbClr val="D9E4E5"/>
                      </a:solidFill>
                    </a:lnL>
                    <a:lnR w="6350">
                      <a:solidFill>
                        <a:srgbClr val="D9E4E5"/>
                      </a:solidFill>
                    </a:lnR>
                    <a:lnT w="6350">
                      <a:solidFill>
                        <a:srgbClr val="D9E4E5"/>
                      </a:solidFill>
                    </a:lnT>
                    <a:lnB w="6350">
                      <a:solidFill>
                        <a:srgbClr val="D9E4E5"/>
                      </a:solidFill>
                    </a:lnB>
                  </a:tcPr>
                </a:tc>
              </a:tr>
              <a:tr h="581558">
                <a:tc>
                  <a:txBody>
                    <a:bodyPr/>
                    <a:lstStyle/>
                    <a:p>
                      <a:pPr>
                        <a:lnSpc>
                          <a:spcPts val="1860"/>
                        </a:lnSpc>
                        <a:spcBef>
                          <a:spcPts val="0"/>
                        </a:spcBef>
                        <a:spcAft>
                          <a:spcPts val="0"/>
                        </a:spcAft>
                        <a:defRPr sz="1450">
                          <a:latin typeface="Noto Sans CJK KR"/>
                        </a:defRPr>
                      </a:pPr>
                      <a:r>
                        <a:rPr sz="1380" b="1" lang="ko-KR" dirty="0">
                          <a:solidFill>
                            <a:srgbClr val="17354C"/>
                          </a:solidFill>
                          <a:latin typeface="Noto Sans CJK KR"/>
                          <a:ea typeface="Noto Sans CJK KR"/>
                          <a:cs typeface="Noto Sans CJK KR"/>
                        </a:rPr>
                        <a:t>정보 범위</a:t>
                      </a:r>
                    </a:p>
                  </a:txBody>
                  <a:tcPr marL="100584" marR="73152" marT="54864" marB="36576" anchor="ctr">
                    <a:solidFill>
                      <a:srgbClr val="E5F2EF"/>
                    </a:solidFill>
                    <a:lnL w="6350">
                      <a:solidFill>
                        <a:srgbClr val="D9E4E5"/>
                      </a:solidFill>
                    </a:lnL>
                    <a:lnR w="6350">
                      <a:solidFill>
                        <a:srgbClr val="D9E4E5"/>
                      </a:solidFill>
                    </a:lnR>
                    <a:lnT w="6350">
                      <a:solidFill>
                        <a:srgbClr val="D9E4E5"/>
                      </a:solidFill>
                    </a:lnT>
                    <a:lnB w="6350">
                      <a:solidFill>
                        <a:srgbClr val="D9E4E5"/>
                      </a:solidFill>
                    </a:lnB>
                  </a:tcPr>
                </a:tc>
                <a:tc>
                  <a:txBody>
                    <a:bodyPr/>
                    <a:lstStyle/>
                    <a:p>
                      <a:pPr>
                        <a:lnSpc>
                          <a:spcPts val="1860"/>
                        </a:lnSpc>
                        <a:spcBef>
                          <a:spcPts val="0"/>
                        </a:spcBef>
                        <a:spcAft>
                          <a:spcPts val="0"/>
                        </a:spcAft>
                        <a:defRPr sz="1450">
                          <a:latin typeface="Noto Sans CJK KR"/>
                        </a:defRPr>
                      </a:pPr>
                      <a:r>
                        <a:rPr sz="1380" b="0" lang="ko-KR" dirty="0">
                          <a:solidFill>
                            <a:srgbClr val="17354C"/>
                          </a:solidFill>
                          <a:latin typeface="Noto Sans CJK KR"/>
                          <a:ea typeface="Noto Sans CJK KR"/>
                          <a:cs typeface="Noto Sans CJK KR"/>
                        </a:rPr>
                        <a:t>중앙·지자체·민간 복지정보 검색 [2]</a:t>
                      </a:r>
                    </a:p>
                  </a:txBody>
                  <a:tcPr marL="100584" marR="73152" marT="54864" marB="36576" anchor="ctr">
                    <a:solidFill>
                      <a:srgbClr val="EDF4F3"/>
                    </a:solidFill>
                    <a:lnL w="6350">
                      <a:solidFill>
                        <a:srgbClr val="D9E4E5"/>
                      </a:solidFill>
                    </a:lnL>
                    <a:lnR w="6350">
                      <a:solidFill>
                        <a:srgbClr val="D9E4E5"/>
                      </a:solidFill>
                    </a:lnR>
                    <a:lnT w="6350">
                      <a:solidFill>
                        <a:srgbClr val="D9E4E5"/>
                      </a:solidFill>
                    </a:lnT>
                    <a:lnB w="6350">
                      <a:solidFill>
                        <a:srgbClr val="D9E4E5"/>
                      </a:solidFill>
                    </a:lnB>
                  </a:tcPr>
                </a:tc>
                <a:tc>
                  <a:txBody>
                    <a:bodyPr/>
                    <a:lstStyle/>
                    <a:p>
                      <a:pPr>
                        <a:lnSpc>
                          <a:spcPts val="1860"/>
                        </a:lnSpc>
                        <a:spcBef>
                          <a:spcPts val="0"/>
                        </a:spcBef>
                        <a:spcAft>
                          <a:spcPts val="0"/>
                        </a:spcAft>
                        <a:defRPr sz="1450">
                          <a:latin typeface="Noto Sans CJK KR"/>
                        </a:defRPr>
                      </a:pPr>
                      <a:r>
                        <a:rPr sz="1380" b="0" lang="ko-KR" dirty="0">
                          <a:solidFill>
                            <a:srgbClr val="176A61"/>
                          </a:solidFill>
                          <a:latin typeface="Noto Sans CJK KR"/>
                          <a:ea typeface="Noto Sans CJK KR"/>
                          <a:cs typeface="Noto Sans CJK KR"/>
                        </a:rPr>
                        <a:t>목표  월계1동 생활에 필요한</a:t>
                      </a:r>
                    </a:p>
                    <a:p>
                      <a:pPr>
                        <a:lnSpc>
                          <a:spcPts val="1860"/>
                        </a:lnSpc>
                        <a:spcBef>
                          <a:spcPts val="0"/>
                        </a:spcBef>
                        <a:spcAft>
                          <a:spcPts val="0"/>
                        </a:spcAft>
                        <a:defRPr sz="1450">
                          <a:latin typeface="Noto Sans CJK KR"/>
                        </a:defRPr>
                      </a:pPr>
                      <a:r>
                        <a:rPr sz="1380" b="0" lang="ko-KR" dirty="0">
                          <a:solidFill>
                            <a:srgbClr val="176A61"/>
                          </a:solidFill>
                          <a:latin typeface="Noto Sans CJK KR"/>
                          <a:ea typeface="Noto Sans CJK KR"/>
                          <a:cs typeface="Noto Sans CJK KR"/>
                        </a:rPr>
                        <a:t>지역 공고와 조건 연결</a:t>
                      </a:r>
                    </a:p>
                  </a:txBody>
                  <a:tcPr marL="100584" marR="73152" marT="54864" marB="36576" anchor="ctr">
                    <a:solidFill>
                      <a:srgbClr val="EDF4F3"/>
                    </a:solidFill>
                    <a:lnL w="6350">
                      <a:solidFill>
                        <a:srgbClr val="D9E4E5"/>
                      </a:solidFill>
                    </a:lnL>
                    <a:lnR w="6350">
                      <a:solidFill>
                        <a:srgbClr val="D9E4E5"/>
                      </a:solidFill>
                    </a:lnR>
                    <a:lnT w="6350">
                      <a:solidFill>
                        <a:srgbClr val="D9E4E5"/>
                      </a:solidFill>
                    </a:lnT>
                    <a:lnB w="6350">
                      <a:solidFill>
                        <a:srgbClr val="D9E4E5"/>
                      </a:solidFill>
                    </a:lnB>
                  </a:tcPr>
                </a:tc>
              </a:tr>
              <a:tr h="581558">
                <a:tc>
                  <a:txBody>
                    <a:bodyPr/>
                    <a:lstStyle/>
                    <a:p>
                      <a:pPr>
                        <a:lnSpc>
                          <a:spcPts val="1860"/>
                        </a:lnSpc>
                        <a:spcBef>
                          <a:spcPts val="0"/>
                        </a:spcBef>
                        <a:spcAft>
                          <a:spcPts val="0"/>
                        </a:spcAft>
                        <a:defRPr sz="1450">
                          <a:latin typeface="Noto Sans CJK KR"/>
                        </a:defRPr>
                      </a:pPr>
                      <a:r>
                        <a:rPr sz="1380" b="1" lang="ko-KR" dirty="0">
                          <a:solidFill>
                            <a:srgbClr val="17354C"/>
                          </a:solidFill>
                          <a:latin typeface="Noto Sans CJK KR"/>
                          <a:ea typeface="Noto Sans CJK KR"/>
                          <a:cs typeface="Noto Sans CJK KR"/>
                        </a:rPr>
                        <a:t>조건 확인</a:t>
                      </a:r>
                    </a:p>
                  </a:txBody>
                  <a:tcPr marL="100584" marR="73152" marT="54864" marB="36576" anchor="ctr">
                    <a:solidFill>
                      <a:srgbClr val="E5F2EF"/>
                    </a:solidFill>
                    <a:lnL w="6350">
                      <a:solidFill>
                        <a:srgbClr val="D9E4E5"/>
                      </a:solidFill>
                    </a:lnL>
                    <a:lnR w="6350">
                      <a:solidFill>
                        <a:srgbClr val="D9E4E5"/>
                      </a:solidFill>
                    </a:lnR>
                    <a:lnT w="6350">
                      <a:solidFill>
                        <a:srgbClr val="D9E4E5"/>
                      </a:solidFill>
                    </a:lnT>
                    <a:lnB w="6350">
                      <a:solidFill>
                        <a:srgbClr val="D9E4E5"/>
                      </a:solidFill>
                    </a:lnB>
                  </a:tcPr>
                </a:tc>
                <a:tc>
                  <a:txBody>
                    <a:bodyPr/>
                    <a:lstStyle/>
                    <a:p>
                      <a:pPr>
                        <a:lnSpc>
                          <a:spcPts val="1860"/>
                        </a:lnSpc>
                        <a:spcBef>
                          <a:spcPts val="0"/>
                        </a:spcBef>
                        <a:spcAft>
                          <a:spcPts val="0"/>
                        </a:spcAft>
                        <a:defRPr sz="1450">
                          <a:latin typeface="Noto Sans CJK KR"/>
                        </a:defRPr>
                      </a:pPr>
                      <a:r>
                        <a:rPr sz="1380" b="0" lang="ko-KR" dirty="0">
                          <a:solidFill>
                            <a:srgbClr val="17354C"/>
                          </a:solidFill>
                          <a:latin typeface="Noto Sans CJK KR"/>
                          <a:ea typeface="Noto Sans CJK KR"/>
                          <a:cs typeface="Noto Sans CJK KR"/>
                        </a:rPr>
                        <a:t>사업별 상세 안내·모의계산 [2]</a:t>
                      </a:r>
                    </a:p>
                  </a:txBody>
                  <a:tcPr marL="100584" marR="73152" marT="54864" marB="36576" anchor="ctr">
                    <a:solidFill>
                      <a:srgbClr val="FFFFFF"/>
                    </a:solidFill>
                    <a:lnL w="6350">
                      <a:solidFill>
                        <a:srgbClr val="D9E4E5"/>
                      </a:solidFill>
                    </a:lnL>
                    <a:lnR w="6350">
                      <a:solidFill>
                        <a:srgbClr val="D9E4E5"/>
                      </a:solidFill>
                    </a:lnR>
                    <a:lnT w="6350">
                      <a:solidFill>
                        <a:srgbClr val="D9E4E5"/>
                      </a:solidFill>
                    </a:lnT>
                    <a:lnB w="6350">
                      <a:solidFill>
                        <a:srgbClr val="D9E4E5"/>
                      </a:solidFill>
                    </a:lnB>
                  </a:tcPr>
                </a:tc>
                <a:tc>
                  <a:txBody>
                    <a:bodyPr/>
                    <a:lstStyle/>
                    <a:p>
                      <a:pPr>
                        <a:lnSpc>
                          <a:spcPts val="1860"/>
                        </a:lnSpc>
                        <a:spcBef>
                          <a:spcPts val="0"/>
                        </a:spcBef>
                        <a:spcAft>
                          <a:spcPts val="0"/>
                        </a:spcAft>
                        <a:defRPr sz="1450">
                          <a:latin typeface="Noto Sans CJK KR"/>
                        </a:defRPr>
                      </a:pPr>
                      <a:r>
                        <a:rPr sz="1380" b="0" lang="ko-KR" dirty="0">
                          <a:solidFill>
                            <a:srgbClr val="176A61"/>
                          </a:solidFill>
                          <a:latin typeface="Noto Sans CJK KR"/>
                          <a:ea typeface="Noto Sans CJK KR"/>
                          <a:cs typeface="Noto Sans CJK KR"/>
                        </a:rPr>
                        <a:t>목표  주소지·생활 상황에 따라</a:t>
                      </a:r>
                    </a:p>
                    <a:p>
                      <a:pPr>
                        <a:lnSpc>
                          <a:spcPts val="1860"/>
                        </a:lnSpc>
                        <a:spcBef>
                          <a:spcPts val="0"/>
                        </a:spcBef>
                        <a:spcAft>
                          <a:spcPts val="0"/>
                        </a:spcAft>
                        <a:defRPr sz="1450">
                          <a:latin typeface="Noto Sans CJK KR"/>
                        </a:defRPr>
                      </a:pPr>
                      <a:r>
                        <a:rPr sz="1380" b="0" lang="ko-KR" dirty="0">
                          <a:solidFill>
                            <a:srgbClr val="176A61"/>
                          </a:solidFill>
                          <a:latin typeface="Noto Sans CJK KR"/>
                          <a:ea typeface="Noto Sans CJK KR"/>
                          <a:cs typeface="Noto Sans CJK KR"/>
                        </a:rPr>
                        <a:t>추가로 확인할 조건 구분</a:t>
                      </a:r>
                    </a:p>
                  </a:txBody>
                  <a:tcPr marL="100584" marR="73152" marT="54864" marB="36576" anchor="ctr">
                    <a:solidFill>
                      <a:srgbClr val="FFFFFF"/>
                    </a:solidFill>
                    <a:lnL w="6350">
                      <a:solidFill>
                        <a:srgbClr val="D9E4E5"/>
                      </a:solidFill>
                    </a:lnL>
                    <a:lnR w="6350">
                      <a:solidFill>
                        <a:srgbClr val="D9E4E5"/>
                      </a:solidFill>
                    </a:lnR>
                    <a:lnT w="6350">
                      <a:solidFill>
                        <a:srgbClr val="D9E4E5"/>
                      </a:solidFill>
                    </a:lnT>
                    <a:lnB w="6350">
                      <a:solidFill>
                        <a:srgbClr val="D9E4E5"/>
                      </a:solidFill>
                    </a:lnB>
                  </a:tcPr>
                </a:tc>
              </a:tr>
              <a:tr h="581558">
                <a:tc>
                  <a:txBody>
                    <a:bodyPr/>
                    <a:lstStyle/>
                    <a:p>
                      <a:pPr>
                        <a:lnSpc>
                          <a:spcPts val="1860"/>
                        </a:lnSpc>
                        <a:spcBef>
                          <a:spcPts val="0"/>
                        </a:spcBef>
                        <a:spcAft>
                          <a:spcPts val="0"/>
                        </a:spcAft>
                        <a:defRPr sz="1450">
                          <a:latin typeface="Noto Sans CJK KR"/>
                        </a:defRPr>
                      </a:pPr>
                      <a:r>
                        <a:rPr sz="1380" b="1" lang="ko-KR" dirty="0">
                          <a:solidFill>
                            <a:srgbClr val="17354C"/>
                          </a:solidFill>
                          <a:latin typeface="Noto Sans CJK KR"/>
                          <a:ea typeface="Noto Sans CJK KR"/>
                          <a:cs typeface="Noto Sans CJK KR"/>
                        </a:rPr>
                        <a:t>화면·이용</a:t>
                      </a:r>
                    </a:p>
                  </a:txBody>
                  <a:tcPr marL="100584" marR="73152" marT="54864" marB="36576" anchor="ctr">
                    <a:solidFill>
                      <a:srgbClr val="E5F2EF"/>
                    </a:solidFill>
                    <a:lnL w="6350">
                      <a:solidFill>
                        <a:srgbClr val="D9E4E5"/>
                      </a:solidFill>
                    </a:lnL>
                    <a:lnR w="6350">
                      <a:solidFill>
                        <a:srgbClr val="D9E4E5"/>
                      </a:solidFill>
                    </a:lnR>
                    <a:lnT w="6350">
                      <a:solidFill>
                        <a:srgbClr val="D9E4E5"/>
                      </a:solidFill>
                    </a:lnT>
                    <a:lnB w="6350">
                      <a:solidFill>
                        <a:srgbClr val="D9E4E5"/>
                      </a:solidFill>
                    </a:lnB>
                  </a:tcPr>
                </a:tc>
                <a:tc>
                  <a:txBody>
                    <a:bodyPr/>
                    <a:lstStyle/>
                    <a:p>
                      <a:pPr>
                        <a:lnSpc>
                          <a:spcPts val="1860"/>
                        </a:lnSpc>
                        <a:spcBef>
                          <a:spcPts val="0"/>
                        </a:spcBef>
                        <a:spcAft>
                          <a:spcPts val="0"/>
                        </a:spcAft>
                        <a:defRPr sz="1450">
                          <a:latin typeface="Noto Sans CJK KR"/>
                        </a:defRPr>
                      </a:pPr>
                      <a:r>
                        <a:rPr sz="1380" b="0" lang="ko-KR" dirty="0">
                          <a:solidFill>
                            <a:srgbClr val="17354C"/>
                          </a:solidFill>
                          <a:latin typeface="Noto Sans CJK KR"/>
                          <a:ea typeface="Noto Sans CJK KR"/>
                          <a:cs typeface="Noto Sans CJK KR"/>
                        </a:rPr>
                        <a:t>서비스 검색·상세 안내·복지지도 [2]</a:t>
                      </a:r>
                    </a:p>
                  </a:txBody>
                  <a:tcPr marL="100584" marR="73152" marT="54864" marB="36576" anchor="ctr">
                    <a:solidFill>
                      <a:srgbClr val="EDF4F3"/>
                    </a:solidFill>
                    <a:lnL w="6350">
                      <a:solidFill>
                        <a:srgbClr val="D9E4E5"/>
                      </a:solidFill>
                    </a:lnL>
                    <a:lnR w="6350">
                      <a:solidFill>
                        <a:srgbClr val="D9E4E5"/>
                      </a:solidFill>
                    </a:lnR>
                    <a:lnT w="6350">
                      <a:solidFill>
                        <a:srgbClr val="D9E4E5"/>
                      </a:solidFill>
                    </a:lnT>
                    <a:lnB w="6350">
                      <a:solidFill>
                        <a:srgbClr val="D9E4E5"/>
                      </a:solidFill>
                    </a:lnB>
                  </a:tcPr>
                </a:tc>
                <a:tc>
                  <a:txBody>
                    <a:bodyPr/>
                    <a:lstStyle/>
                    <a:p>
                      <a:pPr>
                        <a:lnSpc>
                          <a:spcPts val="1860"/>
                        </a:lnSpc>
                        <a:spcBef>
                          <a:spcPts val="0"/>
                        </a:spcBef>
                        <a:spcAft>
                          <a:spcPts val="0"/>
                        </a:spcAft>
                        <a:defRPr sz="1450">
                          <a:latin typeface="Noto Sans CJK KR"/>
                        </a:defRPr>
                      </a:pPr>
                      <a:r>
                        <a:rPr sz="1380" b="0" lang="ko-KR" dirty="0">
                          <a:solidFill>
                            <a:srgbClr val="176A61"/>
                          </a:solidFill>
                          <a:latin typeface="Noto Sans CJK KR"/>
                          <a:ea typeface="Noto Sans CJK KR"/>
                          <a:cs typeface="Noto Sans CJK KR"/>
                        </a:rPr>
                        <a:t>현재  일반 화면·쉬운 화면 시제품</a:t>
                      </a:r>
                    </a:p>
                    <a:p>
                      <a:pPr>
                        <a:lnSpc>
                          <a:spcPts val="1860"/>
                        </a:lnSpc>
                        <a:spcBef>
                          <a:spcPts val="0"/>
                        </a:spcBef>
                        <a:spcAft>
                          <a:spcPts val="0"/>
                        </a:spcAft>
                        <a:defRPr sz="1450">
                          <a:latin typeface="Noto Sans CJK KR"/>
                        </a:defRPr>
                      </a:pPr>
                      <a:r>
                        <a:rPr sz="1380" b="0" lang="ko-KR" dirty="0">
                          <a:solidFill>
                            <a:srgbClr val="176A61"/>
                          </a:solidFill>
                          <a:latin typeface="Noto Sans CJK KR"/>
                          <a:ea typeface="Noto Sans CJK KR"/>
                          <a:cs typeface="Noto Sans CJK KR"/>
                        </a:rPr>
                        <a:t>검증  공고 찾기·조건 이해 과제</a:t>
                      </a:r>
                    </a:p>
                  </a:txBody>
                  <a:tcPr marL="100584" marR="73152" marT="54864" marB="36576" anchor="ctr">
                    <a:solidFill>
                      <a:srgbClr val="EDF4F3"/>
                    </a:solidFill>
                    <a:lnL w="6350">
                      <a:solidFill>
                        <a:srgbClr val="D9E4E5"/>
                      </a:solidFill>
                    </a:lnL>
                    <a:lnR w="6350">
                      <a:solidFill>
                        <a:srgbClr val="D9E4E5"/>
                      </a:solidFill>
                    </a:lnR>
                    <a:lnT w="6350">
                      <a:solidFill>
                        <a:srgbClr val="D9E4E5"/>
                      </a:solidFill>
                    </a:lnT>
                    <a:lnB w="6350">
                      <a:solidFill>
                        <a:srgbClr val="D9E4E5"/>
                      </a:solidFill>
                    </a:lnB>
                  </a:tcPr>
                </a:tc>
              </a:tr>
              <a:tr h="581558">
                <a:tc>
                  <a:txBody>
                    <a:bodyPr/>
                    <a:lstStyle/>
                    <a:p>
                      <a:pPr>
                        <a:lnSpc>
                          <a:spcPts val="1860"/>
                        </a:lnSpc>
                        <a:spcBef>
                          <a:spcPts val="0"/>
                        </a:spcBef>
                        <a:spcAft>
                          <a:spcPts val="0"/>
                        </a:spcAft>
                        <a:defRPr sz="1450">
                          <a:latin typeface="Noto Sans CJK KR"/>
                        </a:defRPr>
                      </a:pPr>
                      <a:r>
                        <a:rPr sz="1380" b="1" lang="ko-KR" dirty="0">
                          <a:solidFill>
                            <a:srgbClr val="17354C"/>
                          </a:solidFill>
                          <a:latin typeface="Noto Sans CJK KR"/>
                          <a:ea typeface="Noto Sans CJK KR"/>
                          <a:cs typeface="Noto Sans CJK KR"/>
                        </a:rPr>
                        <a:t>신청 연결</a:t>
                      </a:r>
                    </a:p>
                  </a:txBody>
                  <a:tcPr marL="100584" marR="73152" marT="54864" marB="36576" anchor="ctr">
                    <a:solidFill>
                      <a:srgbClr val="E5F2EF"/>
                    </a:solidFill>
                    <a:lnL w="6350">
                      <a:solidFill>
                        <a:srgbClr val="D9E4E5"/>
                      </a:solidFill>
                    </a:lnL>
                    <a:lnR w="6350">
                      <a:solidFill>
                        <a:srgbClr val="D9E4E5"/>
                      </a:solidFill>
                    </a:lnR>
                    <a:lnT w="6350">
                      <a:solidFill>
                        <a:srgbClr val="D9E4E5"/>
                      </a:solidFill>
                    </a:lnT>
                    <a:lnB w="6350">
                      <a:solidFill>
                        <a:srgbClr val="D9E4E5"/>
                      </a:solidFill>
                    </a:lnB>
                  </a:tcPr>
                </a:tc>
                <a:tc>
                  <a:txBody>
                    <a:bodyPr/>
                    <a:lstStyle/>
                    <a:p>
                      <a:pPr>
                        <a:lnSpc>
                          <a:spcPts val="1860"/>
                        </a:lnSpc>
                        <a:spcBef>
                          <a:spcPts val="0"/>
                        </a:spcBef>
                        <a:spcAft>
                          <a:spcPts val="0"/>
                        </a:spcAft>
                        <a:defRPr sz="1450">
                          <a:latin typeface="Noto Sans CJK KR"/>
                        </a:defRPr>
                      </a:pPr>
                      <a:r>
                        <a:rPr sz="1380" b="0" lang="ko-KR" dirty="0">
                          <a:solidFill>
                            <a:srgbClr val="17354C"/>
                          </a:solidFill>
                          <a:latin typeface="Noto Sans CJK KR"/>
                          <a:ea typeface="Noto Sans CJK KR"/>
                          <a:cs typeface="Noto Sans CJK KR"/>
                        </a:rPr>
                        <a:t>일부 사업의 온라인 신청 [2]</a:t>
                      </a:r>
                    </a:p>
                    <a:p>
                      <a:pPr>
                        <a:lnSpc>
                          <a:spcPts val="1860"/>
                        </a:lnSpc>
                        <a:spcBef>
                          <a:spcPts val="0"/>
                        </a:spcBef>
                        <a:spcAft>
                          <a:spcPts val="0"/>
                        </a:spcAft>
                        <a:defRPr sz="1450">
                          <a:latin typeface="Noto Sans CJK KR"/>
                        </a:defRPr>
                      </a:pPr>
                      <a:r>
                        <a:rPr sz="1380" b="0" lang="ko-KR" dirty="0">
                          <a:solidFill>
                            <a:srgbClr val="17354C"/>
                          </a:solidFill>
                          <a:latin typeface="Noto Sans CJK KR"/>
                          <a:ea typeface="Noto Sans CJK KR"/>
                          <a:cs typeface="Noto Sans CJK KR"/>
                        </a:rPr>
                        <a:t>지원 여부는 보장기관 조사 후 결정 [1]</a:t>
                      </a:r>
                    </a:p>
                  </a:txBody>
                  <a:tcPr marL="100584" marR="73152" marT="54864" marB="36576" anchor="ctr">
                    <a:solidFill>
                      <a:srgbClr val="FFFFFF"/>
                    </a:solidFill>
                    <a:lnL w="6350">
                      <a:solidFill>
                        <a:srgbClr val="D9E4E5"/>
                      </a:solidFill>
                    </a:lnL>
                    <a:lnR w="6350">
                      <a:solidFill>
                        <a:srgbClr val="D9E4E5"/>
                      </a:solidFill>
                    </a:lnR>
                    <a:lnT w="6350">
                      <a:solidFill>
                        <a:srgbClr val="D9E4E5"/>
                      </a:solidFill>
                    </a:lnT>
                    <a:lnB w="6350">
                      <a:solidFill>
                        <a:srgbClr val="D9E4E5"/>
                      </a:solidFill>
                    </a:lnB>
                  </a:tcPr>
                </a:tc>
                <a:tc>
                  <a:txBody>
                    <a:bodyPr/>
                    <a:lstStyle/>
                    <a:p>
                      <a:pPr>
                        <a:lnSpc>
                          <a:spcPts val="1860"/>
                        </a:lnSpc>
                        <a:spcBef>
                          <a:spcPts val="0"/>
                        </a:spcBef>
                        <a:spcAft>
                          <a:spcPts val="0"/>
                        </a:spcAft>
                        <a:defRPr sz="1450">
                          <a:latin typeface="Noto Sans CJK KR"/>
                        </a:defRPr>
                      </a:pPr>
                      <a:r>
                        <a:rPr sz="1380" b="0" lang="ko-KR" dirty="0">
                          <a:solidFill>
                            <a:srgbClr val="176A61"/>
                          </a:solidFill>
                          <a:latin typeface="Noto Sans CJK KR"/>
                          <a:ea typeface="Noto Sans CJK KR"/>
                          <a:cs typeface="Noto Sans CJK KR"/>
                        </a:rPr>
                        <a:t>목표  공식 안내·신청 경로 연결</a:t>
                      </a:r>
                    </a:p>
                    <a:p>
                      <a:pPr>
                        <a:lnSpc>
                          <a:spcPts val="1860"/>
                        </a:lnSpc>
                        <a:spcBef>
                          <a:spcPts val="0"/>
                        </a:spcBef>
                        <a:spcAft>
                          <a:spcPts val="0"/>
                        </a:spcAft>
                        <a:defRPr sz="1450">
                          <a:latin typeface="Noto Sans CJK KR"/>
                        </a:defRPr>
                      </a:pPr>
                      <a:r>
                        <a:rPr sz="1380" b="0" lang="ko-KR" dirty="0">
                          <a:solidFill>
                            <a:srgbClr val="176A61"/>
                          </a:solidFill>
                          <a:latin typeface="Noto Sans CJK KR"/>
                          <a:ea typeface="Noto Sans CJK KR"/>
                          <a:cs typeface="Noto Sans CJK KR"/>
                        </a:rPr>
                        <a:t>자동 신청·자격 확정은 아님</a:t>
                      </a:r>
                    </a:p>
                  </a:txBody>
                  <a:tcPr marL="100584" marR="73152" marT="54864" marB="36576" anchor="ctr">
                    <a:solidFill>
                      <a:srgbClr val="FFFFFF"/>
                    </a:solidFill>
                    <a:lnL w="6350">
                      <a:solidFill>
                        <a:srgbClr val="D9E4E5"/>
                      </a:solidFill>
                    </a:lnL>
                    <a:lnR w="6350">
                      <a:solidFill>
                        <a:srgbClr val="D9E4E5"/>
                      </a:solidFill>
                    </a:lnR>
                    <a:lnT w="6350">
                      <a:solidFill>
                        <a:srgbClr val="D9E4E5"/>
                      </a:solidFill>
                    </a:lnT>
                    <a:lnB w="6350">
                      <a:solidFill>
                        <a:srgbClr val="D9E4E5"/>
                      </a:solidFill>
                    </a:lnB>
                  </a:tcPr>
                </a:tc>
              </a:tr>
            </a:tbl>
          </a:graphicData>
        </a:graphic>
      </p:graphicFrame>
      <p:sp>
        <p:nvSpPr>
          <p:cNvPr id="13" name="Rounded Rectangle 12"/>
          <p:cNvSpPr/>
          <p:nvPr/>
        </p:nvSpPr>
        <p:spPr>
          <a:xfrm>
            <a:off x="548640" y="5760720"/>
            <a:ext cx="11091672" cy="384048"/>
          </a:xfrm>
          <a:prstGeom prst="roundRect">
            <a:avLst>
              <a:gd name="adj" fmla="val 6000"/>
            </a:avLst>
          </a:prstGeom>
          <a:solidFill>
            <a:srgbClr val="E5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5788152"/>
            <a:ext cx="10735056" cy="283464"/>
          </a:xfrm>
          <a:prstGeom prst="rect">
            <a:avLst/>
          </a:prstGeom>
          <a:noFill/>
        </p:spPr>
        <p:txBody>
          <a:bodyPr wrap="square" lIns="0" rIns="0" tIns="0" bIns="0" anchor="ctr">
            <a:noAutofit/>
          </a:bodyPr>
          <a:lstStyle/>
          <a:p>
            <a:pPr algn="l">
              <a:lnSpc>
                <a:spcPct val="112000"/>
              </a:lnSpc>
              <a:spcBef>
                <a:spcPts val="0"/>
              </a:spcBef>
              <a:spcAft>
                <a:spcPts val="0"/>
              </a:spcAft>
            </a:pPr>
            <a:r>
              <a:rPr sz="1600" b="1" lang="ko-KR" dirty="0">
                <a:solidFill>
                  <a:srgbClr val="17354C"/>
                </a:solidFill>
                <a:latin typeface="Noto Sans CJK KR"/>
                <a:ea typeface="Noto Sans CJK KR"/>
                <a:cs typeface="Noto Sans CJK KR"/>
              </a:rPr>
              <a:t>검증할 차별점  |  월계1동 이용자가 필요한 공고를 찾고 조건을 이해하는 과정</a:t>
            </a:r>
          </a:p>
        </p:txBody>
      </p:sp>
      <p:sp>
        <p:nvSpPr>
          <p:cNvPr id="15" name="TextBox 14"/>
          <p:cNvSpPr txBox="1"/>
          <p:nvPr/>
        </p:nvSpPr>
        <p:spPr>
          <a:xfrm>
            <a:off x="585216" y="6217920"/>
            <a:ext cx="10972800" cy="118872"/>
          </a:xfrm>
          <a:prstGeom prst="rect">
            <a:avLst/>
          </a:prstGeom>
          <a:noFill/>
        </p:spPr>
        <p:txBody>
          <a:bodyPr wrap="square" lIns="0" rIns="0" tIns="0" bIns="0" anchor="ctr">
            <a:noAutofit/>
          </a:bodyPr>
          <a:lstStyle/>
          <a:p>
            <a:pPr algn="l">
              <a:lnSpc>
                <a:spcPct val="112000"/>
              </a:lnSpc>
              <a:spcBef>
                <a:spcPts val="0"/>
              </a:spcBef>
              <a:spcAft>
                <a:spcPts val="0"/>
              </a:spcAft>
            </a:pPr>
            <a:r>
              <a:rPr sz="710" b="0" lang="ko-KR" dirty="0">
                <a:solidFill>
                  <a:srgbClr val="607582"/>
                </a:solidFill>
                <a:latin typeface="Noto Sans CJK KR"/>
                <a:ea typeface="Noto Sans CJK KR"/>
                <a:cs typeface="Noto Sans CJK KR"/>
              </a:rPr>
              <a:t>[1] 보건복지부(2026.6.24)  [2] 복지로 소개(2026.9.27 확인). 목표 기능·이용 효과는 검증 전이며, 정부 서비스에 없는 독점 기능을 뜻하지 않음.</a:t>
            </a:r>
          </a:p>
        </p:txBody>
      </p:sp>
      <p:sp>
        <p:nvSpPr>
          <p:cNvPr id="16" name="TextBox 15">
            <a:hlinkClick action="ppaction://hlinksldjump" r:id="rId3"/>
          </p:cNvPr>
          <p:cNvSpPr txBox="1"/>
          <p:nvPr/>
        </p:nvSpPr>
        <p:spPr>
          <a:xfrm>
            <a:off x="8677656" y="6460236"/>
            <a:ext cx="1554480" cy="219456"/>
          </a:xfrm>
          <a:prstGeom prst="rect">
            <a:avLst/>
          </a:prstGeom>
          <a:noFill/>
        </p:spPr>
        <p:txBody>
          <a:bodyPr wrap="square" lIns="0" rIns="0" tIns="0" bIns="0" anchor="ctr">
            <a:noAutofit/>
          </a:bodyPr>
          <a:lstStyle/>
          <a:p>
            <a:pPr algn="r">
              <a:lnSpc>
                <a:spcPct val="112000"/>
              </a:lnSpc>
              <a:spcBef>
                <a:spcPts val="0"/>
              </a:spcBef>
              <a:spcAft>
                <a:spcPts val="0"/>
              </a:spcAft>
            </a:pPr>
            <a:r>
              <a:rPr sz="860" b="1" lang="ko-KR" dirty="0">
                <a:solidFill>
                  <a:srgbClr val="008979"/>
                </a:solidFill>
                <a:latin typeface="Noto Sans CJK KR"/>
                <a:ea typeface="Noto Sans CJK KR"/>
                <a:cs typeface="Noto Sans CJK KR"/>
              </a:rPr>
              <a:t>본문 마지막 장으로</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0">
  <p:cSld>
    <p:bg>
      <p:bgPr>
        <a:solidFill>
          <a:srgbClr val="F5F8F8"/>
        </a:solidFill>
        <a:effectLst/>
      </p:bgPr>
    </p:bg>
    <p:spTree>
      <p:nvGrpSpPr>
        <p:cNvPr id="1" name=""/>
        <p:cNvGrpSpPr/>
        <p:nvPr/>
      </p:nvGrpSpPr>
      <p:grpSpPr/>
      <p:sp>
        <p:nvSpPr>
          <p:cNvPr id="2" name="Compass"/>
          <p:cNvSpPr/>
          <p:nvPr/>
        </p:nvSpPr>
        <p:spPr>
          <a:xfrm>
            <a:off x="502920" y="292608"/>
            <a:ext cx="292608" cy="292608"/>
          </a:xfrm>
          <a:prstGeom prst="ellipse">
            <a:avLst/>
          </a:prstGeom>
          <a:solidFill>
            <a:srgbClr val="FFFFFF">
              <a:alpha val="0"/>
            </a:srgbClr>
          </a:solidFill>
          <a:ln w="22860">
            <a:solidFill>
              <a:srgbClr val="DDE7E8"/>
            </a:solidFill>
            <a:prstDash val="solid"/>
          </a:ln>
        </p:spPr>
        <p:txBody>
          <a:bodyPr/>
          <a:p/>
        </p:txBody>
      </p:sp>
      <p:sp>
        <p:nvSpPr>
          <p:cNvPr id="3" name="Compass"/>
          <p:cNvSpPr/>
          <p:nvPr/>
        </p:nvSpPr>
        <p:spPr>
          <a:xfrm rot="1500000">
            <a:off x="612648" y="326258"/>
            <a:ext cx="73152" cy="124358"/>
          </a:xfrm>
          <a:prstGeom prst="triangle">
            <a:avLst/>
          </a:prstGeom>
          <a:solidFill>
            <a:srgbClr val="008979"/>
          </a:solidFill>
          <a:ln w="12700">
            <a:solidFill>
              <a:srgbClr val="008979"/>
            </a:solidFill>
            <a:prstDash val="solid"/>
          </a:ln>
        </p:spPr>
        <p:txBody>
          <a:bodyPr/>
          <a:p/>
        </p:txBody>
      </p:sp>
      <p:sp>
        <p:nvSpPr>
          <p:cNvPr id="4" name="Compass"/>
          <p:cNvSpPr/>
          <p:nvPr/>
        </p:nvSpPr>
        <p:spPr>
          <a:xfrm rot="12300000">
            <a:off x="612648" y="435986"/>
            <a:ext cx="73152" cy="124358"/>
          </a:xfrm>
          <a:prstGeom prst="triangle">
            <a:avLst/>
          </a:prstGeom>
          <a:solidFill>
            <a:srgbClr val="17354C"/>
          </a:solidFill>
          <a:ln w="12700">
            <a:solidFill>
              <a:srgbClr val="17354C"/>
            </a:solidFill>
            <a:prstDash val="solid"/>
          </a:ln>
        </p:spPr>
        <p:txBody>
          <a:bodyPr/>
          <a:p/>
        </p:txBody>
      </p:sp>
      <p:sp>
        <p:nvSpPr>
          <p:cNvPr id="5" name="Compass"/>
          <p:cNvSpPr/>
          <p:nvPr/>
        </p:nvSpPr>
        <p:spPr>
          <a:xfrm>
            <a:off x="636057" y="425745"/>
            <a:ext cx="26335" cy="26335"/>
          </a:xfrm>
          <a:prstGeom prst="ellipse">
            <a:avLst/>
          </a:prstGeom>
          <a:solidFill>
            <a:srgbClr val="FFFFFF"/>
          </a:solidFill>
          <a:ln w="12700">
            <a:solidFill>
              <a:srgbClr val="FFFFFF"/>
            </a:solidFill>
            <a:prstDash val="solid"/>
          </a:ln>
        </p:spPr>
        <p:txBody>
          <a:bodyPr/>
          <a:p/>
        </p:txBody>
      </p:sp>
      <p:sp>
        <p:nvSpPr>
          <p:cNvPr id="6" name="TextBox 5"/>
          <p:cNvSpPr txBox="1"/>
          <p:nvPr/>
        </p:nvSpPr>
        <p:spPr>
          <a:xfrm>
            <a:off x="914400" y="292608"/>
            <a:ext cx="9601200" cy="274320"/>
          </a:xfrm>
          <a:prstGeom prst="rect">
            <a:avLst/>
          </a:prstGeom>
          <a:noFill/>
        </p:spPr>
        <p:txBody>
          <a:bodyPr wrap="square" lIns="0" rIns="0" tIns="0" bIns="0" anchor="ctr">
            <a:noAutofit/>
          </a:bodyPr>
          <a:lstStyle/>
          <a:p>
            <a:pPr algn="l">
              <a:lnSpc>
                <a:spcPct val="112000"/>
              </a:lnSpc>
              <a:spcBef>
                <a:spcPts val="0"/>
              </a:spcBef>
              <a:spcAft>
                <a:spcPts val="0"/>
              </a:spcAft>
            </a:pPr>
            <a:r>
              <a:rPr sz="1050" b="1" lang="ko-KR" dirty="0">
                <a:solidFill>
                  <a:srgbClr val="008979"/>
                </a:solidFill>
                <a:latin typeface="Noto Sans CJK KR"/>
                <a:ea typeface="Noto Sans CJK KR"/>
                <a:cs typeface="Noto Sans CJK KR"/>
              </a:rPr>
              <a:t>질의응답 02  ·  예상 질문</a:t>
            </a:r>
          </a:p>
        </p:txBody>
      </p:sp>
      <p:sp>
        <p:nvSpPr>
          <p:cNvPr id="7" name="TextBox 6"/>
          <p:cNvSpPr txBox="1"/>
          <p:nvPr/>
        </p:nvSpPr>
        <p:spPr>
          <a:xfrm>
            <a:off x="548640" y="896112"/>
            <a:ext cx="11045952" cy="640080"/>
          </a:xfrm>
          <a:prstGeom prst="rect">
            <a:avLst/>
          </a:prstGeom>
          <a:noFill/>
        </p:spPr>
        <p:txBody>
          <a:bodyPr wrap="square" lIns="0" rIns="0" tIns="0" bIns="0" anchor="ctr">
            <a:noAutofit/>
          </a:bodyPr>
          <a:lstStyle/>
          <a:p>
            <a:pPr algn="l">
              <a:lnSpc>
                <a:spcPct val="112000"/>
              </a:lnSpc>
              <a:spcBef>
                <a:spcPts val="0"/>
              </a:spcBef>
              <a:spcAft>
                <a:spcPts val="0"/>
              </a:spcAft>
            </a:pPr>
            <a:r>
              <a:rPr sz="3000" b="1" lang="ko-KR" dirty="0">
                <a:solidFill>
                  <a:srgbClr val="17354C"/>
                </a:solidFill>
                <a:latin typeface="Noto Sans CJK KR"/>
                <a:ea typeface="Noto Sans CJK KR"/>
                <a:cs typeface="Noto Sans CJK KR"/>
              </a:rPr>
              <a:t>지역성·진행 상황·신뢰성·검증</a:t>
            </a:r>
          </a:p>
        </p:txBody>
      </p:sp>
      <p:sp>
        <p:nvSpPr>
          <p:cNvPr id="8" name="TextBox 7"/>
          <p:cNvSpPr txBox="1"/>
          <p:nvPr/>
        </p:nvSpPr>
        <p:spPr>
          <a:xfrm>
            <a:off x="576072" y="1627632"/>
            <a:ext cx="10972800" cy="347472"/>
          </a:xfrm>
          <a:prstGeom prst="rect">
            <a:avLst/>
          </a:prstGeom>
          <a:noFill/>
        </p:spPr>
        <p:txBody>
          <a:bodyPr wrap="square" lIns="0" rIns="0" tIns="0" bIns="0" anchor="ctr">
            <a:noAutofit/>
          </a:bodyPr>
          <a:lstStyle/>
          <a:p>
            <a:pPr algn="l">
              <a:lnSpc>
                <a:spcPct val="112000"/>
              </a:lnSpc>
              <a:spcBef>
                <a:spcPts val="0"/>
              </a:spcBef>
              <a:spcAft>
                <a:spcPts val="0"/>
              </a:spcAft>
            </a:pPr>
            <a:r>
              <a:rPr sz="1420" b="0" lang="ko-KR" dirty="0">
                <a:solidFill>
                  <a:srgbClr val="607582"/>
                </a:solidFill>
                <a:latin typeface="Noto Sans CJK KR"/>
                <a:ea typeface="Noto Sans CJK KR"/>
                <a:cs typeface="Noto Sans CJK KR"/>
              </a:rPr>
              <a:t>질의응답 2분  ·  질문에 맞는 핵심 답변부터</a:t>
            </a:r>
          </a:p>
        </p:txBody>
      </p:sp>
      <p:cxnSp>
        <p:nvCxnSpPr>
          <p:cNvPr id="9" name="Connector 8"/>
          <p:cNvCxnSpPr/>
          <p:nvPr/>
        </p:nvCxnSpPr>
        <p:spPr>
          <a:xfrm>
            <a:off x="502920" y="6391656"/>
            <a:ext cx="11183112" cy="0"/>
          </a:xfrm>
          <a:prstGeom prst="line">
            <a:avLst/>
          </a:prstGeom>
          <a:ln w="8890">
            <a:solidFill>
              <a:srgbClr val="D9E4E5"/>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21207" y="6483096"/>
            <a:ext cx="6400800" cy="182880"/>
          </a:xfrm>
          <a:prstGeom prst="rect">
            <a:avLst/>
          </a:prstGeom>
          <a:noFill/>
        </p:spPr>
        <p:txBody>
          <a:bodyPr wrap="square" lIns="0" rIns="0" tIns="0" bIns="0" anchor="ctr">
            <a:noAutofit/>
          </a:bodyPr>
          <a:lstStyle/>
          <a:p>
            <a:pPr algn="l">
              <a:lnSpc>
                <a:spcPct val="112000"/>
              </a:lnSpc>
              <a:spcBef>
                <a:spcPts val="0"/>
              </a:spcBef>
              <a:spcAft>
                <a:spcPts val="0"/>
              </a:spcAft>
            </a:pPr>
            <a:r>
              <a:rPr sz="880" b="0" lang="ko-KR" dirty="0">
                <a:solidFill>
                  <a:srgbClr val="607582"/>
                </a:solidFill>
                <a:latin typeface="Noto Sans CJK KR"/>
                <a:ea typeface="Noto Sans CJK KR"/>
                <a:cs typeface="Noto Sans CJK KR"/>
              </a:rPr>
              <a:t>복지나침반  ·  질의응답 참고</a:t>
            </a:r>
          </a:p>
        </p:txBody>
      </p:sp>
      <p:sp>
        <p:nvSpPr>
          <p:cNvPr id="11" name="TextBox 10"/>
          <p:cNvSpPr txBox="1"/>
          <p:nvPr/>
        </p:nvSpPr>
        <p:spPr>
          <a:xfrm>
            <a:off x="10625328" y="6464808"/>
            <a:ext cx="1033271" cy="228600"/>
          </a:xfrm>
          <a:prstGeom prst="rect">
            <a:avLst/>
          </a:prstGeom>
          <a:noFill/>
        </p:spPr>
        <p:txBody>
          <a:bodyPr wrap="square" lIns="0" rIns="0" tIns="0" bIns="0" anchor="ctr">
            <a:noAutofit/>
          </a:bodyPr>
          <a:lstStyle/>
          <a:p>
            <a:pPr algn="r">
              <a:lnSpc>
                <a:spcPct val="112000"/>
              </a:lnSpc>
              <a:spcBef>
                <a:spcPts val="0"/>
              </a:spcBef>
              <a:spcAft>
                <a:spcPts val="0"/>
              </a:spcAft>
            </a:pPr>
            <a:r>
              <a:rPr sz="919" b="0" lang="ko-KR" dirty="0">
                <a:solidFill>
                  <a:srgbClr val="607582"/>
                </a:solidFill>
                <a:latin typeface="Noto Sans CJK KR"/>
                <a:ea typeface="Noto Sans CJK KR"/>
                <a:cs typeface="Noto Sans CJK KR"/>
              </a:rPr>
              <a:t>Q2 / 04</a:t>
            </a:r>
          </a:p>
        </p:txBody>
      </p:sp>
      <p:sp>
        <p:nvSpPr>
          <p:cNvPr id="12" name="Rounded Rectangle 11"/>
          <p:cNvSpPr/>
          <p:nvPr/>
        </p:nvSpPr>
        <p:spPr>
          <a:xfrm>
            <a:off x="548640" y="2276856"/>
            <a:ext cx="5422392" cy="1481328"/>
          </a:xfrm>
          <a:prstGeom prst="roundRect">
            <a:avLst>
              <a:gd name="adj" fmla="val 6000"/>
            </a:avLst>
          </a:prstGeom>
          <a:solidFill>
            <a:srgbClr val="FFFFFF"/>
          </a:solidFill>
          <a:ln w="10160">
            <a:solidFill>
              <a:srgbClr val="D9E4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5528" y="2487168"/>
            <a:ext cx="4937760" cy="329184"/>
          </a:xfrm>
          <a:prstGeom prst="rect">
            <a:avLst/>
          </a:prstGeom>
          <a:noFill/>
        </p:spPr>
        <p:txBody>
          <a:bodyPr wrap="square" lIns="0" rIns="0" tIns="0" bIns="0" anchor="ctr">
            <a:noAutofit/>
          </a:bodyPr>
          <a:lstStyle/>
          <a:p>
            <a:pPr algn="l">
              <a:lnSpc>
                <a:spcPct val="112000"/>
              </a:lnSpc>
              <a:spcBef>
                <a:spcPts val="0"/>
              </a:spcBef>
              <a:spcAft>
                <a:spcPts val="0"/>
              </a:spcAft>
            </a:pPr>
            <a:r>
              <a:rPr sz="1820" b="1" lang="ko-KR" dirty="0">
                <a:solidFill>
                  <a:srgbClr val="17354C"/>
                </a:solidFill>
                <a:latin typeface="Noto Sans CJK KR"/>
                <a:ea typeface="Noto Sans CJK KR"/>
                <a:cs typeface="Noto Sans CJK KR"/>
              </a:rPr>
              <a:t>왜 월계1동인가요?</a:t>
            </a:r>
          </a:p>
        </p:txBody>
      </p:sp>
      <p:sp>
        <p:nvSpPr>
          <p:cNvPr id="14" name="TextBox 13"/>
          <p:cNvSpPr txBox="1"/>
          <p:nvPr/>
        </p:nvSpPr>
        <p:spPr>
          <a:xfrm>
            <a:off x="804672" y="2999232"/>
            <a:ext cx="4910328" cy="530352"/>
          </a:xfrm>
          <a:prstGeom prst="rect">
            <a:avLst/>
          </a:prstGeom>
          <a:noFill/>
        </p:spPr>
        <p:txBody>
          <a:bodyPr wrap="square" lIns="0" rIns="0" tIns="0" bIns="0" anchor="ctr">
            <a:noAutofit/>
          </a:bodyPr>
          <a:lstStyle/>
          <a:p>
            <a:pPr algn="l">
              <a:lnSpc>
                <a:spcPct val="112000"/>
              </a:lnSpc>
              <a:spcBef>
                <a:spcPts val="0"/>
              </a:spcBef>
              <a:spcAft>
                <a:spcPts val="0"/>
              </a:spcAft>
            </a:pPr>
            <a:r>
              <a:rPr sz="1340" b="0" lang="ko-KR" dirty="0">
                <a:solidFill>
                  <a:srgbClr val="607582"/>
                </a:solidFill>
                <a:latin typeface="Noto Sans CJK KR"/>
                <a:ea typeface="Noto Sans CJK KR"/>
                <a:cs typeface="Noto Sans CJK KR"/>
              </a:rPr>
              <a:t>해커톤 대상 지역을 첫 검증 범위로 설정</a:t>
            </a:r>
          </a:p>
          <a:p>
            <a:pPr algn="l">
              <a:lnSpc>
                <a:spcPct val="112000"/>
              </a:lnSpc>
              <a:spcBef>
                <a:spcPts val="0"/>
              </a:spcBef>
              <a:spcAft>
                <a:spcPts val="0"/>
              </a:spcAft>
            </a:pPr>
            <a:r>
              <a:rPr sz="1340" b="0" lang="ko-KR" dirty="0">
                <a:solidFill>
                  <a:srgbClr val="607582"/>
                </a:solidFill>
                <a:latin typeface="Noto Sans CJK KR"/>
                <a:ea typeface="Noto Sans CJK KR"/>
                <a:cs typeface="Noto Sans CJK KR"/>
              </a:rPr>
              <a:t>시설 수보다 공고 탐색·조건 이해의 불편에 집중</a:t>
            </a:r>
          </a:p>
        </p:txBody>
      </p:sp>
      <p:sp>
        <p:nvSpPr>
          <p:cNvPr id="15" name="Rounded Rectangle 14"/>
          <p:cNvSpPr/>
          <p:nvPr/>
        </p:nvSpPr>
        <p:spPr>
          <a:xfrm>
            <a:off x="6217920" y="2276856"/>
            <a:ext cx="5422392" cy="1481328"/>
          </a:xfrm>
          <a:prstGeom prst="roundRect">
            <a:avLst>
              <a:gd name="adj" fmla="val 6000"/>
            </a:avLst>
          </a:prstGeom>
          <a:solidFill>
            <a:srgbClr val="FFFFFF"/>
          </a:solidFill>
          <a:ln w="10160">
            <a:solidFill>
              <a:srgbClr val="D9E4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808" y="2487168"/>
            <a:ext cx="4937760" cy="329184"/>
          </a:xfrm>
          <a:prstGeom prst="rect">
            <a:avLst/>
          </a:prstGeom>
          <a:noFill/>
        </p:spPr>
        <p:txBody>
          <a:bodyPr wrap="square" lIns="0" rIns="0" tIns="0" bIns="0" anchor="ctr">
            <a:noAutofit/>
          </a:bodyPr>
          <a:lstStyle/>
          <a:p>
            <a:pPr algn="l">
              <a:lnSpc>
                <a:spcPct val="112000"/>
              </a:lnSpc>
              <a:spcBef>
                <a:spcPts val="0"/>
              </a:spcBef>
              <a:spcAft>
                <a:spcPts val="0"/>
              </a:spcAft>
            </a:pPr>
            <a:r>
              <a:rPr sz="1900" b="1" lang="ko-KR" dirty="0">
                <a:solidFill>
                  <a:srgbClr val="17354C"/>
                </a:solidFill>
                <a:latin typeface="Noto Sans CJK KR"/>
                <a:ea typeface="Noto Sans CJK KR"/>
                <a:cs typeface="Noto Sans CJK KR"/>
              </a:rPr>
              <a:t>현재 어디까지 구현했나요?</a:t>
            </a:r>
          </a:p>
        </p:txBody>
      </p:sp>
      <p:sp>
        <p:nvSpPr>
          <p:cNvPr id="17" name="TextBox 16"/>
          <p:cNvSpPr txBox="1"/>
          <p:nvPr/>
        </p:nvSpPr>
        <p:spPr>
          <a:xfrm>
            <a:off x="6473952" y="2999232"/>
            <a:ext cx="4910328" cy="530352"/>
          </a:xfrm>
          <a:prstGeom prst="rect">
            <a:avLst/>
          </a:prstGeom>
          <a:noFill/>
        </p:spPr>
        <p:txBody>
          <a:bodyPr wrap="square" lIns="0" rIns="0" tIns="0" bIns="0" anchor="ctr">
            <a:noAutofit/>
          </a:bodyPr>
          <a:lstStyle/>
          <a:p>
            <a:pPr algn="l">
              <a:lnSpc>
                <a:spcPct val="112000"/>
              </a:lnSpc>
              <a:spcBef>
                <a:spcPts val="0"/>
              </a:spcBef>
              <a:spcAft>
                <a:spcPts val="0"/>
              </a:spcAft>
            </a:pPr>
            <a:r>
              <a:rPr sz="1340" b="0" lang="ko-KR" dirty="0">
                <a:solidFill>
                  <a:srgbClr val="607582"/>
                </a:solidFill>
                <a:latin typeface="Noto Sans CJK KR"/>
                <a:ea typeface="Noto Sans CJK KR"/>
                <a:cs typeface="Noto Sans CJK KR"/>
              </a:rPr>
              <a:t>일반·쉬운 화면과 공고 조건 정리 흐름</a:t>
            </a:r>
          </a:p>
          <a:p>
            <a:pPr algn="l">
              <a:lnSpc>
                <a:spcPct val="112000"/>
              </a:lnSpc>
              <a:spcBef>
                <a:spcPts val="0"/>
              </a:spcBef>
              <a:spcAft>
                <a:spcPts val="0"/>
              </a:spcAft>
            </a:pPr>
            <a:r>
              <a:rPr sz="1340" b="0" lang="ko-KR" dirty="0">
                <a:solidFill>
                  <a:srgbClr val="607582"/>
                </a:solidFill>
                <a:latin typeface="Noto Sans CJK KR"/>
                <a:ea typeface="Noto Sans CJK KR"/>
                <a:cs typeface="Noto Sans CJK KR"/>
              </a:rPr>
              <a:t>실제 공고·추천 연결과 사용자 검증은 다음 단계</a:t>
            </a:r>
          </a:p>
        </p:txBody>
      </p:sp>
      <p:sp>
        <p:nvSpPr>
          <p:cNvPr id="18" name="Rounded Rectangle 17"/>
          <p:cNvSpPr/>
          <p:nvPr/>
        </p:nvSpPr>
        <p:spPr>
          <a:xfrm>
            <a:off x="548640" y="4014216"/>
            <a:ext cx="5422392" cy="1481328"/>
          </a:xfrm>
          <a:prstGeom prst="roundRect">
            <a:avLst>
              <a:gd name="adj" fmla="val 6000"/>
            </a:avLst>
          </a:prstGeom>
          <a:solidFill>
            <a:srgbClr val="FFFFFF"/>
          </a:solidFill>
          <a:ln w="10160">
            <a:solidFill>
              <a:srgbClr val="D9E4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5528" y="4224528"/>
            <a:ext cx="4937760" cy="329184"/>
          </a:xfrm>
          <a:prstGeom prst="rect">
            <a:avLst/>
          </a:prstGeom>
          <a:noFill/>
        </p:spPr>
        <p:txBody>
          <a:bodyPr wrap="square" lIns="0" rIns="0" tIns="0" bIns="0" anchor="ctr">
            <a:noAutofit/>
          </a:bodyPr>
          <a:lstStyle/>
          <a:p>
            <a:pPr algn="l">
              <a:lnSpc>
                <a:spcPct val="112000"/>
              </a:lnSpc>
              <a:spcBef>
                <a:spcPts val="0"/>
              </a:spcBef>
              <a:spcAft>
                <a:spcPts val="0"/>
              </a:spcAft>
            </a:pPr>
            <a:r>
              <a:rPr sz="1900" b="1" lang="ko-KR" dirty="0">
                <a:solidFill>
                  <a:srgbClr val="17354C"/>
                </a:solidFill>
                <a:latin typeface="Noto Sans CJK KR"/>
                <a:ea typeface="Noto Sans CJK KR"/>
                <a:cs typeface="Noto Sans CJK KR"/>
              </a:rPr>
              <a:t>AI가 틀리면 어떻게 하나요?</a:t>
            </a:r>
          </a:p>
        </p:txBody>
      </p:sp>
      <p:sp>
        <p:nvSpPr>
          <p:cNvPr id="20" name="TextBox 19"/>
          <p:cNvSpPr txBox="1"/>
          <p:nvPr/>
        </p:nvSpPr>
        <p:spPr>
          <a:xfrm>
            <a:off x="804672" y="4736592"/>
            <a:ext cx="4910328" cy="530352"/>
          </a:xfrm>
          <a:prstGeom prst="rect">
            <a:avLst/>
          </a:prstGeom>
          <a:noFill/>
        </p:spPr>
        <p:txBody>
          <a:bodyPr wrap="square" lIns="0" rIns="0" tIns="0" bIns="0" anchor="ctr">
            <a:noAutofit/>
          </a:bodyPr>
          <a:lstStyle/>
          <a:p>
            <a:pPr algn="l">
              <a:lnSpc>
                <a:spcPct val="112000"/>
              </a:lnSpc>
              <a:spcBef>
                <a:spcPts val="0"/>
              </a:spcBef>
              <a:spcAft>
                <a:spcPts val="0"/>
              </a:spcAft>
            </a:pPr>
            <a:r>
              <a:rPr sz="1340" b="0" lang="ko-KR" dirty="0">
                <a:solidFill>
                  <a:srgbClr val="607582"/>
                </a:solidFill>
                <a:latin typeface="Noto Sans CJK KR"/>
                <a:ea typeface="Noto Sans CJK KR"/>
                <a:cs typeface="Noto Sans CJK KR"/>
              </a:rPr>
              <a:t>원문 근거와 추가 확인할 조건을 함께 안내</a:t>
            </a:r>
          </a:p>
          <a:p>
            <a:pPr algn="l">
              <a:lnSpc>
                <a:spcPct val="112000"/>
              </a:lnSpc>
              <a:spcBef>
                <a:spcPts val="0"/>
              </a:spcBef>
              <a:spcAft>
                <a:spcPts val="0"/>
              </a:spcAft>
            </a:pPr>
            <a:r>
              <a:rPr sz="1340" b="0" lang="ko-KR" dirty="0">
                <a:solidFill>
                  <a:srgbClr val="607582"/>
                </a:solidFill>
                <a:latin typeface="Noto Sans CJK KR"/>
                <a:ea typeface="Noto Sans CJK KR"/>
                <a:cs typeface="Noto Sans CJK KR"/>
              </a:rPr>
              <a:t>신청 자격·선정 여부를 확정하지 않는 설계</a:t>
            </a:r>
          </a:p>
        </p:txBody>
      </p:sp>
      <p:sp>
        <p:nvSpPr>
          <p:cNvPr id="21" name="Rounded Rectangle 20"/>
          <p:cNvSpPr/>
          <p:nvPr/>
        </p:nvSpPr>
        <p:spPr>
          <a:xfrm>
            <a:off x="6217920" y="4014216"/>
            <a:ext cx="5422392" cy="1481328"/>
          </a:xfrm>
          <a:prstGeom prst="roundRect">
            <a:avLst>
              <a:gd name="adj" fmla="val 6000"/>
            </a:avLst>
          </a:prstGeom>
          <a:solidFill>
            <a:srgbClr val="FFFFFF"/>
          </a:solidFill>
          <a:ln w="10160">
            <a:solidFill>
              <a:srgbClr val="D9E4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64808" y="4224528"/>
            <a:ext cx="4937760" cy="329184"/>
          </a:xfrm>
          <a:prstGeom prst="rect">
            <a:avLst/>
          </a:prstGeom>
          <a:noFill/>
        </p:spPr>
        <p:txBody>
          <a:bodyPr wrap="square" lIns="0" rIns="0" tIns="0" bIns="0" anchor="ctr">
            <a:noAutofit/>
          </a:bodyPr>
          <a:lstStyle/>
          <a:p>
            <a:pPr algn="l">
              <a:lnSpc>
                <a:spcPct val="112000"/>
              </a:lnSpc>
              <a:spcBef>
                <a:spcPts val="0"/>
              </a:spcBef>
              <a:spcAft>
                <a:spcPts val="0"/>
              </a:spcAft>
            </a:pPr>
            <a:r>
              <a:rPr sz="1800" b="1" lang="ko-KR" dirty="0">
                <a:solidFill>
                  <a:srgbClr val="17354C"/>
                </a:solidFill>
                <a:latin typeface="Noto Sans CJK KR"/>
                <a:ea typeface="Noto Sans CJK KR"/>
                <a:cs typeface="Noto Sans CJK KR"/>
              </a:rPr>
              <a:t>도움이 되는지 어떻게 확인하나요?</a:t>
            </a:r>
          </a:p>
        </p:txBody>
      </p:sp>
      <p:sp>
        <p:nvSpPr>
          <p:cNvPr id="23" name="TextBox 22"/>
          <p:cNvSpPr txBox="1"/>
          <p:nvPr/>
        </p:nvSpPr>
        <p:spPr>
          <a:xfrm>
            <a:off x="6473952" y="4736592"/>
            <a:ext cx="4910328" cy="530352"/>
          </a:xfrm>
          <a:prstGeom prst="rect">
            <a:avLst/>
          </a:prstGeom>
          <a:noFill/>
        </p:spPr>
        <p:txBody>
          <a:bodyPr wrap="square" lIns="0" rIns="0" tIns="0" bIns="0" anchor="ctr">
            <a:noAutofit/>
          </a:bodyPr>
          <a:lstStyle/>
          <a:p>
            <a:pPr algn="l">
              <a:lnSpc>
                <a:spcPct val="112000"/>
              </a:lnSpc>
              <a:spcBef>
                <a:spcPts val="0"/>
              </a:spcBef>
              <a:spcAft>
                <a:spcPts val="0"/>
              </a:spcAft>
            </a:pPr>
            <a:r>
              <a:rPr sz="1340" b="0" lang="ko-KR" dirty="0">
                <a:solidFill>
                  <a:srgbClr val="607582"/>
                </a:solidFill>
                <a:latin typeface="Noto Sans CJK KR"/>
                <a:ea typeface="Noto Sans CJK KR"/>
                <a:cs typeface="Noto Sans CJK KR"/>
              </a:rPr>
              <a:t>공고 찾기·조건 이해·신청 경로 확인 과제</a:t>
            </a:r>
          </a:p>
          <a:p>
            <a:pPr algn="l">
              <a:lnSpc>
                <a:spcPct val="112000"/>
              </a:lnSpc>
              <a:spcBef>
                <a:spcPts val="0"/>
              </a:spcBef>
              <a:spcAft>
                <a:spcPts val="0"/>
              </a:spcAft>
            </a:pPr>
            <a:r>
              <a:rPr sz="1340" b="0" lang="ko-KR" dirty="0">
                <a:solidFill>
                  <a:srgbClr val="607582"/>
                </a:solidFill>
                <a:latin typeface="Noto Sans CJK KR"/>
                <a:ea typeface="Noto Sans CJK KR"/>
                <a:cs typeface="Noto Sans CJK KR"/>
              </a:rPr>
              <a:t>정확성·완료 여부·소요 시간을 함께 비교</a:t>
            </a:r>
          </a:p>
        </p:txBody>
      </p:sp>
      <p:sp>
        <p:nvSpPr>
          <p:cNvPr id="24" name="TextBox 23"/>
          <p:cNvSpPr txBox="1"/>
          <p:nvPr/>
        </p:nvSpPr>
        <p:spPr>
          <a:xfrm>
            <a:off x="594360" y="5934456"/>
            <a:ext cx="10972800" cy="329184"/>
          </a:xfrm>
          <a:prstGeom prst="rect">
            <a:avLst/>
          </a:prstGeom>
          <a:noFill/>
        </p:spPr>
        <p:txBody>
          <a:bodyPr wrap="square" lIns="0" rIns="0" tIns="0" bIns="0" anchor="ctr">
            <a:noAutofit/>
          </a:bodyPr>
          <a:lstStyle/>
          <a:p>
            <a:pPr algn="l">
              <a:lnSpc>
                <a:spcPct val="112000"/>
              </a:lnSpc>
              <a:spcBef>
                <a:spcPts val="0"/>
              </a:spcBef>
              <a:spcAft>
                <a:spcPts val="0"/>
              </a:spcAft>
            </a:pPr>
            <a:r>
              <a:rPr sz="1530" b="1" lang="ko-KR" dirty="0">
                <a:solidFill>
                  <a:srgbClr val="008979"/>
                </a:solidFill>
                <a:latin typeface="Noto Sans CJK KR"/>
                <a:ea typeface="Noto Sans CJK KR"/>
                <a:cs typeface="Noto Sans CJK KR"/>
              </a:rPr>
              <a:t>현재 구현과 앞으로 검증할 목표를 구분  |  독점 기능·효과 수치는 주장하지 않음</a:t>
            </a:r>
          </a:p>
        </p:txBody>
      </p:sp>
      <p:sp>
        <p:nvSpPr>
          <p:cNvPr id="25" name="TextBox 24">
            <a:hlinkClick action="ppaction://hlinksldjump" r:id="rId3"/>
          </p:cNvPr>
          <p:cNvSpPr txBox="1"/>
          <p:nvPr/>
        </p:nvSpPr>
        <p:spPr>
          <a:xfrm>
            <a:off x="8677656" y="6460236"/>
            <a:ext cx="1554480" cy="219456"/>
          </a:xfrm>
          <a:prstGeom prst="rect">
            <a:avLst/>
          </a:prstGeom>
          <a:noFill/>
        </p:spPr>
        <p:txBody>
          <a:bodyPr wrap="square" lIns="0" rIns="0" tIns="0" bIns="0" anchor="ctr">
            <a:noAutofit/>
          </a:bodyPr>
          <a:lstStyle/>
          <a:p>
            <a:pPr algn="r">
              <a:lnSpc>
                <a:spcPct val="112000"/>
              </a:lnSpc>
              <a:spcBef>
                <a:spcPts val="0"/>
              </a:spcBef>
              <a:spcAft>
                <a:spcPts val="0"/>
              </a:spcAft>
            </a:pPr>
            <a:r>
              <a:rPr sz="860" b="1" lang="ko-KR" dirty="0">
                <a:solidFill>
                  <a:srgbClr val="008979"/>
                </a:solidFill>
                <a:latin typeface="Noto Sans CJK KR"/>
                <a:ea typeface="Noto Sans CJK KR"/>
                <a:cs typeface="Noto Sans CJK KR"/>
              </a:rPr>
              <a:t>본문 마지막 장으로</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name="Slide 3">
    <p:bg>
      <p:bgPr>
        <a:solidFill>
          <a:srgbClr val="F5F8F8"/>
        </a:solidFill>
      </p:bgPr>
    </p:bg>
    <p:spTree>
      <p:nvGrpSpPr>
        <p:cNvPr id="1" name=""/>
        <p:cNvGrpSpPr/>
        <p:nvPr/>
      </p:nvGrpSpPr>
      <p:grpSpPr>
        <a:xfrm>
          <a:off x="0" y="0"/>
          <a:ext cx="0" cy="0"/>
          <a:chOff x="0" y="0"/>
          <a:chExt cx="0" cy="0"/>
        </a:xfrm>
      </p:grpSpPr>
      <p:sp>
        <p:nvSpPr>
          <p:cNvPr id="2" name="circle_48"/>
          <p:cNvSpPr/>
          <p:nvPr/>
        </p:nvSpPr>
        <p:spPr>
          <a:xfrm>
            <a:off x="502920" y="292608"/>
            <a:ext cx="292608" cy="292608"/>
          </a:xfrm>
          <a:prstGeom prst="ellipse">
            <a:avLst/>
          </a:prstGeom>
          <a:solidFill>
            <a:srgbClr val="FFFFFF">
              <a:alpha val="0"/>
            </a:srgbClr>
          </a:solidFill>
          <a:ln w="22860">
            <a:solidFill>
              <a:srgbClr val="DDE7E8"/>
            </a:solidFill>
            <a:prstDash val="solid"/>
          </a:ln>
        </p:spPr>
      </p:sp>
      <p:sp>
        <p:nvSpPr>
          <p:cNvPr id="3" name="Shape 1"/>
          <p:cNvSpPr/>
          <p:nvPr/>
        </p:nvSpPr>
        <p:spPr>
          <a:xfrm rot="1500000">
            <a:off x="612648" y="326258"/>
            <a:ext cx="73152" cy="124358"/>
          </a:xfrm>
          <a:prstGeom prst="triangle">
            <a:avLst/>
          </a:prstGeom>
          <a:solidFill>
            <a:srgbClr val="008979"/>
          </a:solidFill>
          <a:ln w="12700">
            <a:solidFill>
              <a:srgbClr val="008979"/>
            </a:solidFill>
            <a:prstDash val="solid"/>
          </a:ln>
        </p:spPr>
      </p:sp>
      <p:sp>
        <p:nvSpPr>
          <p:cNvPr id="4" name="Shape 2"/>
          <p:cNvSpPr/>
          <p:nvPr/>
        </p:nvSpPr>
        <p:spPr>
          <a:xfrm rot="12300000">
            <a:off x="612648" y="435986"/>
            <a:ext cx="73152" cy="124358"/>
          </a:xfrm>
          <a:prstGeom prst="triangle">
            <a:avLst/>
          </a:prstGeom>
          <a:solidFill>
            <a:srgbClr val="17354C"/>
          </a:solidFill>
          <a:ln w="12700">
            <a:solidFill>
              <a:srgbClr val="17354C"/>
            </a:solidFill>
            <a:prstDash val="solid"/>
          </a:ln>
        </p:spPr>
      </p:sp>
      <p:sp>
        <p:nvSpPr>
          <p:cNvPr id="5" name="circle_49"/>
          <p:cNvSpPr/>
          <p:nvPr/>
        </p:nvSpPr>
        <p:spPr>
          <a:xfrm>
            <a:off x="636057" y="425745"/>
            <a:ext cx="26335" cy="26335"/>
          </a:xfrm>
          <a:prstGeom prst="ellipse">
            <a:avLst/>
          </a:prstGeom>
          <a:solidFill>
            <a:srgbClr val="FFFFFF"/>
          </a:solidFill>
          <a:ln w="12700">
            <a:solidFill>
              <a:srgbClr val="FFFFFF"/>
            </a:solidFill>
            <a:prstDash val="solid"/>
          </a:ln>
        </p:spPr>
      </p:sp>
      <p:sp>
        <p:nvSpPr>
          <p:cNvPr id="6" name="text_50"/>
          <p:cNvSpPr/>
          <p:nvPr/>
        </p:nvSpPr>
        <p:spPr>
          <a:xfrm>
            <a:off x="914400" y="292608"/>
            <a:ext cx="9601200" cy="274320"/>
          </a:xfrm>
          <a:prstGeom prst="rect">
            <a:avLst/>
          </a:prstGeom>
          <a:noFill/>
          <a:ln/>
        </p:spPr>
        <p:txBody>
          <a:bodyPr wrap="square" lIns="0" tIns="0" rIns="0" bIns="0" rtlCol="0" anchor="ctr">
            <a:normAutofit/>
          </a:bodyPr>
          <a:lstStyle/>
          <a:p>
            <a:pPr indent="0" marL="0">
              <a:buNone/>
            </a:pPr>
            <a:r>
              <a:rPr lang="ko-KR" altLang="en-US" sz="1050" b="1" spc="20" kern="0" dirty="0">
                <a:solidFill>
                  <a:srgbClr val="008979"/>
                </a:solidFill>
                <a:latin typeface="Noto Sans CJK KR" pitchFamily="34" charset="0"/>
                <a:ea typeface="Noto Sans CJK KR" pitchFamily="34" charset="-122"/>
                <a:cs typeface="Noto Sans CJK KR" pitchFamily="34" charset="-120"/>
              </a:rPr>
              <a:t>질의응답 03  ·  쉬운 화면의 근거</a:t>
            </a:r>
            <a:endParaRPr lang="ko-KR" sz="1050" dirty="0"/>
          </a:p>
        </p:txBody>
      </p:sp>
      <p:sp>
        <p:nvSpPr>
          <p:cNvPr id="7" name="text_51"/>
          <p:cNvSpPr/>
          <p:nvPr/>
        </p:nvSpPr>
        <p:spPr>
          <a:xfrm>
            <a:off x="548640" y="896112"/>
            <a:ext cx="11045952" cy="640080"/>
          </a:xfrm>
          <a:prstGeom prst="rect">
            <a:avLst/>
          </a:prstGeom>
          <a:noFill/>
          <a:ln/>
        </p:spPr>
        <p:txBody>
          <a:bodyPr wrap="square" lIns="0" tIns="0" rIns="0" bIns="0" rtlCol="0" anchor="ctr">
            <a:normAutofit/>
          </a:bodyPr>
          <a:lstStyle/>
          <a:p>
            <a:pPr indent="0" marL="0">
              <a:buNone/>
            </a:pPr>
            <a:r>
              <a:rPr lang="ko-KR" altLang="en-US" sz="3000" b="1" dirty="0">
                <a:solidFill>
                  <a:srgbClr val="17354C"/>
                </a:solidFill>
                <a:latin typeface="Noto Sans CJK KR" pitchFamily="34" charset="0"/>
                <a:ea typeface="Noto Sans CJK KR" pitchFamily="34" charset="-122"/>
                <a:cs typeface="Noto Sans CJK KR" pitchFamily="34" charset="-120"/>
              </a:rPr>
              <a:t>왜 쉬운 화면을 함께 만들었나요?</a:t>
            </a:r>
            <a:endParaRPr lang="ko-KR" sz="3000" dirty="0"/>
          </a:p>
        </p:txBody>
      </p:sp>
      <p:sp>
        <p:nvSpPr>
          <p:cNvPr id="8" name="text_52"/>
          <p:cNvSpPr/>
          <p:nvPr/>
        </p:nvSpPr>
        <p:spPr>
          <a:xfrm>
            <a:off x="576072" y="1627632"/>
            <a:ext cx="10972800" cy="347472"/>
          </a:xfrm>
          <a:prstGeom prst="rect">
            <a:avLst/>
          </a:prstGeom>
          <a:noFill/>
          <a:ln/>
        </p:spPr>
        <p:txBody>
          <a:bodyPr wrap="square" lIns="0" tIns="0" rIns="0" bIns="0" rtlCol="0" anchor="ctr">
            <a:normAutofit/>
          </a:bodyPr>
          <a:lstStyle/>
          <a:p>
            <a:pPr indent="0" marL="0">
              <a:buNone/>
            </a:pPr>
            <a:r>
              <a:rPr lang="ko-KR" altLang="en-US" sz="1420" dirty="0">
                <a:solidFill>
                  <a:srgbClr val="607582"/>
                </a:solidFill>
                <a:latin typeface="Noto Sans CJK KR" pitchFamily="34" charset="0"/>
                <a:ea typeface="Noto Sans CJK KR" pitchFamily="34" charset="-122"/>
                <a:cs typeface="Noto Sans CJK KR" pitchFamily="34" charset="-120"/>
              </a:rPr>
              <a:t>전국 조사에서 확인한 디지털 이용의 격차  ·  월계1동의 수치나 시제품 효과는 아님</a:t>
            </a:r>
            <a:endParaRPr lang="ko-KR" sz="1420" dirty="0"/>
          </a:p>
        </p:txBody>
      </p:sp>
      <p:sp>
        <p:nvSpPr>
          <p:cNvPr id="9" name="line_53"/>
          <p:cNvSpPr/>
          <p:nvPr/>
        </p:nvSpPr>
        <p:spPr>
          <a:xfrm>
            <a:off x="502920" y="6391656"/>
            <a:ext cx="11183112" cy="0"/>
          </a:xfrm>
          <a:prstGeom prst="line">
            <a:avLst/>
          </a:prstGeom>
          <a:noFill/>
          <a:ln w="9525">
            <a:solidFill>
              <a:srgbClr val="DDE7E8"/>
            </a:solidFill>
            <a:prstDash val="solid"/>
          </a:ln>
        </p:spPr>
      </p:sp>
      <p:sp>
        <p:nvSpPr>
          <p:cNvPr id="10" name="text_54"/>
          <p:cNvSpPr/>
          <p:nvPr/>
        </p:nvSpPr>
        <p:spPr>
          <a:xfrm>
            <a:off x="521208" y="6483096"/>
            <a:ext cx="6400800" cy="182880"/>
          </a:xfrm>
          <a:prstGeom prst="rect">
            <a:avLst/>
          </a:prstGeom>
          <a:noFill/>
          <a:ln/>
        </p:spPr>
        <p:txBody>
          <a:bodyPr wrap="square" lIns="0" tIns="0" rIns="0" bIns="0" rtlCol="0" anchor="ctr">
            <a:normAutofit/>
          </a:bodyPr>
          <a:lstStyle/>
          <a:p>
            <a:pPr indent="0" marL="0">
              <a:buNone/>
            </a:pPr>
            <a:r>
              <a:rPr lang="ko-KR" altLang="en-US" sz="880" dirty="0">
                <a:solidFill>
                  <a:srgbClr val="607582"/>
                </a:solidFill>
                <a:latin typeface="Noto Sans CJK KR" pitchFamily="34" charset="0"/>
                <a:ea typeface="Noto Sans CJK KR" pitchFamily="34" charset="-122"/>
                <a:cs typeface="Noto Sans CJK KR" pitchFamily="34" charset="-120"/>
              </a:rPr>
              <a:t>복지나침반  ·  질의응답 참고</a:t>
            </a:r>
            <a:endParaRPr lang="ko-KR" sz="880" dirty="0"/>
          </a:p>
        </p:txBody>
      </p:sp>
      <p:sp>
        <p:nvSpPr>
          <p:cNvPr id="11" name="text_55"/>
          <p:cNvSpPr/>
          <p:nvPr/>
        </p:nvSpPr>
        <p:spPr>
          <a:xfrm>
            <a:off x="10625328" y="6460236"/>
            <a:ext cx="1033272" cy="228600"/>
          </a:xfrm>
          <a:prstGeom prst="rect">
            <a:avLst/>
          </a:prstGeom>
          <a:noFill/>
          <a:ln/>
        </p:spPr>
        <p:txBody>
          <a:bodyPr wrap="square" lIns="0" tIns="0" rIns="0" bIns="0" rtlCol="0" anchor="ctr">
            <a:normAutofit/>
          </a:bodyPr>
          <a:lstStyle/>
          <a:p>
            <a:pPr algn="r" indent="0" marL="0">
              <a:buNone/>
            </a:pPr>
            <a:r>
              <a:rPr lang="ko-KR" altLang="en-US" sz="920" dirty="0">
                <a:solidFill>
                  <a:srgbClr val="607582"/>
                </a:solidFill>
                <a:latin typeface="Noto Sans CJK KR" pitchFamily="34" charset="0"/>
                <a:ea typeface="Noto Sans CJK KR" pitchFamily="34" charset="-122"/>
                <a:cs typeface="Noto Sans CJK KR" pitchFamily="34" charset="-120"/>
              </a:rPr>
              <a:t>Q3 / 04</a:t>
            </a:r>
            <a:endParaRPr lang="ko-KR" sz="920" dirty="0"/>
          </a:p>
        </p:txBody>
      </p:sp>
      <p:sp>
        <p:nvSpPr>
          <p:cNvPr id="12" name="card_56"/>
          <p:cNvSpPr/>
          <p:nvPr/>
        </p:nvSpPr>
        <p:spPr>
          <a:xfrm>
            <a:off x="548640" y="2212848"/>
            <a:ext cx="6784848" cy="3520440"/>
          </a:xfrm>
          <a:prstGeom prst="roundRect">
            <a:avLst>
              <a:gd name="adj" fmla="val 4675"/>
            </a:avLst>
          </a:prstGeom>
          <a:solidFill>
            <a:srgbClr val="FFFFFF"/>
          </a:solidFill>
          <a:ln w="8890">
            <a:solidFill>
              <a:srgbClr val="DDE7E8"/>
            </a:solidFill>
            <a:prstDash val="solid"/>
          </a:ln>
        </p:spPr>
      </p:sp>
      <p:sp>
        <p:nvSpPr>
          <p:cNvPr id="13" name="text_57"/>
          <p:cNvSpPr/>
          <p:nvPr/>
        </p:nvSpPr>
        <p:spPr>
          <a:xfrm>
            <a:off x="841248" y="2450592"/>
            <a:ext cx="4352544" cy="356616"/>
          </a:xfrm>
          <a:prstGeom prst="rect">
            <a:avLst/>
          </a:prstGeom>
          <a:noFill/>
          <a:ln/>
        </p:spPr>
        <p:txBody>
          <a:bodyPr wrap="square" lIns="0" tIns="0" rIns="0" bIns="0" rtlCol="0" anchor="ctr">
            <a:normAutofit/>
          </a:bodyPr>
          <a:lstStyle/>
          <a:p>
            <a:pPr indent="0" marL="0">
              <a:buNone/>
            </a:pPr>
            <a:r>
              <a:rPr lang="ko-KR" altLang="en-US" sz="1900" b="1" dirty="0">
                <a:solidFill>
                  <a:srgbClr val="17354C"/>
                </a:solidFill>
                <a:latin typeface="Noto Sans CJK KR" pitchFamily="34" charset="0"/>
                <a:ea typeface="Noto Sans CJK KR" pitchFamily="34" charset="-122"/>
                <a:cs typeface="Noto Sans CJK KR" pitchFamily="34" charset="-120"/>
              </a:rPr>
              <a:t>디지털 이용 수준</a:t>
            </a:r>
            <a:endParaRPr lang="ko-KR" sz="1900" dirty="0"/>
          </a:p>
        </p:txBody>
      </p:sp>
      <p:sp>
        <p:nvSpPr>
          <p:cNvPr id="14" name="text_58"/>
          <p:cNvSpPr/>
          <p:nvPr/>
        </p:nvSpPr>
        <p:spPr>
          <a:xfrm>
            <a:off x="859536" y="2916936"/>
            <a:ext cx="5358384" cy="265176"/>
          </a:xfrm>
          <a:prstGeom prst="rect">
            <a:avLst/>
          </a:prstGeom>
          <a:noFill/>
          <a:ln/>
        </p:spPr>
        <p:txBody>
          <a:bodyPr wrap="square" lIns="0" tIns="0" rIns="0" bIns="0" rtlCol="0" anchor="ctr">
            <a:normAutofit/>
          </a:bodyPr>
          <a:lstStyle/>
          <a:p>
            <a:pPr indent="0" marL="0">
              <a:buNone/>
            </a:pPr>
            <a:r>
              <a:rPr lang="ko-KR" altLang="en-US" sz="1210" dirty="0">
                <a:solidFill>
                  <a:srgbClr val="607582"/>
                </a:solidFill>
                <a:latin typeface="Noto Sans CJK KR" pitchFamily="34" charset="0"/>
                <a:ea typeface="Noto Sans CJK KR" pitchFamily="34" charset="-122"/>
                <a:cs typeface="Noto Sans CJK KR" pitchFamily="34" charset="-120"/>
              </a:rPr>
              <a:t>2025년 조사  ·  일반 국민 = 100 기준</a:t>
            </a:r>
            <a:endParaRPr lang="ko-KR" sz="1210" dirty="0"/>
          </a:p>
        </p:txBody>
      </p:sp>
      <p:graphicFrame>
        <p:nvGraphicFramePr>
          <p:cNvPr id="15" name="Chart 0" descr="일반 국민의 디지털정보화 수준을 100으로 두었을 때 고령층의 상대 수준은 71.8. 사람의 비율이 아니라 접근·역량·활용을 종합한 지표."/>
          <p:cNvGraphicFramePr/>
          <p:nvPr/>
        </p:nvGraphicFramePr>
        <p:xfrm>
          <a:off x="758952" y="3383280"/>
          <a:ext cx="6345936" cy="1636776"/>
        </p:xfrm>
        <a:graphic xmlns:a="http://schemas.openxmlformats.org/drawingml/2006/main">
          <a:graphicData uri="http://schemas.openxmlformats.org/drawingml/2006/chart">
            <c:chart xmlns:c="http://schemas.openxmlformats.org/drawingml/2006/chart" r:id="rId1"/>
          </a:graphicData>
        </a:graphic>
      </p:graphicFrame>
      <p:sp>
        <p:nvSpPr>
          <p:cNvPr id="16" name="text_59"/>
          <p:cNvSpPr/>
          <p:nvPr/>
        </p:nvSpPr>
        <p:spPr>
          <a:xfrm>
            <a:off x="886968" y="5157216"/>
            <a:ext cx="5943600" cy="283464"/>
          </a:xfrm>
          <a:prstGeom prst="rect">
            <a:avLst/>
          </a:prstGeom>
          <a:noFill/>
          <a:ln/>
        </p:spPr>
        <p:txBody>
          <a:bodyPr wrap="square" lIns="0" tIns="0" rIns="0" bIns="0" rtlCol="0" anchor="ctr">
            <a:normAutofit/>
          </a:bodyPr>
          <a:lstStyle/>
          <a:p>
            <a:pPr indent="0" marL="0">
              <a:buNone/>
            </a:pPr>
            <a:r>
              <a:rPr lang="ko-KR" altLang="en-US" sz="1230" dirty="0">
                <a:solidFill>
                  <a:srgbClr val="607582"/>
                </a:solidFill>
                <a:latin typeface="Noto Sans CJK KR" pitchFamily="34" charset="0"/>
                <a:ea typeface="Noto Sans CJK KR" pitchFamily="34" charset="-122"/>
                <a:cs typeface="Noto Sans CJK KR" pitchFamily="34" charset="-120"/>
              </a:rPr>
              <a:t>기기 접근·사용 능력·실제 활용을 함께 평가</a:t>
            </a:r>
            <a:endParaRPr lang="ko-KR" sz="1230" dirty="0"/>
          </a:p>
        </p:txBody>
      </p:sp>
      <p:sp>
        <p:nvSpPr>
          <p:cNvPr id="17" name="card_60"/>
          <p:cNvSpPr/>
          <p:nvPr/>
        </p:nvSpPr>
        <p:spPr>
          <a:xfrm>
            <a:off x="7571232" y="2212848"/>
            <a:ext cx="4069080" cy="3520440"/>
          </a:xfrm>
          <a:prstGeom prst="roundRect">
            <a:avLst>
              <a:gd name="adj" fmla="val 4675"/>
            </a:avLst>
          </a:prstGeom>
          <a:solidFill>
            <a:srgbClr val="17354C"/>
          </a:solidFill>
          <a:ln w="8890">
            <a:solidFill>
              <a:srgbClr val="17354C"/>
            </a:solidFill>
            <a:prstDash val="solid"/>
          </a:ln>
        </p:spPr>
      </p:sp>
      <p:sp>
        <p:nvSpPr>
          <p:cNvPr id="18" name="text_61"/>
          <p:cNvSpPr/>
          <p:nvPr/>
        </p:nvSpPr>
        <p:spPr>
          <a:xfrm>
            <a:off x="7909560" y="2569464"/>
            <a:ext cx="3328416" cy="384048"/>
          </a:xfrm>
          <a:prstGeom prst="rect">
            <a:avLst/>
          </a:prstGeom>
          <a:noFill/>
          <a:ln/>
        </p:spPr>
        <p:txBody>
          <a:bodyPr wrap="square" lIns="0" tIns="0" rIns="0" bIns="0" rtlCol="0" anchor="ctr">
            <a:normAutofit/>
          </a:bodyPr>
          <a:lstStyle/>
          <a:p>
            <a:pPr indent="0" marL="0">
              <a:buNone/>
            </a:pPr>
            <a:r>
              <a:rPr lang="ko-KR" altLang="en-US" sz="2000" b="1" dirty="0">
                <a:solidFill>
                  <a:srgbClr val="FFFFFF"/>
                </a:solidFill>
                <a:latin typeface="Noto Sans CJK KR" pitchFamily="34" charset="0"/>
                <a:ea typeface="Noto Sans CJK KR" pitchFamily="34" charset="-122"/>
                <a:cs typeface="Noto Sans CJK KR" pitchFamily="34" charset="-120"/>
              </a:rPr>
              <a:t>쉬운 화면의 설계 방향</a:t>
            </a:r>
            <a:endParaRPr lang="ko-KR" sz="2000" dirty="0"/>
          </a:p>
        </p:txBody>
      </p:sp>
      <p:sp>
        <p:nvSpPr>
          <p:cNvPr id="19" name="text_62"/>
          <p:cNvSpPr/>
          <p:nvPr/>
        </p:nvSpPr>
        <p:spPr>
          <a:xfrm>
            <a:off x="7909560" y="3290070"/>
            <a:ext cx="506165" cy="536841"/>
          </a:xfrm>
          <a:prstGeom prst="rect">
            <a:avLst/>
          </a:prstGeom>
          <a:noFill/>
          <a:ln/>
        </p:spPr>
        <p:txBody>
          <a:bodyPr wrap="square" lIns="0" tIns="0" rIns="0" bIns="0" rtlCol="0" anchor="ctr">
            <a:normAutofit/>
          </a:bodyPr>
          <a:lstStyle/>
          <a:p>
            <a:pPr algn="ctr" indent="0" marL="0">
              <a:buNone/>
            </a:pPr>
            <a:r>
              <a:rPr lang="ko-KR" altLang="en-US" sz="2516" b="1" dirty="0">
                <a:solidFill>
                  <a:srgbClr val="BFEADF"/>
                </a:solidFill>
                <a:latin typeface="Noto Sans CJK KR" pitchFamily="34" charset="0"/>
                <a:ea typeface="Noto Sans CJK KR" pitchFamily="34" charset="-122"/>
                <a:cs typeface="Noto Sans CJK KR" pitchFamily="34" charset="-120"/>
              </a:rPr>
              <a:t>가</a:t>
            </a:r>
            <a:endParaRPr lang="ko-KR" sz="2516" dirty="0"/>
          </a:p>
        </p:txBody>
      </p:sp>
      <p:sp>
        <p:nvSpPr>
          <p:cNvPr id="20" name="text_63"/>
          <p:cNvSpPr/>
          <p:nvPr/>
        </p:nvSpPr>
        <p:spPr>
          <a:xfrm>
            <a:off x="8604504" y="3337560"/>
            <a:ext cx="2642616" cy="301752"/>
          </a:xfrm>
          <a:prstGeom prst="rect">
            <a:avLst/>
          </a:prstGeom>
          <a:noFill/>
          <a:ln/>
        </p:spPr>
        <p:txBody>
          <a:bodyPr wrap="square" lIns="0" tIns="0" rIns="0" bIns="0" rtlCol="0" anchor="ctr">
            <a:normAutofit/>
          </a:bodyPr>
          <a:lstStyle/>
          <a:p>
            <a:pPr indent="0" marL="0">
              <a:buNone/>
            </a:pPr>
            <a:r>
              <a:rPr lang="ko-KR" altLang="en-US" sz="1740" b="1" dirty="0">
                <a:solidFill>
                  <a:srgbClr val="FFFFFF"/>
                </a:solidFill>
                <a:latin typeface="Noto Sans CJK KR" pitchFamily="34" charset="0"/>
                <a:ea typeface="Noto Sans CJK KR" pitchFamily="34" charset="-122"/>
                <a:cs typeface="Noto Sans CJK KR" pitchFamily="34" charset="-120"/>
              </a:rPr>
              <a:t>크게, 분명하게</a:t>
            </a:r>
            <a:endParaRPr lang="ko-KR" sz="1740" dirty="0"/>
          </a:p>
        </p:txBody>
      </p:sp>
      <p:sp>
        <p:nvSpPr>
          <p:cNvPr id="21" name="text_64"/>
          <p:cNvSpPr/>
          <p:nvPr/>
        </p:nvSpPr>
        <p:spPr>
          <a:xfrm>
            <a:off x="8622792" y="3739896"/>
            <a:ext cx="2670048" cy="274320"/>
          </a:xfrm>
          <a:prstGeom prst="rect">
            <a:avLst/>
          </a:prstGeom>
          <a:noFill/>
          <a:ln/>
        </p:spPr>
        <p:txBody>
          <a:bodyPr wrap="square" lIns="0" tIns="0" rIns="0" bIns="0" rtlCol="0" anchor="ctr">
            <a:normAutofit/>
          </a:bodyPr>
          <a:lstStyle/>
          <a:p>
            <a:pPr indent="0" marL="0">
              <a:buNone/>
            </a:pPr>
            <a:r>
              <a:rPr lang="ko-KR" altLang="en-US" sz="1170" dirty="0">
                <a:solidFill>
                  <a:srgbClr val="BCD0D8"/>
                </a:solidFill>
                <a:latin typeface="Noto Sans CJK KR" pitchFamily="34" charset="0"/>
                <a:ea typeface="Noto Sans CJK KR" pitchFamily="34" charset="-122"/>
                <a:cs typeface="Noto Sans CJK KR" pitchFamily="34" charset="-120"/>
              </a:rPr>
              <a:t>글씨와 버튼을 쉽게 구분</a:t>
            </a:r>
            <a:endParaRPr lang="ko-KR" sz="1170" dirty="0"/>
          </a:p>
        </p:txBody>
      </p:sp>
      <p:sp>
        <p:nvSpPr>
          <p:cNvPr id="22" name="line_65"/>
          <p:cNvSpPr/>
          <p:nvPr/>
        </p:nvSpPr>
        <p:spPr>
          <a:xfrm>
            <a:off x="7946136" y="4215384"/>
            <a:ext cx="3310128" cy="0"/>
          </a:xfrm>
          <a:prstGeom prst="line">
            <a:avLst/>
          </a:prstGeom>
          <a:noFill/>
          <a:ln w="11430">
            <a:solidFill>
              <a:srgbClr val="3A586B"/>
            </a:solidFill>
            <a:prstDash val="solid"/>
          </a:ln>
        </p:spPr>
      </p:sp>
      <p:sp>
        <p:nvSpPr>
          <p:cNvPr id="23" name="circle_66"/>
          <p:cNvSpPr/>
          <p:nvPr/>
        </p:nvSpPr>
        <p:spPr>
          <a:xfrm>
            <a:off x="7951150" y="4597367"/>
            <a:ext cx="84951" cy="84951"/>
          </a:xfrm>
          <a:prstGeom prst="ellipse">
            <a:avLst/>
          </a:prstGeom>
          <a:solidFill>
            <a:srgbClr val="BFEADF"/>
          </a:solidFill>
          <a:ln w="12700">
            <a:solidFill>
              <a:srgbClr val="BFEADF"/>
            </a:solidFill>
            <a:prstDash val="solid"/>
          </a:ln>
        </p:spPr>
      </p:sp>
      <p:sp>
        <p:nvSpPr>
          <p:cNvPr id="24" name="line_67"/>
          <p:cNvSpPr/>
          <p:nvPr/>
        </p:nvSpPr>
        <p:spPr>
          <a:xfrm>
            <a:off x="8099814" y="4643382"/>
            <a:ext cx="261931" cy="0"/>
          </a:xfrm>
          <a:prstGeom prst="line">
            <a:avLst/>
          </a:prstGeom>
          <a:noFill/>
          <a:ln w="25400">
            <a:solidFill>
              <a:srgbClr val="BFEADF"/>
            </a:solidFill>
            <a:prstDash val="solid"/>
          </a:ln>
        </p:spPr>
      </p:sp>
      <p:sp>
        <p:nvSpPr>
          <p:cNvPr id="25" name="circle_68"/>
          <p:cNvSpPr/>
          <p:nvPr/>
        </p:nvSpPr>
        <p:spPr>
          <a:xfrm>
            <a:off x="7951150" y="4753110"/>
            <a:ext cx="84951" cy="84951"/>
          </a:xfrm>
          <a:prstGeom prst="ellipse">
            <a:avLst/>
          </a:prstGeom>
          <a:solidFill>
            <a:srgbClr val="BFEADF"/>
          </a:solidFill>
          <a:ln w="12700">
            <a:solidFill>
              <a:srgbClr val="BFEADF"/>
            </a:solidFill>
            <a:prstDash val="solid"/>
          </a:ln>
        </p:spPr>
      </p:sp>
      <p:sp>
        <p:nvSpPr>
          <p:cNvPr id="26" name="line_69"/>
          <p:cNvSpPr/>
          <p:nvPr/>
        </p:nvSpPr>
        <p:spPr>
          <a:xfrm>
            <a:off x="8099814" y="4799125"/>
            <a:ext cx="261931" cy="0"/>
          </a:xfrm>
          <a:prstGeom prst="line">
            <a:avLst/>
          </a:prstGeom>
          <a:noFill/>
          <a:ln w="25400">
            <a:solidFill>
              <a:srgbClr val="BFEADF"/>
            </a:solidFill>
            <a:prstDash val="solid"/>
          </a:ln>
        </p:spPr>
      </p:sp>
      <p:sp>
        <p:nvSpPr>
          <p:cNvPr id="27" name="circle_70"/>
          <p:cNvSpPr/>
          <p:nvPr/>
        </p:nvSpPr>
        <p:spPr>
          <a:xfrm>
            <a:off x="7951150" y="4908853"/>
            <a:ext cx="84951" cy="84951"/>
          </a:xfrm>
          <a:prstGeom prst="ellipse">
            <a:avLst/>
          </a:prstGeom>
          <a:solidFill>
            <a:srgbClr val="BFEADF"/>
          </a:solidFill>
          <a:ln w="12700">
            <a:solidFill>
              <a:srgbClr val="BFEADF"/>
            </a:solidFill>
            <a:prstDash val="solid"/>
          </a:ln>
        </p:spPr>
      </p:sp>
      <p:sp>
        <p:nvSpPr>
          <p:cNvPr id="28" name="line_71"/>
          <p:cNvSpPr/>
          <p:nvPr/>
        </p:nvSpPr>
        <p:spPr>
          <a:xfrm>
            <a:off x="8099814" y="4954868"/>
            <a:ext cx="261931" cy="0"/>
          </a:xfrm>
          <a:prstGeom prst="line">
            <a:avLst/>
          </a:prstGeom>
          <a:noFill/>
          <a:ln w="25400">
            <a:solidFill>
              <a:srgbClr val="BFEADF"/>
            </a:solidFill>
            <a:prstDash val="solid"/>
          </a:ln>
        </p:spPr>
      </p:sp>
      <p:sp>
        <p:nvSpPr>
          <p:cNvPr id="29" name="text_72"/>
          <p:cNvSpPr/>
          <p:nvPr/>
        </p:nvSpPr>
        <p:spPr>
          <a:xfrm>
            <a:off x="8604504" y="4544568"/>
            <a:ext cx="2706624" cy="338328"/>
          </a:xfrm>
          <a:prstGeom prst="rect">
            <a:avLst/>
          </a:prstGeom>
          <a:noFill/>
          <a:ln/>
        </p:spPr>
        <p:txBody>
          <a:bodyPr wrap="square" lIns="0" tIns="0" rIns="0" bIns="0" rtlCol="0" anchor="ctr">
            <a:normAutofit/>
          </a:bodyPr>
          <a:lstStyle/>
          <a:p>
            <a:pPr indent="0" marL="0">
              <a:buNone/>
            </a:pPr>
            <a:r>
              <a:rPr lang="ko-KR" altLang="en-US" sz="1730" b="1" dirty="0">
                <a:solidFill>
                  <a:srgbClr val="FFFFFF"/>
                </a:solidFill>
                <a:latin typeface="Noto Sans CJK KR" pitchFamily="34" charset="0"/>
                <a:ea typeface="Noto Sans CJK KR" pitchFamily="34" charset="-122"/>
                <a:cs typeface="Noto Sans CJK KR" pitchFamily="34" charset="-120"/>
              </a:rPr>
              <a:t>한 번에 한 단계씩</a:t>
            </a:r>
            <a:endParaRPr lang="ko-KR" sz="1730" dirty="0"/>
          </a:p>
        </p:txBody>
      </p:sp>
      <p:sp>
        <p:nvSpPr>
          <p:cNvPr id="30" name="text_73"/>
          <p:cNvSpPr/>
          <p:nvPr/>
        </p:nvSpPr>
        <p:spPr>
          <a:xfrm>
            <a:off x="8622792" y="4992624"/>
            <a:ext cx="2660904" cy="301752"/>
          </a:xfrm>
          <a:prstGeom prst="rect">
            <a:avLst/>
          </a:prstGeom>
          <a:noFill/>
          <a:ln/>
        </p:spPr>
        <p:txBody>
          <a:bodyPr wrap="square" lIns="0" tIns="0" rIns="0" bIns="0" rtlCol="0" anchor="ctr">
            <a:normAutofit/>
          </a:bodyPr>
          <a:lstStyle/>
          <a:p>
            <a:pPr indent="0" marL="0">
              <a:buNone/>
            </a:pPr>
            <a:r>
              <a:rPr lang="ko-KR" altLang="en-US" sz="1150" dirty="0">
                <a:solidFill>
                  <a:srgbClr val="BCD0D8"/>
                </a:solidFill>
                <a:latin typeface="Noto Sans CJK KR" pitchFamily="34" charset="0"/>
                <a:ea typeface="Noto Sans CJK KR" pitchFamily="34" charset="-122"/>
                <a:cs typeface="Noto Sans CJK KR" pitchFamily="34" charset="-120"/>
              </a:rPr>
              <a:t>한 화면의 선택과 정보 줄이기</a:t>
            </a:r>
            <a:endParaRPr lang="ko-KR" sz="1150" dirty="0"/>
          </a:p>
        </p:txBody>
      </p:sp>
      <p:sp>
        <p:nvSpPr>
          <p:cNvPr id="31" name="text_74">
            <a:hlinkClick r:id="rId2" tooltip="NIA 2025 디지털정보격차 실태조사 보고서"/>
          </p:cNvPr>
          <p:cNvSpPr/>
          <p:nvPr/>
        </p:nvSpPr>
        <p:spPr>
          <a:xfrm>
            <a:off x="576072" y="5888736"/>
            <a:ext cx="10972800" cy="201168"/>
          </a:xfrm>
          <a:prstGeom prst="rect">
            <a:avLst/>
          </a:prstGeom>
          <a:noFill/>
          <a:ln/>
        </p:spPr>
        <p:txBody>
          <a:bodyPr wrap="square" lIns="0" tIns="0" rIns="0" bIns="0" rtlCol="0" anchor="ctr">
            <a:normAutofit/>
          </a:bodyPr>
          <a:lstStyle/>
          <a:p>
            <a:pPr indent="0" marL="0">
              <a:buNone/>
            </a:pPr>
            <a:r>
              <a:rPr lang="ko-KR" altLang="en-US" sz="940" u="sng" dirty="0">
                <a:solidFill>
                  <a:srgbClr val="607582"/>
                </a:solidFill>
                <a:latin typeface="Noto Sans CJK KR" pitchFamily="34" charset="0"/>
                <a:ea typeface="Noto Sans CJK KR" pitchFamily="34" charset="-122"/>
                <a:cs typeface="Noto Sans CJK KR" pitchFamily="34" charset="-120"/>
                <a:hlinkClick r:id="rId2" invalidUrl="" action="" tgtFrame="" tooltip="NIA 2025 디지털정보격차 실태조사 보고서" history="1" highlightClick="0" endSnd="0">
                  <a:extLst>
                    <a:ext uri="{A12FA001-AC4F-418D-AE19-62706E023703}">
                      <ahyp:hlinkClr xmlns:ahyp="http://schemas.microsoft.com/office/drawing/2018/hyperlinkcolor" val="tx"/>
                    </a:ext>
                  </a:extLst>
                </a:hlinkClick>
              </a:rPr>
              <a:t>출처: 과학기술정보통신부·NIA, 「2025 디지털정보격차 실태조사」(2026.03 발표).</a:t>
            </a:r>
            <a:endParaRPr lang="ko-KR" sz="940" dirty="0"/>
          </a:p>
        </p:txBody>
      </p:sp>
      <p:sp>
        <p:nvSpPr>
          <p:cNvPr id="32" name="text_75"/>
          <p:cNvSpPr/>
          <p:nvPr/>
        </p:nvSpPr>
        <p:spPr>
          <a:xfrm>
            <a:off x="576072" y="6181344"/>
            <a:ext cx="10972800" cy="155448"/>
          </a:xfrm>
          <a:prstGeom prst="rect">
            <a:avLst/>
          </a:prstGeom>
          <a:noFill/>
          <a:ln/>
        </p:spPr>
        <p:txBody>
          <a:bodyPr wrap="square" lIns="0" tIns="0" rIns="0" bIns="0" rtlCol="0" anchor="ctr">
            <a:normAutofit/>
          </a:bodyPr>
          <a:lstStyle/>
          <a:p>
            <a:pPr indent="0" marL="0">
              <a:buNone/>
            </a:pPr>
            <a:r>
              <a:rPr lang="ko-KR" altLang="en-US" sz="830" dirty="0">
                <a:solidFill>
                  <a:srgbClr val="607582"/>
                </a:solidFill>
                <a:latin typeface="Noto Sans CJK KR" pitchFamily="34" charset="0"/>
                <a:ea typeface="Noto Sans CJK KR" pitchFamily="34" charset="-122"/>
                <a:cs typeface="Noto Sans CJK KR" pitchFamily="34" charset="-120"/>
              </a:rPr>
              <a:t>71.8은 사람의 비율·복지 신청률이 아님. 이 자료만으로 복지나침반의 효과나 이용 수요를 입증할 수는 없음.</a:t>
            </a:r>
            <a:endParaRPr lang="ko-KR" sz="830" dirty="0"/>
          </a:p>
        </p:txBody>
      </p:sp>
      <p:sp>
        <p:nvSpPr>
          <p:cNvPr id="33" name="TextBox 32">
            <a:hlinkClick action="ppaction://hlinksldjump" r:id="rId5"/>
          </p:cNvPr>
          <p:cNvSpPr txBox="1"/>
          <p:nvPr/>
        </p:nvSpPr>
        <p:spPr>
          <a:xfrm>
            <a:off x="8677656" y="6460236"/>
            <a:ext cx="1554480" cy="219456"/>
          </a:xfrm>
          <a:prstGeom prst="rect">
            <a:avLst/>
          </a:prstGeom>
          <a:noFill/>
        </p:spPr>
        <p:txBody>
          <a:bodyPr wrap="square" lIns="0" rIns="0" tIns="0" bIns="0" anchor="ctr">
            <a:noAutofit/>
          </a:bodyPr>
          <a:lstStyle/>
          <a:p>
            <a:pPr algn="r">
              <a:lnSpc>
                <a:spcPct val="112000"/>
              </a:lnSpc>
              <a:spcBef>
                <a:spcPts val="0"/>
              </a:spcBef>
              <a:spcAft>
                <a:spcPts val="0"/>
              </a:spcAft>
            </a:pPr>
            <a:r>
              <a:rPr sz="860" b="1" lang="ko-KR" dirty="0">
                <a:solidFill>
                  <a:srgbClr val="008979"/>
                </a:solidFill>
                <a:latin typeface="Noto Sans CJK KR"/>
                <a:ea typeface="Noto Sans CJK KR"/>
                <a:cs typeface="Noto Sans CJK KR"/>
              </a:rPr>
              <a:t>본문 마지막 장으로</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name="Slide 7">
    <p:bg>
      <p:bgPr>
        <a:solidFill>
          <a:srgbClr val="F5F8F8"/>
        </a:solidFill>
      </p:bgPr>
    </p:bg>
    <p:spTree>
      <p:nvGrpSpPr>
        <p:cNvPr id="1" name=""/>
        <p:cNvGrpSpPr/>
        <p:nvPr/>
      </p:nvGrpSpPr>
      <p:grpSpPr>
        <a:xfrm>
          <a:off x="0" y="0"/>
          <a:ext cx="0" cy="0"/>
          <a:chOff x="0" y="0"/>
          <a:chExt cx="0" cy="0"/>
        </a:xfrm>
      </p:grpSpPr>
      <p:sp>
        <p:nvSpPr>
          <p:cNvPr id="2" name="Compass"/>
          <p:cNvSpPr/>
          <p:nvPr/>
        </p:nvSpPr>
        <p:spPr>
          <a:xfrm>
            <a:off x="502920" y="292608"/>
            <a:ext cx="292608" cy="292608"/>
          </a:xfrm>
          <a:prstGeom prst="ellipse">
            <a:avLst/>
          </a:prstGeom>
          <a:solidFill>
            <a:srgbClr val="FFFFFF">
              <a:alpha val="0"/>
            </a:srgbClr>
          </a:solidFill>
          <a:ln w="22860">
            <a:solidFill>
              <a:srgbClr val="DDE7E8"/>
            </a:solidFill>
            <a:prstDash val="solid"/>
          </a:ln>
        </p:spPr>
        <p:txBody>
          <a:bodyPr/>
          <a:p/>
        </p:txBody>
      </p:sp>
      <p:sp>
        <p:nvSpPr>
          <p:cNvPr id="3" name="Compass"/>
          <p:cNvSpPr/>
          <p:nvPr/>
        </p:nvSpPr>
        <p:spPr>
          <a:xfrm rot="1500000">
            <a:off x="612648" y="326258"/>
            <a:ext cx="73152" cy="124358"/>
          </a:xfrm>
          <a:prstGeom prst="triangle">
            <a:avLst/>
          </a:prstGeom>
          <a:solidFill>
            <a:srgbClr val="008979"/>
          </a:solidFill>
          <a:ln w="12700">
            <a:solidFill>
              <a:srgbClr val="008979"/>
            </a:solidFill>
            <a:prstDash val="solid"/>
          </a:ln>
        </p:spPr>
        <p:txBody>
          <a:bodyPr/>
          <a:p/>
        </p:txBody>
      </p:sp>
      <p:sp>
        <p:nvSpPr>
          <p:cNvPr id="4" name="Compass"/>
          <p:cNvSpPr/>
          <p:nvPr/>
        </p:nvSpPr>
        <p:spPr>
          <a:xfrm rot="12300000">
            <a:off x="612648" y="435986"/>
            <a:ext cx="73152" cy="124358"/>
          </a:xfrm>
          <a:prstGeom prst="triangle">
            <a:avLst/>
          </a:prstGeom>
          <a:solidFill>
            <a:srgbClr val="17354C"/>
          </a:solidFill>
          <a:ln w="12700">
            <a:solidFill>
              <a:srgbClr val="17354C"/>
            </a:solidFill>
            <a:prstDash val="solid"/>
          </a:ln>
        </p:spPr>
        <p:txBody>
          <a:bodyPr/>
          <a:p/>
        </p:txBody>
      </p:sp>
      <p:sp>
        <p:nvSpPr>
          <p:cNvPr id="5" name="Compass"/>
          <p:cNvSpPr/>
          <p:nvPr/>
        </p:nvSpPr>
        <p:spPr>
          <a:xfrm>
            <a:off x="636057" y="425745"/>
            <a:ext cx="26335" cy="26335"/>
          </a:xfrm>
          <a:prstGeom prst="ellipse">
            <a:avLst/>
          </a:prstGeom>
          <a:solidFill>
            <a:srgbClr val="FFFFFF"/>
          </a:solidFill>
          <a:ln w="12700">
            <a:solidFill>
              <a:srgbClr val="FFFFFF"/>
            </a:solidFill>
            <a:prstDash val="solid"/>
          </a:ln>
        </p:spPr>
        <p:txBody>
          <a:bodyPr/>
          <a:p/>
        </p:txBody>
      </p:sp>
      <p:sp>
        <p:nvSpPr>
          <p:cNvPr id="6" name="TextBox 5"/>
          <p:cNvSpPr txBox="1"/>
          <p:nvPr/>
        </p:nvSpPr>
        <p:spPr>
          <a:xfrm>
            <a:off x="914400" y="292608"/>
            <a:ext cx="9601200" cy="274320"/>
          </a:xfrm>
          <a:prstGeom prst="rect">
            <a:avLst/>
          </a:prstGeom>
          <a:noFill/>
        </p:spPr>
        <p:txBody>
          <a:bodyPr wrap="square" lIns="0" rIns="0" tIns="0" bIns="0" anchor="ctr">
            <a:noAutofit/>
          </a:bodyPr>
          <a:lstStyle/>
          <a:p>
            <a:pPr algn="l">
              <a:lnSpc>
                <a:spcPct val="112000"/>
              </a:lnSpc>
              <a:spcBef>
                <a:spcPts val="0"/>
              </a:spcBef>
              <a:spcAft>
                <a:spcPts val="0"/>
              </a:spcAft>
            </a:pPr>
            <a:r>
              <a:rPr sz="1050" b="1" lang="ko-KR" dirty="0">
                <a:solidFill>
                  <a:srgbClr val="008979"/>
                </a:solidFill>
                <a:latin typeface="Noto Sans CJK KR"/>
                <a:ea typeface="Noto Sans CJK KR"/>
                <a:cs typeface="Noto Sans CJK KR"/>
              </a:rPr>
              <a:t>질의응답 04  ·  근거 자료</a:t>
            </a:r>
          </a:p>
        </p:txBody>
      </p:sp>
      <p:sp>
        <p:nvSpPr>
          <p:cNvPr id="7" name="TextBox 6"/>
          <p:cNvSpPr txBox="1"/>
          <p:nvPr/>
        </p:nvSpPr>
        <p:spPr>
          <a:xfrm>
            <a:off x="548640" y="896112"/>
            <a:ext cx="11045952" cy="640080"/>
          </a:xfrm>
          <a:prstGeom prst="rect">
            <a:avLst/>
          </a:prstGeom>
          <a:noFill/>
        </p:spPr>
        <p:txBody>
          <a:bodyPr wrap="square" lIns="0" rIns="0" tIns="0" bIns="0" anchor="ctr">
            <a:noAutofit/>
          </a:bodyPr>
          <a:lstStyle/>
          <a:p>
            <a:pPr algn="l">
              <a:lnSpc>
                <a:spcPct val="112000"/>
              </a:lnSpc>
              <a:spcBef>
                <a:spcPts val="0"/>
              </a:spcBef>
              <a:spcAft>
                <a:spcPts val="0"/>
              </a:spcAft>
            </a:pPr>
            <a:r>
              <a:rPr sz="3000" b="1" lang="ko-KR" dirty="0">
                <a:solidFill>
                  <a:srgbClr val="17354C"/>
                </a:solidFill>
                <a:latin typeface="Noto Sans CJK KR"/>
                <a:ea typeface="Noto Sans CJK KR"/>
                <a:cs typeface="Noto Sans CJK KR"/>
              </a:rPr>
              <a:t>자료 출처와 해석 범위</a:t>
            </a:r>
          </a:p>
        </p:txBody>
      </p:sp>
      <p:sp>
        <p:nvSpPr>
          <p:cNvPr id="8" name="TextBox 7"/>
          <p:cNvSpPr txBox="1"/>
          <p:nvPr/>
        </p:nvSpPr>
        <p:spPr>
          <a:xfrm>
            <a:off x="576072" y="1627632"/>
            <a:ext cx="10972800" cy="347472"/>
          </a:xfrm>
          <a:prstGeom prst="rect">
            <a:avLst/>
          </a:prstGeom>
          <a:noFill/>
        </p:spPr>
        <p:txBody>
          <a:bodyPr wrap="square" lIns="0" rIns="0" tIns="0" bIns="0" anchor="ctr">
            <a:noAutofit/>
          </a:bodyPr>
          <a:lstStyle/>
          <a:p>
            <a:pPr algn="l">
              <a:lnSpc>
                <a:spcPct val="112000"/>
              </a:lnSpc>
              <a:spcBef>
                <a:spcPts val="0"/>
              </a:spcBef>
              <a:spcAft>
                <a:spcPts val="0"/>
              </a:spcAft>
            </a:pPr>
            <a:r>
              <a:rPr sz="1420" b="0" lang="ko-KR" dirty="0">
                <a:solidFill>
                  <a:srgbClr val="607582"/>
                </a:solidFill>
                <a:latin typeface="Noto Sans CJK KR"/>
                <a:ea typeface="Noto Sans CJK KR"/>
                <a:cs typeface="Noto Sans CJK KR"/>
              </a:rPr>
              <a:t>외부 자료는 제목 클릭  ·  지역 이용 상황은 초기 기획 가설로 구분</a:t>
            </a:r>
          </a:p>
        </p:txBody>
      </p:sp>
      <p:cxnSp>
        <p:nvCxnSpPr>
          <p:cNvPr id="9" name="Connector 8"/>
          <p:cNvCxnSpPr/>
          <p:nvPr/>
        </p:nvCxnSpPr>
        <p:spPr>
          <a:xfrm>
            <a:off x="502920" y="6391656"/>
            <a:ext cx="11183112" cy="0"/>
          </a:xfrm>
          <a:prstGeom prst="line">
            <a:avLst/>
          </a:prstGeom>
          <a:ln w="8890">
            <a:solidFill>
              <a:srgbClr val="D9E4E5"/>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21207" y="6483096"/>
            <a:ext cx="6400800" cy="182880"/>
          </a:xfrm>
          <a:prstGeom prst="rect">
            <a:avLst/>
          </a:prstGeom>
          <a:noFill/>
        </p:spPr>
        <p:txBody>
          <a:bodyPr wrap="square" lIns="0" rIns="0" tIns="0" bIns="0" anchor="ctr">
            <a:noAutofit/>
          </a:bodyPr>
          <a:lstStyle/>
          <a:p>
            <a:pPr algn="l">
              <a:lnSpc>
                <a:spcPct val="112000"/>
              </a:lnSpc>
              <a:spcBef>
                <a:spcPts val="0"/>
              </a:spcBef>
              <a:spcAft>
                <a:spcPts val="0"/>
              </a:spcAft>
            </a:pPr>
            <a:r>
              <a:rPr sz="880" b="0" lang="ko-KR" dirty="0">
                <a:solidFill>
                  <a:srgbClr val="607582"/>
                </a:solidFill>
                <a:latin typeface="Noto Sans CJK KR"/>
                <a:ea typeface="Noto Sans CJK KR"/>
                <a:cs typeface="Noto Sans CJK KR"/>
              </a:rPr>
              <a:t>복지나침반  ·  질의응답 참고</a:t>
            </a:r>
          </a:p>
        </p:txBody>
      </p:sp>
      <p:sp>
        <p:nvSpPr>
          <p:cNvPr id="11" name="TextBox 10"/>
          <p:cNvSpPr txBox="1"/>
          <p:nvPr/>
        </p:nvSpPr>
        <p:spPr>
          <a:xfrm>
            <a:off x="10625328" y="6464808"/>
            <a:ext cx="1033271" cy="228600"/>
          </a:xfrm>
          <a:prstGeom prst="rect">
            <a:avLst/>
          </a:prstGeom>
          <a:noFill/>
        </p:spPr>
        <p:txBody>
          <a:bodyPr wrap="square" lIns="0" rIns="0" tIns="0" bIns="0" anchor="ctr">
            <a:noAutofit/>
          </a:bodyPr>
          <a:lstStyle/>
          <a:p>
            <a:pPr algn="r">
              <a:lnSpc>
                <a:spcPct val="112000"/>
              </a:lnSpc>
              <a:spcBef>
                <a:spcPts val="0"/>
              </a:spcBef>
              <a:spcAft>
                <a:spcPts val="0"/>
              </a:spcAft>
            </a:pPr>
            <a:r>
              <a:rPr sz="919" b="0" lang="ko-KR" dirty="0">
                <a:solidFill>
                  <a:srgbClr val="607582"/>
                </a:solidFill>
                <a:latin typeface="Noto Sans CJK KR"/>
                <a:ea typeface="Noto Sans CJK KR"/>
                <a:cs typeface="Noto Sans CJK KR"/>
              </a:rPr>
              <a:t>Q4 / 04</a:t>
            </a:r>
          </a:p>
        </p:txBody>
      </p:sp>
      <p:sp>
        <p:nvSpPr>
          <p:cNvPr id="12" name="Rounded Rectangle 11"/>
          <p:cNvSpPr/>
          <p:nvPr/>
        </p:nvSpPr>
        <p:spPr>
          <a:xfrm>
            <a:off x="548640" y="2185416"/>
            <a:ext cx="5422392" cy="1106424"/>
          </a:xfrm>
          <a:prstGeom prst="roundRect">
            <a:avLst>
              <a:gd name="adj" fmla="val 6000"/>
            </a:avLst>
          </a:prstGeom>
          <a:solidFill>
            <a:srgbClr val="FFFFFF"/>
          </a:solidFill>
          <a:ln w="10160">
            <a:solidFill>
              <a:srgbClr val="D9E4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 y="2295144"/>
            <a:ext cx="5029200" cy="182880"/>
          </a:xfrm>
          <a:prstGeom prst="rect">
            <a:avLst/>
          </a:prstGeom>
          <a:noFill/>
        </p:spPr>
        <p:txBody>
          <a:bodyPr wrap="square" lIns="0" rIns="0" tIns="0" bIns="0" anchor="ctr">
            <a:noAutofit/>
          </a:bodyPr>
          <a:lstStyle/>
          <a:p>
            <a:pPr algn="l">
              <a:lnSpc>
                <a:spcPct val="112000"/>
              </a:lnSpc>
              <a:spcBef>
                <a:spcPts val="0"/>
              </a:spcBef>
              <a:spcAft>
                <a:spcPts val="0"/>
              </a:spcAft>
            </a:pPr>
            <a:r>
              <a:rPr sz="919" b="1" lang="ko-KR" dirty="0">
                <a:solidFill>
                  <a:srgbClr val="008979"/>
                </a:solidFill>
                <a:latin typeface="Noto Sans CJK KR"/>
                <a:ea typeface="Noto Sans CJK KR"/>
                <a:cs typeface="Noto Sans CJK KR"/>
              </a:rPr>
              <a:t>01  지역에서 확인할 문제 · 기획</a:t>
            </a:r>
          </a:p>
        </p:txBody>
      </p:sp>
      <p:sp>
        <p:nvSpPr>
          <p:cNvPr id="14" name="TextBox 13"/>
          <p:cNvSpPr txBox="1"/>
          <p:nvPr/>
        </p:nvSpPr>
        <p:spPr>
          <a:xfrm>
            <a:off x="740664" y="2560320"/>
            <a:ext cx="5029200" cy="256032"/>
          </a:xfrm>
          <a:prstGeom prst="rect">
            <a:avLst/>
          </a:prstGeom>
          <a:noFill/>
        </p:spPr>
        <p:txBody>
          <a:bodyPr wrap="square" lIns="0" rIns="0" tIns="0" bIns="0" anchor="ctr">
            <a:noAutofit/>
          </a:bodyPr>
          <a:lstStyle/>
          <a:p>
            <a:pPr algn="l">
              <a:lnSpc>
                <a:spcPct val="112000"/>
              </a:lnSpc>
              <a:spcBef>
                <a:spcPts val="0"/>
              </a:spcBef>
              <a:spcAft>
                <a:spcPts val="0"/>
              </a:spcAft>
            </a:pPr>
            <a:r>
              <a:rPr sz="1340" b="1" lang="ko-KR" dirty="0">
                <a:solidFill>
                  <a:srgbClr val="17354C"/>
                </a:solidFill>
                <a:latin typeface="Noto Sans CJK KR"/>
                <a:ea typeface="Noto Sans CJK KR"/>
                <a:cs typeface="Noto Sans CJK KR"/>
              </a:rPr>
              <a:t>월계1동 초기 사용자·이용 상황</a:t>
            </a:r>
          </a:p>
        </p:txBody>
      </p:sp>
      <p:sp>
        <p:nvSpPr>
          <p:cNvPr id="15" name="TextBox 14"/>
          <p:cNvSpPr txBox="1"/>
          <p:nvPr/>
        </p:nvSpPr>
        <p:spPr>
          <a:xfrm>
            <a:off x="740664" y="2898648"/>
            <a:ext cx="5020056" cy="301752"/>
          </a:xfrm>
          <a:prstGeom prst="rect">
            <a:avLst/>
          </a:prstGeom>
          <a:noFill/>
        </p:spPr>
        <p:txBody>
          <a:bodyPr wrap="square" lIns="0" rIns="0" tIns="0" bIns="0" anchor="ctr">
            <a:noAutofit/>
          </a:bodyPr>
          <a:lstStyle/>
          <a:p>
            <a:pPr algn="l">
              <a:lnSpc>
                <a:spcPct val="112000"/>
              </a:lnSpc>
              <a:spcBef>
                <a:spcPts val="0"/>
              </a:spcBef>
              <a:spcAft>
                <a:spcPts val="0"/>
              </a:spcAft>
            </a:pPr>
            <a:r>
              <a:rPr sz="930" b="0" lang="ko-KR" dirty="0">
                <a:solidFill>
                  <a:srgbClr val="607582"/>
                </a:solidFill>
                <a:latin typeface="Noto Sans CJK KR"/>
                <a:ea typeface="Noto Sans CJK KR"/>
                <a:cs typeface="Noto Sans CJK KR"/>
              </a:rPr>
              <a:t>어르신·청년·유학생의 공고 탐색과 조건 이해</a:t>
            </a:r>
          </a:p>
          <a:p>
            <a:pPr algn="l">
              <a:lnSpc>
                <a:spcPct val="112000"/>
              </a:lnSpc>
              <a:spcBef>
                <a:spcPts val="0"/>
              </a:spcBef>
              <a:spcAft>
                <a:spcPts val="0"/>
              </a:spcAft>
            </a:pPr>
            <a:r>
              <a:rPr sz="930" b="0" lang="ko-KR" dirty="0">
                <a:solidFill>
                  <a:srgbClr val="607582"/>
                </a:solidFill>
                <a:latin typeface="Noto Sans CJK KR"/>
                <a:ea typeface="Noto Sans CJK KR"/>
                <a:cs typeface="Noto Sans CJK KR"/>
              </a:rPr>
              <a:t>인터뷰 전 가설 · 인구 비중의 근거는 아님</a:t>
            </a:r>
          </a:p>
        </p:txBody>
      </p:sp>
      <p:sp>
        <p:nvSpPr>
          <p:cNvPr id="16" name="Rounded Rectangle 15"/>
          <p:cNvSpPr/>
          <p:nvPr/>
        </p:nvSpPr>
        <p:spPr>
          <a:xfrm>
            <a:off x="6217920" y="2185416"/>
            <a:ext cx="5422392" cy="1106424"/>
          </a:xfrm>
          <a:prstGeom prst="roundRect">
            <a:avLst>
              <a:gd name="adj" fmla="val 6000"/>
            </a:avLst>
          </a:prstGeom>
          <a:solidFill>
            <a:srgbClr val="FFFFFF"/>
          </a:solidFill>
          <a:ln w="10160">
            <a:solidFill>
              <a:srgbClr val="D9E4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2295144"/>
            <a:ext cx="5029200" cy="182880"/>
          </a:xfrm>
          <a:prstGeom prst="rect">
            <a:avLst/>
          </a:prstGeom>
          <a:noFill/>
        </p:spPr>
        <p:txBody>
          <a:bodyPr wrap="square" lIns="0" rIns="0" tIns="0" bIns="0" anchor="ctr">
            <a:noAutofit/>
          </a:bodyPr>
          <a:lstStyle/>
          <a:p>
            <a:pPr algn="l">
              <a:lnSpc>
                <a:spcPct val="112000"/>
              </a:lnSpc>
              <a:spcBef>
                <a:spcPts val="0"/>
              </a:spcBef>
              <a:spcAft>
                <a:spcPts val="0"/>
              </a:spcAft>
            </a:pPr>
            <a:r>
              <a:rPr sz="1030" b="1" lang="ko-KR" dirty="0">
                <a:solidFill>
                  <a:srgbClr val="008979"/>
                </a:solidFill>
                <a:latin typeface="Noto Sans CJK KR"/>
                <a:ea typeface="Noto Sans CJK KR"/>
                <a:cs typeface="Noto Sans CJK KR"/>
              </a:rPr>
              <a:t>02  발표 흐름·팀명 설명의 바탕</a:t>
            </a:r>
          </a:p>
        </p:txBody>
      </p:sp>
      <p:sp>
        <p:nvSpPr>
          <p:cNvPr id="18" name="TextBox 17"/>
          <p:cNvSpPr txBox="1"/>
          <p:nvPr/>
        </p:nvSpPr>
        <p:spPr>
          <a:xfrm>
            <a:off x="6409944" y="2560320"/>
            <a:ext cx="5029200" cy="256032"/>
          </a:xfrm>
          <a:prstGeom prst="rect">
            <a:avLst/>
          </a:prstGeom>
          <a:noFill/>
        </p:spPr>
        <p:txBody>
          <a:bodyPr wrap="square" lIns="0" rIns="0" tIns="0" bIns="0" anchor="ctr">
            <a:noAutofit/>
          </a:bodyPr>
          <a:lstStyle/>
          <a:p>
            <a:pPr algn="l">
              <a:lnSpc>
                <a:spcPct val="112000"/>
              </a:lnSpc>
              <a:spcBef>
                <a:spcPts val="0"/>
              </a:spcBef>
              <a:spcAft>
                <a:spcPts val="0"/>
              </a:spcAft>
            </a:pPr>
            <a:r>
              <a:rPr sz="1450" b="1" lang="ko-KR" dirty="0">
                <a:solidFill>
                  <a:srgbClr val="17354C"/>
                </a:solidFill>
                <a:latin typeface="Noto Sans CJK KR"/>
                <a:ea typeface="Noto Sans CJK KR"/>
                <a:cs typeface="Noto Sans CJK KR"/>
              </a:rPr>
              <a:t>발표자 초안 · 「1장.docx」</a:t>
            </a:r>
          </a:p>
        </p:txBody>
      </p:sp>
      <p:sp>
        <p:nvSpPr>
          <p:cNvPr id="19" name="TextBox 18"/>
          <p:cNvSpPr txBox="1"/>
          <p:nvPr/>
        </p:nvSpPr>
        <p:spPr>
          <a:xfrm>
            <a:off x="6409944" y="2898648"/>
            <a:ext cx="5020056" cy="301752"/>
          </a:xfrm>
          <a:prstGeom prst="rect">
            <a:avLst/>
          </a:prstGeom>
          <a:noFill/>
        </p:spPr>
        <p:txBody>
          <a:bodyPr wrap="square" lIns="0" rIns="0" tIns="0" bIns="0" anchor="ctr">
            <a:noAutofit/>
          </a:bodyPr>
          <a:lstStyle/>
          <a:p>
            <a:pPr algn="l">
              <a:lnSpc>
                <a:spcPct val="112000"/>
              </a:lnSpc>
              <a:spcBef>
                <a:spcPts val="0"/>
              </a:spcBef>
              <a:spcAft>
                <a:spcPts val="0"/>
              </a:spcAft>
            </a:pPr>
            <a:r>
              <a:rPr sz="969" b="0" lang="ko-KR" dirty="0">
                <a:solidFill>
                  <a:srgbClr val="607582"/>
                </a:solidFill>
                <a:latin typeface="Noto Sans CJK KR"/>
                <a:ea typeface="Noto Sans CJK KR"/>
                <a:cs typeface="Noto Sans CJK KR"/>
              </a:rPr>
              <a:t>발표자의 문장 흐름을 유지해 순서·분량 조정</a:t>
            </a:r>
          </a:p>
          <a:p>
            <a:pPr algn="l">
              <a:lnSpc>
                <a:spcPct val="112000"/>
              </a:lnSpc>
              <a:spcBef>
                <a:spcPts val="0"/>
              </a:spcBef>
              <a:spcAft>
                <a:spcPts val="0"/>
              </a:spcAft>
            </a:pPr>
            <a:r>
              <a:rPr sz="969" b="0" lang="ko-KR" dirty="0">
                <a:solidFill>
                  <a:srgbClr val="607582"/>
                </a:solidFill>
                <a:latin typeface="Noto Sans CJK KR"/>
                <a:ea typeface="Noto Sans CJK KR"/>
                <a:cs typeface="Noto Sans CJK KR"/>
              </a:rPr>
              <a:t>통계 해석은 조사 대상 범위로 바로잡음</a:t>
            </a:r>
          </a:p>
        </p:txBody>
      </p:sp>
      <p:sp>
        <p:nvSpPr>
          <p:cNvPr id="20" name="Rounded Rectangle 19"/>
          <p:cNvSpPr/>
          <p:nvPr/>
        </p:nvSpPr>
        <p:spPr>
          <a:xfrm>
            <a:off x="548640" y="3456432"/>
            <a:ext cx="5422392" cy="1106424"/>
          </a:xfrm>
          <a:prstGeom prst="roundRect">
            <a:avLst>
              <a:gd name="adj" fmla="val 6000"/>
            </a:avLst>
          </a:prstGeom>
          <a:solidFill>
            <a:srgbClr val="FFFFFF"/>
          </a:solidFill>
          <a:ln w="10160">
            <a:solidFill>
              <a:srgbClr val="D9E4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0664" y="3566160"/>
            <a:ext cx="5029200" cy="182880"/>
          </a:xfrm>
          <a:prstGeom prst="rect">
            <a:avLst/>
          </a:prstGeom>
          <a:noFill/>
        </p:spPr>
        <p:txBody>
          <a:bodyPr wrap="square" lIns="0" rIns="0" tIns="0" bIns="0" anchor="ctr">
            <a:noAutofit/>
          </a:bodyPr>
          <a:lstStyle/>
          <a:p>
            <a:pPr algn="l">
              <a:lnSpc>
                <a:spcPct val="112000"/>
              </a:lnSpc>
              <a:spcBef>
                <a:spcPts val="0"/>
              </a:spcBef>
              <a:spcAft>
                <a:spcPts val="0"/>
              </a:spcAft>
            </a:pPr>
            <a:r>
              <a:rPr sz="919" b="1" lang="ko-KR" dirty="0">
                <a:solidFill>
                  <a:srgbClr val="008979"/>
                </a:solidFill>
                <a:latin typeface="Noto Sans CJK KR"/>
                <a:ea typeface="Noto Sans CJK KR"/>
                <a:cs typeface="Noto Sans CJK KR"/>
              </a:rPr>
              <a:t>03  복지정보 미인지 사례</a:t>
            </a:r>
          </a:p>
        </p:txBody>
      </p:sp>
      <p:sp>
        <p:nvSpPr>
          <p:cNvPr id="22" name="TextBox 21"/>
          <p:cNvSpPr txBox="1"/>
          <p:nvPr/>
        </p:nvSpPr>
        <p:spPr>
          <a:xfrm>
            <a:off x="740664" y="3831336"/>
            <a:ext cx="5029200" cy="256032"/>
          </a:xfrm>
          <a:prstGeom prst="rect">
            <a:avLst/>
          </a:prstGeom>
          <a:noFill/>
        </p:spPr>
        <p:txBody>
          <a:bodyPr wrap="square" lIns="0" rIns="0" tIns="0" bIns="0" anchor="ctr">
            <a:noAutofit/>
          </a:bodyPr>
          <a:lstStyle/>
          <a:p>
            <a:pPr algn="l">
              <a:lnSpc>
                <a:spcPct val="112000"/>
              </a:lnSpc>
              <a:spcBef>
                <a:spcPts val="0"/>
              </a:spcBef>
              <a:spcAft>
                <a:spcPts val="0"/>
              </a:spcAft>
            </a:pPr>
            <a:r>
              <a:rPr sz="1340" b="1" lang="ko-KR" dirty="0">
                <a:solidFill>
                  <a:srgbClr val="17354C"/>
                </a:solidFill>
                <a:latin typeface="Noto Sans CJK KR"/>
                <a:ea typeface="Noto Sans CJK KR"/>
                <a:cs typeface="Noto Sans CJK KR"/>
                <a:hlinkClick r:id="rId1"/>
              </a:rPr>
              <a:t>경기복지재단 · 가족돌봄청(소)년 조사</a:t>
            </a:r>
          </a:p>
        </p:txBody>
      </p:sp>
      <p:sp>
        <p:nvSpPr>
          <p:cNvPr id="23" name="TextBox 22"/>
          <p:cNvSpPr txBox="1"/>
          <p:nvPr/>
        </p:nvSpPr>
        <p:spPr>
          <a:xfrm>
            <a:off x="740664" y="4169664"/>
            <a:ext cx="5020056" cy="301752"/>
          </a:xfrm>
          <a:prstGeom prst="rect">
            <a:avLst/>
          </a:prstGeom>
          <a:noFill/>
        </p:spPr>
        <p:txBody>
          <a:bodyPr wrap="square" lIns="0" rIns="0" tIns="0" bIns="0" anchor="ctr">
            <a:noAutofit/>
          </a:bodyPr>
          <a:lstStyle/>
          <a:p>
            <a:pPr algn="l">
              <a:lnSpc>
                <a:spcPct val="112000"/>
              </a:lnSpc>
              <a:spcBef>
                <a:spcPts val="0"/>
              </a:spcBef>
              <a:spcAft>
                <a:spcPts val="0"/>
              </a:spcAft>
            </a:pPr>
            <a:r>
              <a:rPr sz="930" b="0" lang="ko-KR" dirty="0">
                <a:solidFill>
                  <a:srgbClr val="607582"/>
                </a:solidFill>
                <a:latin typeface="Noto Sans CJK KR"/>
                <a:ea typeface="Noto Sans CJK KR"/>
                <a:cs typeface="Noto Sans CJK KR"/>
              </a:rPr>
              <a:t>2024년 경기도 특정 집단의 미이용 사유 43.5%</a:t>
            </a:r>
          </a:p>
          <a:p>
            <a:pPr algn="l">
              <a:lnSpc>
                <a:spcPct val="112000"/>
              </a:lnSpc>
              <a:spcBef>
                <a:spcPts val="0"/>
              </a:spcBef>
              <a:spcAft>
                <a:spcPts val="0"/>
              </a:spcAft>
            </a:pPr>
            <a:r>
              <a:rPr sz="930" b="0" lang="ko-KR" dirty="0">
                <a:solidFill>
                  <a:srgbClr val="607582"/>
                </a:solidFill>
                <a:latin typeface="Noto Sans CJK KR"/>
                <a:ea typeface="Noto Sans CJK KR"/>
                <a:cs typeface="Noto Sans CJK KR"/>
              </a:rPr>
              <a:t>월계1동 또는 전체 국민의 미수급률이 아님</a:t>
            </a:r>
          </a:p>
        </p:txBody>
      </p:sp>
      <p:sp>
        <p:nvSpPr>
          <p:cNvPr id="24" name="Rounded Rectangle 23"/>
          <p:cNvSpPr/>
          <p:nvPr/>
        </p:nvSpPr>
        <p:spPr>
          <a:xfrm>
            <a:off x="6217920" y="3456432"/>
            <a:ext cx="5422392" cy="1106424"/>
          </a:xfrm>
          <a:prstGeom prst="roundRect">
            <a:avLst>
              <a:gd name="adj" fmla="val 6000"/>
            </a:avLst>
          </a:prstGeom>
          <a:solidFill>
            <a:srgbClr val="FFFFFF"/>
          </a:solidFill>
          <a:ln w="10160">
            <a:solidFill>
              <a:srgbClr val="D9E4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9944" y="3566160"/>
            <a:ext cx="5029200" cy="182880"/>
          </a:xfrm>
          <a:prstGeom prst="rect">
            <a:avLst/>
          </a:prstGeom>
          <a:noFill/>
        </p:spPr>
        <p:txBody>
          <a:bodyPr wrap="square" lIns="0" rIns="0" tIns="0" bIns="0" anchor="ctr">
            <a:noAutofit/>
          </a:bodyPr>
          <a:lstStyle/>
          <a:p>
            <a:pPr algn="l">
              <a:lnSpc>
                <a:spcPct val="112000"/>
              </a:lnSpc>
              <a:spcBef>
                <a:spcPts val="0"/>
              </a:spcBef>
              <a:spcAft>
                <a:spcPts val="0"/>
              </a:spcAft>
            </a:pPr>
            <a:r>
              <a:rPr sz="919" b="1" lang="ko-KR" dirty="0">
                <a:solidFill>
                  <a:srgbClr val="008979"/>
                </a:solidFill>
                <a:latin typeface="Noto Sans CJK KR"/>
                <a:ea typeface="Noto Sans CJK KR"/>
                <a:cs typeface="Noto Sans CJK KR"/>
              </a:rPr>
              <a:t>04  쉬운 화면의 배경</a:t>
            </a:r>
          </a:p>
        </p:txBody>
      </p:sp>
      <p:sp>
        <p:nvSpPr>
          <p:cNvPr id="26" name="TextBox 25"/>
          <p:cNvSpPr txBox="1"/>
          <p:nvPr/>
        </p:nvSpPr>
        <p:spPr>
          <a:xfrm>
            <a:off x="6409944" y="3831336"/>
            <a:ext cx="5029200" cy="256032"/>
          </a:xfrm>
          <a:prstGeom prst="rect">
            <a:avLst/>
          </a:prstGeom>
          <a:noFill/>
        </p:spPr>
        <p:txBody>
          <a:bodyPr wrap="square" lIns="0" rIns="0" tIns="0" bIns="0" anchor="ctr">
            <a:noAutofit/>
          </a:bodyPr>
          <a:lstStyle/>
          <a:p>
            <a:pPr algn="l">
              <a:lnSpc>
                <a:spcPct val="112000"/>
              </a:lnSpc>
              <a:spcBef>
                <a:spcPts val="0"/>
              </a:spcBef>
              <a:spcAft>
                <a:spcPts val="0"/>
              </a:spcAft>
            </a:pPr>
            <a:r>
              <a:rPr sz="1340" b="1" lang="ko-KR" dirty="0">
                <a:solidFill>
                  <a:srgbClr val="17354C"/>
                </a:solidFill>
                <a:latin typeface="Noto Sans CJK KR"/>
                <a:ea typeface="Noto Sans CJK KR"/>
                <a:cs typeface="Noto Sans CJK KR"/>
                <a:hlinkClick r:id="rId2"/>
              </a:rPr>
              <a:t>과기정통부·NIA · 2025 디지털정보격차</a:t>
            </a:r>
          </a:p>
        </p:txBody>
      </p:sp>
      <p:sp>
        <p:nvSpPr>
          <p:cNvPr id="27" name="TextBox 26"/>
          <p:cNvSpPr txBox="1"/>
          <p:nvPr/>
        </p:nvSpPr>
        <p:spPr>
          <a:xfrm>
            <a:off x="6409944" y="4169664"/>
            <a:ext cx="5020056" cy="301752"/>
          </a:xfrm>
          <a:prstGeom prst="rect">
            <a:avLst/>
          </a:prstGeom>
          <a:noFill/>
        </p:spPr>
        <p:txBody>
          <a:bodyPr wrap="square" lIns="0" rIns="0" tIns="0" bIns="0" anchor="ctr">
            <a:noAutofit/>
          </a:bodyPr>
          <a:lstStyle/>
          <a:p>
            <a:pPr algn="l">
              <a:lnSpc>
                <a:spcPct val="112000"/>
              </a:lnSpc>
              <a:spcBef>
                <a:spcPts val="0"/>
              </a:spcBef>
              <a:spcAft>
                <a:spcPts val="0"/>
              </a:spcAft>
            </a:pPr>
            <a:r>
              <a:rPr sz="930" b="0" lang="ko-KR" dirty="0">
                <a:solidFill>
                  <a:srgbClr val="607582"/>
                </a:solidFill>
                <a:latin typeface="Noto Sans CJK KR"/>
                <a:ea typeface="Noto Sans CJK KR"/>
                <a:cs typeface="Noto Sans CJK KR"/>
              </a:rPr>
              <a:t>일반 국민 100 대비 고령층의 상대 수준 71.8</a:t>
            </a:r>
          </a:p>
          <a:p>
            <a:pPr algn="l">
              <a:lnSpc>
                <a:spcPct val="112000"/>
              </a:lnSpc>
              <a:spcBef>
                <a:spcPts val="0"/>
              </a:spcBef>
              <a:spcAft>
                <a:spcPts val="0"/>
              </a:spcAft>
            </a:pPr>
            <a:r>
              <a:rPr sz="930" b="0" lang="ko-KR" dirty="0">
                <a:solidFill>
                  <a:srgbClr val="607582"/>
                </a:solidFill>
                <a:latin typeface="Noto Sans CJK KR"/>
                <a:ea typeface="Noto Sans CJK KR"/>
                <a:cs typeface="Noto Sans CJK KR"/>
              </a:rPr>
              <a:t>사람의 비율·복지 신청률·서비스 효과는 아님</a:t>
            </a:r>
          </a:p>
        </p:txBody>
      </p:sp>
      <p:sp>
        <p:nvSpPr>
          <p:cNvPr id="28" name="Rounded Rectangle 27"/>
          <p:cNvSpPr/>
          <p:nvPr/>
        </p:nvSpPr>
        <p:spPr>
          <a:xfrm>
            <a:off x="548640" y="4727448"/>
            <a:ext cx="5422392" cy="1106424"/>
          </a:xfrm>
          <a:prstGeom prst="roundRect">
            <a:avLst>
              <a:gd name="adj" fmla="val 6000"/>
            </a:avLst>
          </a:prstGeom>
          <a:solidFill>
            <a:srgbClr val="FFFFFF"/>
          </a:solidFill>
          <a:ln w="10160">
            <a:solidFill>
              <a:srgbClr val="D9E4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0664" y="4837176"/>
            <a:ext cx="5029200" cy="182880"/>
          </a:xfrm>
          <a:prstGeom prst="rect">
            <a:avLst/>
          </a:prstGeom>
          <a:noFill/>
        </p:spPr>
        <p:txBody>
          <a:bodyPr wrap="square" lIns="0" rIns="0" tIns="0" bIns="0" anchor="ctr">
            <a:noAutofit/>
          </a:bodyPr>
          <a:lstStyle/>
          <a:p>
            <a:pPr algn="l">
              <a:lnSpc>
                <a:spcPct val="112000"/>
              </a:lnSpc>
              <a:spcBef>
                <a:spcPts val="0"/>
              </a:spcBef>
              <a:spcAft>
                <a:spcPts val="0"/>
              </a:spcAft>
            </a:pPr>
            <a:r>
              <a:rPr sz="919" b="1" lang="ko-KR" dirty="0">
                <a:solidFill>
                  <a:srgbClr val="008979"/>
                </a:solidFill>
                <a:latin typeface="Noto Sans CJK KR"/>
                <a:ea typeface="Noto Sans CJK KR"/>
                <a:cs typeface="Noto Sans CJK KR"/>
              </a:rPr>
              <a:t>05  복지로의 제공 기능</a:t>
            </a:r>
          </a:p>
        </p:txBody>
      </p:sp>
      <p:sp>
        <p:nvSpPr>
          <p:cNvPr id="30" name="TextBox 29"/>
          <p:cNvSpPr txBox="1"/>
          <p:nvPr/>
        </p:nvSpPr>
        <p:spPr>
          <a:xfrm>
            <a:off x="740664" y="5102352"/>
            <a:ext cx="5029200" cy="256032"/>
          </a:xfrm>
          <a:prstGeom prst="rect">
            <a:avLst/>
          </a:prstGeom>
          <a:noFill/>
        </p:spPr>
        <p:txBody>
          <a:bodyPr wrap="square" lIns="0" rIns="0" tIns="0" bIns="0" anchor="ctr">
            <a:noAutofit/>
          </a:bodyPr>
          <a:lstStyle/>
          <a:p>
            <a:pPr algn="l">
              <a:lnSpc>
                <a:spcPct val="112000"/>
              </a:lnSpc>
              <a:spcBef>
                <a:spcPts val="0"/>
              </a:spcBef>
              <a:spcAft>
                <a:spcPts val="0"/>
              </a:spcAft>
            </a:pPr>
            <a:r>
              <a:rPr sz="1340" b="1" lang="ko-KR" dirty="0">
                <a:solidFill>
                  <a:srgbClr val="17354C"/>
                </a:solidFill>
                <a:latin typeface="Noto Sans CJK KR"/>
                <a:ea typeface="Noto Sans CJK KR"/>
                <a:cs typeface="Noto Sans CJK KR"/>
                <a:hlinkClick r:id="rId8"/>
              </a:rPr>
              <a:t>복지로 · 서비스 소개</a:t>
            </a:r>
          </a:p>
        </p:txBody>
      </p:sp>
      <p:sp>
        <p:nvSpPr>
          <p:cNvPr id="31" name="TextBox 30"/>
          <p:cNvSpPr txBox="1"/>
          <p:nvPr/>
        </p:nvSpPr>
        <p:spPr>
          <a:xfrm>
            <a:off x="740664" y="5440680"/>
            <a:ext cx="5020056" cy="301752"/>
          </a:xfrm>
          <a:prstGeom prst="rect">
            <a:avLst/>
          </a:prstGeom>
          <a:noFill/>
        </p:spPr>
        <p:txBody>
          <a:bodyPr wrap="square" lIns="0" rIns="0" tIns="0" bIns="0" anchor="ctr">
            <a:noAutofit/>
          </a:bodyPr>
          <a:lstStyle/>
          <a:p>
            <a:pPr algn="l">
              <a:lnSpc>
                <a:spcPct val="112000"/>
              </a:lnSpc>
              <a:spcBef>
                <a:spcPts val="0"/>
              </a:spcBef>
              <a:spcAft>
                <a:spcPts val="0"/>
              </a:spcAft>
            </a:pPr>
            <a:r>
              <a:rPr sz="930" b="0" lang="ko-KR" dirty="0">
                <a:solidFill>
                  <a:srgbClr val="607582"/>
                </a:solidFill>
                <a:latin typeface="Noto Sans CJK KR"/>
                <a:ea typeface="Noto Sans CJK KR"/>
                <a:cs typeface="Noto Sans CJK KR"/>
              </a:rPr>
              <a:t>중앙·지자체·민간 검색, 모의계산, 온라인 신청</a:t>
            </a:r>
          </a:p>
          <a:p>
            <a:pPr algn="l">
              <a:lnSpc>
                <a:spcPct val="112000"/>
              </a:lnSpc>
              <a:spcBef>
                <a:spcPts val="0"/>
              </a:spcBef>
              <a:spcAft>
                <a:spcPts val="0"/>
              </a:spcAft>
            </a:pPr>
            <a:r>
              <a:rPr sz="930" b="0" lang="ko-KR" dirty="0">
                <a:solidFill>
                  <a:srgbClr val="607582"/>
                </a:solidFill>
                <a:latin typeface="Noto Sans CJK KR"/>
                <a:ea typeface="Noto Sans CJK KR"/>
                <a:cs typeface="Noto Sans CJK KR"/>
              </a:rPr>
              <a:t>복지로 전체와 복지멤버십 안내 범위를 구분</a:t>
            </a:r>
          </a:p>
        </p:txBody>
      </p:sp>
      <p:sp>
        <p:nvSpPr>
          <p:cNvPr id="32" name="Rounded Rectangle 31"/>
          <p:cNvSpPr/>
          <p:nvPr/>
        </p:nvSpPr>
        <p:spPr>
          <a:xfrm>
            <a:off x="6217920" y="4727448"/>
            <a:ext cx="5422392" cy="1106424"/>
          </a:xfrm>
          <a:prstGeom prst="roundRect">
            <a:avLst>
              <a:gd name="adj" fmla="val 6000"/>
            </a:avLst>
          </a:prstGeom>
          <a:solidFill>
            <a:srgbClr val="FFFFFF"/>
          </a:solidFill>
          <a:ln w="10160">
            <a:solidFill>
              <a:srgbClr val="D9E4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9944" y="4837176"/>
            <a:ext cx="5029200" cy="182880"/>
          </a:xfrm>
          <a:prstGeom prst="rect">
            <a:avLst/>
          </a:prstGeom>
          <a:noFill/>
        </p:spPr>
        <p:txBody>
          <a:bodyPr wrap="square" lIns="0" rIns="0" tIns="0" bIns="0" anchor="ctr">
            <a:noAutofit/>
          </a:bodyPr>
          <a:lstStyle/>
          <a:p>
            <a:pPr algn="l">
              <a:lnSpc>
                <a:spcPct val="112000"/>
              </a:lnSpc>
              <a:spcBef>
                <a:spcPts val="0"/>
              </a:spcBef>
              <a:spcAft>
                <a:spcPts val="0"/>
              </a:spcAft>
            </a:pPr>
            <a:r>
              <a:rPr sz="919" b="1" lang="ko-KR" dirty="0">
                <a:solidFill>
                  <a:srgbClr val="008979"/>
                </a:solidFill>
                <a:latin typeface="Noto Sans CJK KR"/>
                <a:ea typeface="Noto Sans CJK KR"/>
                <a:cs typeface="Noto Sans CJK KR"/>
              </a:rPr>
              <a:t>06  복지멤버십의 맞춤 안내</a:t>
            </a:r>
          </a:p>
        </p:txBody>
      </p:sp>
      <p:sp>
        <p:nvSpPr>
          <p:cNvPr id="34" name="TextBox 33"/>
          <p:cNvSpPr txBox="1"/>
          <p:nvPr/>
        </p:nvSpPr>
        <p:spPr>
          <a:xfrm>
            <a:off x="6409944" y="5102352"/>
            <a:ext cx="5029200" cy="256032"/>
          </a:xfrm>
          <a:prstGeom prst="rect">
            <a:avLst/>
          </a:prstGeom>
          <a:noFill/>
        </p:spPr>
        <p:txBody>
          <a:bodyPr wrap="square" lIns="0" rIns="0" tIns="0" bIns="0" anchor="ctr">
            <a:noAutofit/>
          </a:bodyPr>
          <a:lstStyle/>
          <a:p>
            <a:pPr algn="l">
              <a:lnSpc>
                <a:spcPct val="112000"/>
              </a:lnSpc>
              <a:spcBef>
                <a:spcPts val="0"/>
              </a:spcBef>
              <a:spcAft>
                <a:spcPts val="0"/>
              </a:spcAft>
            </a:pPr>
            <a:r>
              <a:rPr sz="1340" b="1" lang="ko-KR" dirty="0">
                <a:solidFill>
                  <a:srgbClr val="17354C"/>
                </a:solidFill>
                <a:latin typeface="Noto Sans CJK KR"/>
                <a:ea typeface="Noto Sans CJK KR"/>
                <a:cs typeface="Noto Sans CJK KR"/>
                <a:hlinkClick r:id="rId9"/>
              </a:rPr>
              <a:t>보건복지부 · 2026.6.24 발표</a:t>
            </a:r>
          </a:p>
        </p:txBody>
      </p:sp>
      <p:sp>
        <p:nvSpPr>
          <p:cNvPr id="35" name="TextBox 34"/>
          <p:cNvSpPr txBox="1"/>
          <p:nvPr/>
        </p:nvSpPr>
        <p:spPr>
          <a:xfrm>
            <a:off x="6409944" y="5440680"/>
            <a:ext cx="5020056" cy="301752"/>
          </a:xfrm>
          <a:prstGeom prst="rect">
            <a:avLst/>
          </a:prstGeom>
          <a:noFill/>
        </p:spPr>
        <p:txBody>
          <a:bodyPr wrap="square" lIns="0" rIns="0" tIns="0" bIns="0" anchor="ctr">
            <a:noAutofit/>
          </a:bodyPr>
          <a:lstStyle/>
          <a:p>
            <a:pPr algn="l">
              <a:lnSpc>
                <a:spcPct val="112000"/>
              </a:lnSpc>
              <a:spcBef>
                <a:spcPts val="0"/>
              </a:spcBef>
              <a:spcAft>
                <a:spcPts val="0"/>
              </a:spcAft>
            </a:pPr>
            <a:r>
              <a:rPr sz="930" b="0" lang="ko-KR" dirty="0">
                <a:solidFill>
                  <a:srgbClr val="607582"/>
                </a:solidFill>
                <a:latin typeface="Noto Sans CJK KR"/>
                <a:ea typeface="Noto Sans CJK KR"/>
                <a:cs typeface="Noto Sans CJK KR"/>
              </a:rPr>
              <a:t>공적자료 기반 안내, 최신 소득·재산 연 2회 반영</a:t>
            </a:r>
          </a:p>
          <a:p>
            <a:pPr algn="l">
              <a:lnSpc>
                <a:spcPct val="112000"/>
              </a:lnSpc>
              <a:spcBef>
                <a:spcPts val="0"/>
              </a:spcBef>
              <a:spcAft>
                <a:spcPts val="0"/>
              </a:spcAft>
            </a:pPr>
            <a:r>
              <a:rPr sz="930" b="0" lang="ko-KR" dirty="0">
                <a:solidFill>
                  <a:srgbClr val="607582"/>
                </a:solidFill>
                <a:latin typeface="Noto Sans CJK KR"/>
                <a:ea typeface="Noto Sans CJK KR"/>
                <a:cs typeface="Noto Sans CJK KR"/>
              </a:rPr>
              <a:t>안내 결과와 보장기관의 최종 지원 결정은 별개</a:t>
            </a:r>
          </a:p>
        </p:txBody>
      </p:sp>
      <p:sp>
        <p:nvSpPr>
          <p:cNvPr id="36" name="TextBox 35"/>
          <p:cNvSpPr txBox="1"/>
          <p:nvPr/>
        </p:nvSpPr>
        <p:spPr>
          <a:xfrm>
            <a:off x="594360" y="6135624"/>
            <a:ext cx="10972800" cy="182880"/>
          </a:xfrm>
          <a:prstGeom prst="rect">
            <a:avLst/>
          </a:prstGeom>
          <a:noFill/>
        </p:spPr>
        <p:txBody>
          <a:bodyPr wrap="square" lIns="0" rIns="0" tIns="0" bIns="0" anchor="ctr">
            <a:noAutofit/>
          </a:bodyPr>
          <a:lstStyle/>
          <a:p>
            <a:pPr algn="l">
              <a:lnSpc>
                <a:spcPct val="112000"/>
              </a:lnSpc>
              <a:spcBef>
                <a:spcPts val="0"/>
              </a:spcBef>
              <a:spcAft>
                <a:spcPts val="0"/>
              </a:spcAft>
            </a:pPr>
            <a:r>
              <a:rPr sz="819" b="0" lang="ko-KR" dirty="0">
                <a:solidFill>
                  <a:srgbClr val="607582"/>
                </a:solidFill>
                <a:latin typeface="Noto Sans CJK KR"/>
                <a:ea typeface="Noto Sans CJK KR"/>
                <a:cs typeface="Noto Sans CJK KR"/>
              </a:rPr>
              <a:t>편집 2026.09.27  ·  구현 상태는 제공된 2026.09.23 원본 기준  ·  사용자 평가·지역 확장은 완료 실적이 아님</a:t>
            </a:r>
          </a:p>
        </p:txBody>
      </p:sp>
      <p:sp>
        <p:nvSpPr>
          <p:cNvPr id="37" name="TextBox 36">
            <a:hlinkClick action="ppaction://hlinksldjump" r:id="rId10"/>
          </p:cNvPr>
          <p:cNvSpPr txBox="1"/>
          <p:nvPr/>
        </p:nvSpPr>
        <p:spPr>
          <a:xfrm>
            <a:off x="8677656" y="6460236"/>
            <a:ext cx="1554480" cy="219456"/>
          </a:xfrm>
          <a:prstGeom prst="rect">
            <a:avLst/>
          </a:prstGeom>
          <a:noFill/>
        </p:spPr>
        <p:txBody>
          <a:bodyPr wrap="square" lIns="0" rIns="0" tIns="0" bIns="0" anchor="ctr">
            <a:noAutofit/>
          </a:bodyPr>
          <a:lstStyle/>
          <a:p>
            <a:pPr algn="r">
              <a:lnSpc>
                <a:spcPct val="112000"/>
              </a:lnSpc>
              <a:spcBef>
                <a:spcPts val="0"/>
              </a:spcBef>
              <a:spcAft>
                <a:spcPts val="0"/>
              </a:spcAft>
            </a:pPr>
            <a:r>
              <a:rPr sz="860" b="1" lang="ko-KR" dirty="0">
                <a:solidFill>
                  <a:srgbClr val="008979"/>
                </a:solidFill>
                <a:latin typeface="Noto Sans CJK KR"/>
                <a:ea typeface="Noto Sans CJK KR"/>
                <a:cs typeface="Noto Sans CJK KR"/>
              </a:rPr>
              <a:t>본문 마지막 장으로</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복지나침반</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복지나침반 | 팀명·비전과 3분 중간발표</dc:title>
  <dc:subject>표지 1장, 본문 6장, 2분 질의응답용 숨김 참고 4장</dc:subject>
  <dc:creator>복지나침반</dc:creator>
  <cp:lastModifiedBy>복지나침반</cp:lastModifiedBy>
  <cp:revision>1</cp:revision>
  <dcterms:created xsi:type="dcterms:W3CDTF">2026-09-25T06:49:40Z</dcterms:created>
  <dcterms:modified xsi:type="dcterms:W3CDTF">2026-09-25T06:49:40Z</dcterms:modified>
  <dc:description>발표자 초안과 팀 대화를 반영한 수정본. 구현 진척은 제공 자료 기준.</dc:description>
</cp:coreProperties>
</file>