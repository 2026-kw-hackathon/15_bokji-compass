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d684a5059946fa" /><Relationship Type="http://schemas.openxmlformats.org/officeDocument/2006/relationships/extended-properties" Target="/docProps/app.xml" Id="R279c78ca3ccc44b2" /><Relationship Type="http://schemas.openxmlformats.org/officeDocument/2006/relationships/officeDocument" Target="/ppt/presentation.xml" Id="Rc04b62db24714f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99c66f863f4d3d"/>
  </p:sldMasterIdLst>
  <p:notesMasterIdLst>
    <p:notesMasterId xmlns:r="http://schemas.openxmlformats.org/officeDocument/2006/relationships" r:id="R9a7fda016bdc4684"/>
  </p:notesMasterIdLst>
  <p:sldIdLst>
    <p:sldId xmlns:r="http://schemas.openxmlformats.org/officeDocument/2006/relationships" id="256" r:id="R34df28f023ad4427"/>
    <p:sldId xmlns:r="http://schemas.openxmlformats.org/officeDocument/2006/relationships" id="257" r:id="R65f72f7a3a8f495d"/>
    <p:sldId xmlns:r="http://schemas.openxmlformats.org/officeDocument/2006/relationships" id="258" r:id="Rdb58de4938a849cf"/>
    <p:sldId xmlns:r="http://schemas.openxmlformats.org/officeDocument/2006/relationships" id="259" r:id="R6f8794ace7614c54"/>
    <p:sldId xmlns:r="http://schemas.openxmlformats.org/officeDocument/2006/relationships" id="260" r:id="Rae96042455d44725"/>
    <p:sldId xmlns:r="http://schemas.openxmlformats.org/officeDocument/2006/relationships" id="261" r:id="R721a284d7e1649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8aebd03ba04017" /><Relationship Type="http://schemas.openxmlformats.org/officeDocument/2006/relationships/slideMaster" Target="/ppt/slideMasters/slideMaster1.xml" Id="R2999c66f863f4d3d" /><Relationship Type="http://schemas.openxmlformats.org/officeDocument/2006/relationships/notesMaster" Target="/ppt/notesMasters/notesMaster1.xml" Id="R9a7fda016bdc4684" /><Relationship Type="http://schemas.openxmlformats.org/officeDocument/2006/relationships/presProps" Target="/ppt/presProps.xml" Id="Rfec23d3715a240a2" /><Relationship Type="http://schemas.openxmlformats.org/officeDocument/2006/relationships/tableStyles" Target="/ppt/tableStyles.xml" Id="R4ff0bd82f0944c34" /><Relationship Type="http://schemas.openxmlformats.org/officeDocument/2006/relationships/slide" Target="/ppt/slides/slide1.xml" Id="R34df28f023ad4427" /><Relationship Type="http://schemas.openxmlformats.org/officeDocument/2006/relationships/slide" Target="/ppt/slides/slide2.xml" Id="R65f72f7a3a8f495d" /><Relationship Type="http://schemas.openxmlformats.org/officeDocument/2006/relationships/slide" Target="/ppt/slides/slide3.xml" Id="Rdb58de4938a849cf" /><Relationship Type="http://schemas.openxmlformats.org/officeDocument/2006/relationships/slide" Target="/ppt/slides/slide4.xml" Id="R6f8794ace7614c54" /><Relationship Type="http://schemas.openxmlformats.org/officeDocument/2006/relationships/slide" Target="/ppt/slides/slide5.xml" Id="Rae96042455d44725" /><Relationship Type="http://schemas.openxmlformats.org/officeDocument/2006/relationships/slide" Target="/ppt/slides/slide6.xml" Id="R721a284d7e1649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0ff29ac0d146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3cf1e4f4db4fbf" /><Relationship Type="http://schemas.openxmlformats.org/officeDocument/2006/relationships/notesMaster" Target="/ppt/notesMasters/notesMaster1.xml" Id="R23b58e611a6b4f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2a5c3332ba4916" /><Relationship Type="http://schemas.openxmlformats.org/officeDocument/2006/relationships/notesMaster" Target="/ppt/notesMasters/notesMaster1.xml" Id="R591add9373e541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a45ec686c143ca" /><Relationship Type="http://schemas.openxmlformats.org/officeDocument/2006/relationships/notesMaster" Target="/ppt/notesMasters/notesMaster1.xml" Id="Rcdee6ff04a5244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d2f53a84e54205" /><Relationship Type="http://schemas.openxmlformats.org/officeDocument/2006/relationships/notesMaster" Target="/ppt/notesMasters/notesMaster1.xml" Id="R93f2e455b89e44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301e0063dd4450" /><Relationship Type="http://schemas.openxmlformats.org/officeDocument/2006/relationships/notesMaster" Target="/ppt/notesMasters/notesMaster1.xml" Id="R7c220d0c541446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4424fcedd54033" /><Relationship Type="http://schemas.openxmlformats.org/officeDocument/2006/relationships/notesMaster" Target="/ppt/notesMasters/notesMaster1.xml" Id="Re1173881c1b444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안녕하세요. 복지나침반의 발표자 송현오입니다. 복지 공고를 찾아도, 내 나이와 가구 상황에 맞는지, 소득은 누구의 소득인지 다시 해석해야 합니다. 저희는 이 탐색과 이해의 부담을 줄이는 개인 복지 비서를 만들고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및 설명</a:t>
            </a:r>
          </a:p>
          <a:p xmlns:a="http://schemas.openxmlformats.org/drawingml/2006/main">
            <a:r>
              <a:t>사용자가 제공한 KW 해커톤 중간발표 공지. 발표 3분, Q&amp;A 2분. 팀명 복지나침반, 발표자 송현오는 사용자가 확인. 조 번호 미확인. 문제는 사용자 조사 전 가설. 근거: readme.md, 중간발표_자료/20260928_중간보고서.md.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지역과 생활 상황을 입력하면 관련 공고와 이유를 확인하고, 상세 내용과 공식 출처를 살펴보는 흐름입니다. 쉬운 화면에서는 입력을 세 단계로 나누고 공고를 하나씩 보여줍니다. 현재 이 화면의 공고와 추천은 합성 예시이며, 실제 공고 연결을 준비하고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및 설명</a:t>
            </a:r>
          </a:p>
          <a:p xmlns:a="http://schemas.openxmlformats.org/drawingml/2006/main">
            <a:r>
              <a:t>실제 로컬 웹 2026-09-27 캡처. 공고와 추천은 합성 예시. 쉬운 화면의 3단계 입력 및 공고 한 개 표시. 근거: frontend/web/src/app/App.jsx, frontend/web/src/features/assistant/recommendationRepository.js. 화면의 자격 충족 또는 실제 AI 추천을 주장하지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핵심은 조건의 적용 대상을 구분하는 것입니다. 예를 들어 부모 소득과 신청자 소득, 계약 보증금과 가구 재산을 같은 값으로 비교하면 안 됩니다. 명확한 조건은 코드로 처리하고, 복합 문장은 AI가 후보를 추출합니다. 원문 근거를 검증한 뒤 초안으로 남기며, 정보가 없으면 추가 확인으로 처리합니다.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및 설명</a:t>
            </a:r>
          </a:p>
          <a:p xmlns:a="http://schemas.openxmlformats.org/drawingml/2006/main">
            <a:r>
              <a:t>근거: backend/docs/condition-classification.md, backend/docs/classification-experiment.md, backend/app/contracts/conditions.py. 6건/60개는 2026-09-21의 기존 실증 기록이며 이번에 다시 호출하지 않음. 8개 사전 구분 항목 일치는 전체 정확도 아님. 부모 소득/신청자 소득과 보증금/가구 재산의 주체·범위 구분 사례.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공고 수집과 조건 추출, 웹 탐색과 쉬운 화면을 구현했습니다. 최근에는 서버 인증과 소득·재산 참고 계산, 동의 후 입력 저장도 추가했습니다. 다만 문자 인증은 개발용이며 실제 공고를 저장하는 DB와 추천 API는 아직 연결 전입니다. 기존 공개 정책 6건 실험에서 조건 후보 60개를 얻었지만, 전체 정확도로 해석하지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및 설명</a:t>
            </a:r>
          </a:p>
          <a:p xmlns:a="http://schemas.openxmlformats.org/drawingml/2006/main">
            <a:r>
              <a:t>근거: backend/docs/implementation-status.md, api-management.md, backend/app/main.py. 실제 SMS 공급자는 미연결. 회원 금융정보는 격리 SQLite 검증 이력, 실제 MySQL 저장 검증 후속. 공고 추천 서버, 정책 MySQL 저장소는 미구현. 계산 결과는 참고치이며 자격 확정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재현을 위해 입력 계약과 조건 스키마, 테스트용 표본, 실행 명령을 저장소에 정리했습니다. 웹 예시 흐름과 백엔드 검증을 나누어 실행할 수 있습니다. 다음에는 검토한 실제 공고를 저장하고 API로 연결해, 같은 입력에서 결과와 원문 근거까지 확인하는 통합 검증을 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및 설명</a:t>
            </a:r>
          </a:p>
          <a:p xmlns:a="http://schemas.openxmlformats.org/drawingml/2006/main">
            <a:r>
              <a:t>이번 준비에서 frontend/web의 npm test 실행: 22개 통과. 백엔드 테스트, 실제 MySQL 및 외부 AI 호출은 재실행하지 않음. 근거: frontend/web/package.json, backend/tests/fixtures/conditions/public_extractions.json, backend/schemas/welfare-conditions-v2.schema.json, api-management.md. 과거 6건 LLM 실험 전체 입력/출력은 Git 제외 폴더에 있어 새 클론만으로 동일 산출물 재현 불가. 재현 가능한 범위를 구분. 전체 명령과 환경은 20260928_중간보고서.md 6절.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최종발표에서는 실제 공고의 입력부터 원문 확인까지 이어지는 시연을 목표로 합니다. 사용자에게 탐색 과제를 주고 완료율과 소요시간을 측정하겠습니다. 사업화는 기관의 상담 보조 도구를 가설로 두고, 수요와 운영 비용을 검증하겠습니다. 감사합니다.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근거 및 설명</a:t>
            </a:r>
          </a:p>
          <a:p xmlns:a="http://schemas.openxmlformats.org/drawingml/2006/main">
            <a:r>
              <a:t>계획과 사업화 가설. 현재 고객·계약·매출 및 사용자 효과 수치 없음. 실제 공고 연결은 미완료. 최종발표 일정 및 개인별 역할 미확정으로 4주 일정을 확정 계획처럼 제시하지 않음. 근거: 20260928_중간보고서.md 7~9절, 기존 사업계획서의 도입 가설.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54666e60de4e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cc94a779a84c99" /><Relationship Type="http://schemas.openxmlformats.org/officeDocument/2006/relationships/slideLayout" Target="/ppt/slideLayouts/slideLayout1.xml" Id="R63e21649288446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e21649288446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56903945449ea" /><Relationship Type="http://schemas.openxmlformats.org/officeDocument/2006/relationships/image" Target="/ppt/media/image.png" Id="R945201c7f8264395" /><Relationship Type="http://schemas.openxmlformats.org/officeDocument/2006/relationships/notesSlide" Target="/ppt/notesSlides/notesSlide1.xml" Id="R0157658c4a3a43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b91fcdfee411e" /><Relationship Type="http://schemas.openxmlformats.org/officeDocument/2006/relationships/image" Target="/ppt/media/image2.png" Id="R2bb1ef0350e54109" /><Relationship Type="http://schemas.openxmlformats.org/officeDocument/2006/relationships/notesSlide" Target="/ppt/notesSlides/notesSlide2.xml" Id="R53e3ff088e4244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e44c6c872462e" /><Relationship Type="http://schemas.openxmlformats.org/officeDocument/2006/relationships/notesSlide" Target="/ppt/notesSlides/notesSlide3.xml" Id="R905521f377e040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f26b986234792" /><Relationship Type="http://schemas.openxmlformats.org/officeDocument/2006/relationships/notesSlide" Target="/ppt/notesSlides/notesSlide4.xml" Id="R309af0220fb741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ecddaa8cf4824" /><Relationship Type="http://schemas.openxmlformats.org/officeDocument/2006/relationships/notesSlide" Target="/ppt/notesSlides/notesSlide5.xml" Id="Rf181b949970145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5899e9346f4c26" /><Relationship Type="http://schemas.openxmlformats.org/officeDocument/2006/relationships/notesSlide" Target="/ppt/notesSlides/notesSlide6.xml" Id="R7f67e8b989394c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0DBECC8A-855A-4084-8B5D-C489D27C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5201c7f8264395"/>
          <a:stretch xmlns:a="http://schemas.openxmlformats.org/drawingml/2006/main"/>
        </p:blipFill>
        <p:spPr>
          <a:xfrm xmlns:a="http://schemas.openxmlformats.org/drawingml/2006/main">
            <a:off x="9010650" y="1143000"/>
            <a:ext cx="2286000" cy="2286000"/>
          </a:xfrm>
          <a:prstGeom xmlns:a="http://schemas.openxmlformats.org/drawingml/2006/main" prst="rect">
            <a:avLst/>
          </a:prstGeom>
        </p:spPr>
      </p:pic>
      <p:sp>
        <p:nvSpPr>
          <p:cNvPr id="3" name="복지나침반">
            <a:extLst xmlns:a="http://schemas.openxmlformats.org/drawingml/2006/main">
              <a:ext uri="{FF2B5EF4-FFF2-40B4-BE49-F238E27FC236}">
                <a16:creationId xmlns:a16="http://schemas.microsoft.com/office/drawing/2014/main" id="{4796FCC9-7775-4C66-8BFF-4F053584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828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167257"/>
                </a:solidFill>
                <a:latin typeface="Malgun Gothic"/>
                <a:ea typeface="Malgun Gothic"/>
                <a:cs typeface="Malgun Gothic"/>
              </a:defRPr>
            </a:pPr>
            <a:r>
              <a:rPr sz="5700" b="1">
                <a:solidFill>
                  <a:srgbClr val="167257"/>
                </a:solidFill>
                <a:latin typeface="Malgun Gothic"/>
                <a:ea typeface="Malgun Gothic"/>
                <a:cs typeface="Malgun Gothic"/>
              </a:rPr>
              <a:t>복지나침반</a:t>
            </a:r>
          </a:p>
        </p:txBody>
      </p:sp>
      <p:sp>
        <p:nvSpPr>
          <p:cNvPr id="4" name="공고의 조건을 이해하는&#10;개인 복지 비서">
            <a:extLst xmlns:a="http://schemas.openxmlformats.org/drawingml/2006/main">
              <a:ext uri="{FF2B5EF4-FFF2-40B4-BE49-F238E27FC236}">
                <a16:creationId xmlns:a16="http://schemas.microsoft.com/office/drawing/2014/main" id="{6C49071C-3EBF-4981-A930-BDFECF3D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43125"/>
            <a:ext cx="790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B29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B29"/>
                </a:solidFill>
                <a:latin typeface="Malgun Gothic"/>
                <a:ea typeface="Malgun Gothic"/>
                <a:cs typeface="Malgun Gothic"/>
              </a:rPr>
              <a:t>공고의 조건을 이해하는</a:t>
            </a:r>
          </a:p>
          <a:p xmlns:a="http://schemas.openxmlformats.org/drawingml/2006/main">
            <a:pPr>
              <a:defRPr sz="3150" b="1">
                <a:solidFill>
                  <a:srgbClr val="202B29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B29"/>
                </a:solidFill>
                <a:latin typeface="Malgun Gothic"/>
                <a:ea typeface="Malgun Gothic"/>
                <a:cs typeface="Malgun Gothic"/>
              </a:rPr>
              <a:t>개인 복지 비서</a:t>
            </a:r>
          </a:p>
        </p:txBody>
      </p:sp>
      <p:sp>
        <p:nvSpPr>
          <p:cNvPr id="5" name="“이 공고는 내 상황에 맞을까?”">
            <a:extLst xmlns:a="http://schemas.openxmlformats.org/drawingml/2006/main">
              <a:ext uri="{FF2B5EF4-FFF2-40B4-BE49-F238E27FC236}">
                <a16:creationId xmlns:a16="http://schemas.microsoft.com/office/drawing/2014/main" id="{604888F3-8552-49AF-AD0F-983ECB38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rPr>
              <a:t>“이 공고는 내 상황에 맞을까?”</a:t>
            </a:r>
          </a:p>
        </p:txBody>
      </p:sp>
      <p:sp>
        <p:nvSpPr>
          <p:cNvPr id="6" name="2026 KW 해커톤 중간발표&#10;2026.09.28   발표">
            <a:extLst xmlns:a="http://schemas.openxmlformats.org/drawingml/2006/main">
              <a:ext uri="{FF2B5EF4-FFF2-40B4-BE49-F238E27FC236}">
                <a16:creationId xmlns:a16="http://schemas.microsoft.com/office/drawing/2014/main" id="{911ED845-560A-49A4-BBFB-0B5ECAEF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rPr>
              <a:t>2026 KW 해커톤 중간발표</a:t>
            </a:r>
          </a:p>
          <a:p xmlns:a="http://schemas.openxmlformats.org/drawingml/2006/main">
            <a:pPr>
              <a:defRPr sz="1800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rPr>
              <a:t>2026.09.28   발표자 송현오</a:t>
            </a:r>
          </a:p>
        </p:txBody>
      </p:sp>
    </p:spTree>
    <p:extLst>
      <p:ext uri="{BB962C8B-B14F-4D97-AF65-F5344CB8AC3E}">
        <p14:creationId xmlns:p14="http://schemas.microsoft.com/office/powerpoint/2010/main" val="15640199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개인비서 사용 흐름">
            <a:extLst xmlns:a="http://schemas.openxmlformats.org/drawingml/2006/main">
              <a:ext uri="{FF2B5EF4-FFF2-40B4-BE49-F238E27FC236}">
                <a16:creationId xmlns:a16="http://schemas.microsoft.com/office/drawing/2014/main" id="{2470E561-2CFA-4922-9F05-84FA5D3A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02B2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2B29"/>
                </a:solidFill>
                <a:latin typeface="Malgun Gothic"/>
                <a:ea typeface="Malgun Gothic"/>
                <a:cs typeface="Malgun Gothic"/>
              </a:rPr>
              <a:t>개인비서 사용 흐름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A9F04777-9856-4BF8-BCFE-36C7F94D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내 정보 입력">
            <a:extLst xmlns:a="http://schemas.openxmlformats.org/drawingml/2006/main">
              <a:ext uri="{FF2B5EF4-FFF2-40B4-BE49-F238E27FC236}">
                <a16:creationId xmlns:a16="http://schemas.microsoft.com/office/drawing/2014/main" id="{26351B18-70CE-4E1F-B681-7F5D4E73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25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67257"/>
                </a:solidFill>
                <a:latin typeface="Malgun Gothic"/>
                <a:ea typeface="Malgun Gothic"/>
                <a:cs typeface="Malgun Gothic"/>
              </a:rPr>
              <a:t>내 정보 입력</a:t>
            </a:r>
          </a:p>
        </p:txBody>
      </p:sp>
      <p:sp>
        <p:nvSpPr>
          <p:cNvPr id="4" name="지역과 생활 상황 선택">
            <a:extLst xmlns:a="http://schemas.openxmlformats.org/drawingml/2006/main">
              <a:ext uri="{FF2B5EF4-FFF2-40B4-BE49-F238E27FC236}">
                <a16:creationId xmlns:a16="http://schemas.microsoft.com/office/drawing/2014/main" id="{919726A3-FB0F-475A-89E3-A25F817A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rPr>
              <a:t>지역과 생활 상황 선택</a:t>
            </a:r>
          </a:p>
        </p:txBody>
      </p:sp>
      <p:sp>
        <p:nvSpPr>
          <p:cNvPr id="5" name="관련 이유 확인">
            <a:extLst xmlns:a="http://schemas.openxmlformats.org/drawingml/2006/main">
              <a:ext uri="{FF2B5EF4-FFF2-40B4-BE49-F238E27FC236}">
                <a16:creationId xmlns:a16="http://schemas.microsoft.com/office/drawing/2014/main" id="{E4D91A1C-551A-4C1D-AEA4-E22CD77D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7257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67257"/>
                </a:solidFill>
                <a:latin typeface="Malgun Gothic"/>
                <a:ea typeface="Malgun Gothic"/>
                <a:cs typeface="Malgun Gothic"/>
              </a:rPr>
              <a:t>관련 이유 확인</a:t>
            </a:r>
          </a:p>
        </p:txBody>
      </p:sp>
      <p:sp>
        <p:nvSpPr>
          <p:cNvPr id="6" name="공고 상세와 원문 확인">
            <a:extLst xmlns:a="http://schemas.openxmlformats.org/drawingml/2006/main">
              <a:ext uri="{FF2B5EF4-FFF2-40B4-BE49-F238E27FC236}">
                <a16:creationId xmlns:a16="http://schemas.microsoft.com/office/drawing/2014/main" id="{F6B6238F-D45E-4EB2-A878-1E22B355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rPr>
              <a:t>공고 상세와 원문 확인</a:t>
            </a:r>
          </a:p>
        </p:txBody>
      </p:sp>
      <p:sp>
        <p:nvSpPr>
          <p:cNvPr id="7" name="쉬운 화면&#10;3단계 입력 · 공고 한 개씩">
            <a:extLst xmlns:a="http://schemas.openxmlformats.org/drawingml/2006/main">
              <a:ext uri="{FF2B5EF4-FFF2-40B4-BE49-F238E27FC236}">
                <a16:creationId xmlns:a16="http://schemas.microsoft.com/office/drawing/2014/main" id="{D2425BDD-1F89-4AAC-9B27-C98BAD2A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34861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B29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02B29"/>
                </a:solidFill>
                <a:latin typeface="Malgun Gothic"/>
                <a:ea typeface="Malgun Gothic"/>
                <a:cs typeface="Malgun Gothic"/>
              </a:rPr>
              <a:t>쉬운 화면</a:t>
            </a:r>
          </a:p>
          <a:p xmlns:a="http://schemas.openxmlformats.org/drawingml/2006/main">
            <a:pPr>
              <a:defRPr sz="1950" b="0">
                <a:solidFill>
                  <a:srgbClr val="202B29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202B29"/>
                </a:solidFill>
                <a:latin typeface="Malgun Gothic"/>
                <a:ea typeface="Malgun Gothic"/>
                <a:cs typeface="Malgun Gothic"/>
              </a:rPr>
              <a:t>3단계 입력 · 공고 한 개씩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1ef0350e54109"/>
          <a:stretch xmlns:a="http://schemas.openxmlformats.org/drawingml/2006/main"/>
        </p:blipFill>
        <p:spPr>
          <a:xfrm xmlns:a="http://schemas.openxmlformats.org/drawingml/2006/main">
            <a:off x="4736560" y="1504950"/>
            <a:ext cx="6433631" cy="4581525"/>
          </a:xfrm>
          <a:prstGeom xmlns:a="http://schemas.openxmlformats.org/drawingml/2006/main" prst="rect">
            <a:avLst/>
          </a:prstGeom>
        </p:spPr>
      </p:pic>
      <p:sp>
        <p:nvSpPr>
          <p:cNvPr id="9" name="현재 화면: 합성 예시 공고·추천">
            <a:extLst xmlns:a="http://schemas.openxmlformats.org/drawingml/2006/main">
              <a:ext uri="{FF2B5EF4-FFF2-40B4-BE49-F238E27FC236}">
                <a16:creationId xmlns:a16="http://schemas.microsoft.com/office/drawing/2014/main" id="{B4C071C7-99C2-4CEC-8218-6CD8126E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6057900"/>
            <a:ext cx="638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65D3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B65D30"/>
                </a:solidFill>
                <a:latin typeface="Malgun Gothic"/>
                <a:ea typeface="Malgun Gothic"/>
                <a:cs typeface="Malgun Gothic"/>
              </a:rPr>
              <a:t>현재 화면: 합성 예시 공고·추천</a:t>
            </a:r>
          </a:p>
        </p:txBody>
      </p:sp>
    </p:spTree>
    <p:extLst>
      <p:ext uri="{BB962C8B-B14F-4D97-AF65-F5344CB8AC3E}">
        <p14:creationId xmlns:p14="http://schemas.microsoft.com/office/powerpoint/2010/main" val="722317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조건 해석과 원문 근거">
            <a:extLst xmlns:a="http://schemas.openxmlformats.org/drawingml/2006/main">
              <a:ext uri="{FF2B5EF4-FFF2-40B4-BE49-F238E27FC236}">
                <a16:creationId xmlns:a16="http://schemas.microsoft.com/office/drawing/2014/main" id="{E305A37B-0772-4FAE-95F5-8B1A8DBD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02B2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2B29"/>
                </a:solidFill>
                <a:latin typeface="Malgun Gothic"/>
                <a:ea typeface="Malgun Gothic"/>
                <a:cs typeface="Malgun Gothic"/>
              </a:rPr>
              <a:t>조건 해석과 원문 근거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5135F342-C699-47E0-8919-86EECA74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적용 주체와 범위를 구분하는 조건 구조">
            <a:extLst xmlns:a="http://schemas.openxmlformats.org/drawingml/2006/main">
              <a:ext uri="{FF2B5EF4-FFF2-40B4-BE49-F238E27FC236}">
                <a16:creationId xmlns:a16="http://schemas.microsoft.com/office/drawing/2014/main" id="{256EE3E2-A868-4110-B85D-EB15DC74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25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67257"/>
                </a:solidFill>
                <a:latin typeface="Malgun Gothic"/>
                <a:ea typeface="Malgun Gothic"/>
                <a:cs typeface="Malgun Gothic"/>
              </a:rPr>
              <a:t>적용 주체와 범위를 구분하는 조건 구조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66925"/>
          <a:ext xmlns:a="http://schemas.openxmlformats.org/drawingml/2006/main" cx="10972800" cy="2867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6400800"/>
              </a:tblGrid>
              <a:tr h="716756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원문의 조건</a:t>
                      </a:r>
                    </a:p>
                  </a:txBody>
                  <a:tcPr marL="171450" marR="171450" marT="152400" marB="152400" anchor="ctr">
                    <a:solidFill>
                      <a:srgbClr val="1672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구분해야 할 대상</a:t>
                      </a:r>
                    </a:p>
                  </a:txBody>
                  <a:tcPr marL="171450" marR="171450" marT="152400" marB="152400" anchor="ctr">
                    <a:solidFill>
                      <a:srgbClr val="167257"/>
                    </a:solidFill>
                  </a:tcPr>
                </a:tc>
              </a:tr>
              <a:tr h="7167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B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부모의 소득</a:t>
                      </a:r>
                    </a:p>
                  </a:txBody>
                  <a:tcPr marL="171450" marR="171450" marT="152400" marB="15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B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부모 소득 / 신청자 소득</a:t>
                      </a:r>
                    </a:p>
                  </a:txBody>
                  <a:tcPr marL="171450" marR="171450" marT="152400" marB="152400" anchor="ctr">
                    <a:solidFill>
                      <a:srgbClr val="FFFFFF"/>
                    </a:solidFill>
                  </a:tcPr>
                </a:tc>
              </a:tr>
              <a:tr h="7167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B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계약 보증금</a:t>
                      </a:r>
                    </a:p>
                  </a:txBody>
                  <a:tcPr marL="171450" marR="171450" marT="152400" marB="152400" anchor="ctr">
                    <a:solidFill>
                      <a:srgbClr val="ED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B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보증금 / 가구 전체 재산</a:t>
                      </a:r>
                    </a:p>
                  </a:txBody>
                  <a:tcPr marL="171450" marR="171450" marT="152400" marB="152400" anchor="ctr">
                    <a:solidFill>
                      <a:srgbClr val="EDF5F0"/>
                    </a:solidFill>
                  </a:tcPr>
                </a:tc>
              </a:tr>
              <a:tr h="716756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B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조건이 적혀 있지 않음</a:t>
                      </a:r>
                    </a:p>
                  </a:txBody>
                  <a:tcPr marL="171450" marR="171450" marT="152400" marB="15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B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 없음 / 명시적 제한 없음</a:t>
                      </a:r>
                    </a:p>
                  </a:txBody>
                  <a:tcPr marL="171450" marR="171450" marT="152400" marB="152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명확한 조건은 코드 처리, 복합 문장은 AI 후보 추출">
            <a:extLst xmlns:a="http://schemas.openxmlformats.org/drawingml/2006/main">
              <a:ext uri="{FF2B5EF4-FFF2-40B4-BE49-F238E27FC236}">
                <a16:creationId xmlns:a16="http://schemas.microsoft.com/office/drawing/2014/main" id="{C673303B-4094-45CF-9514-E4EBB6FA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02B29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02B29"/>
                </a:solidFill>
                <a:latin typeface="Malgun Gothic"/>
                <a:ea typeface="Malgun Gothic"/>
                <a:cs typeface="Malgun Gothic"/>
              </a:rPr>
              <a:t>명확한 조건은 코드 처리, 복합 문장은 AI 후보 추출</a:t>
            </a:r>
          </a:p>
        </p:txBody>
      </p:sp>
      <p:sp>
        <p:nvSpPr>
          <p:cNvPr id="6" name="원문 검증 후 초안 보존, 검토 전 자동 자격 판정 비활성">
            <a:extLst xmlns:a="http://schemas.openxmlformats.org/drawingml/2006/main">
              <a:ext uri="{FF2B5EF4-FFF2-40B4-BE49-F238E27FC236}">
                <a16:creationId xmlns:a16="http://schemas.microsoft.com/office/drawing/2014/main" id="{09201D05-1B57-4F9B-8EED-27CC95D8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rPr>
              <a:t>원문 검증 후 초안 보존, 검토 전 자동 자격 판정 비활성화</a:t>
            </a:r>
          </a:p>
        </p:txBody>
      </p:sp>
    </p:spTree>
    <p:extLst>
      <p:ext uri="{BB962C8B-B14F-4D97-AF65-F5344CB8AC3E}">
        <p14:creationId xmlns:p14="http://schemas.microsoft.com/office/powerpoint/2010/main" val="17379195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현재 구현 범위">
            <a:extLst xmlns:a="http://schemas.openxmlformats.org/drawingml/2006/main">
              <a:ext uri="{FF2B5EF4-FFF2-40B4-BE49-F238E27FC236}">
                <a16:creationId xmlns:a16="http://schemas.microsoft.com/office/drawing/2014/main" id="{07F43BA6-4DED-42BF-9B80-57416DBD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02B2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2B29"/>
                </a:solidFill>
                <a:latin typeface="Malgun Gothic"/>
                <a:ea typeface="Malgun Gothic"/>
                <a:cs typeface="Malgun Gothic"/>
              </a:rPr>
              <a:t>현재 구현 범위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7138F27E-829B-4EED-ADF9-6AB200C0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62450"/>
                <a:gridCol w="6610350"/>
              </a:tblGrid>
              <a:tr h="7048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기능</a:t>
                      </a:r>
                    </a:p>
                  </a:txBody>
                  <a:tcPr marL="171450" marR="171450" marT="152400" marB="152400" anchor="ctr">
                    <a:solidFill>
                      <a:srgbClr val="1672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상태</a:t>
                      </a:r>
                    </a:p>
                  </a:txBody>
                  <a:tcPr marL="171450" marR="171450" marT="152400" marB="152400" anchor="ctr">
                    <a:solidFill>
                      <a:srgbClr val="167257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B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원문 수집·조건 추출</a:t>
                      </a:r>
                    </a:p>
                  </a:txBody>
                  <a:tcPr marL="171450" marR="171450" marT="152400" marB="15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B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구현, 검토용 파일 초안 저장</a:t>
                      </a:r>
                    </a:p>
                  </a:txBody>
                  <a:tcPr marL="171450" marR="171450" marT="152400" marB="15240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B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웹 탐색·쉬운 화면</a:t>
                      </a:r>
                    </a:p>
                  </a:txBody>
                  <a:tcPr marL="171450" marR="171450" marT="152400" marB="152400" anchor="ctr">
                    <a:solidFill>
                      <a:srgbClr val="ED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B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구현, 공고·추천은 합성 예시</a:t>
                      </a:r>
                    </a:p>
                  </a:txBody>
                  <a:tcPr marL="171450" marR="171450" marT="152400" marB="152400" anchor="ctr">
                    <a:solidFill>
                      <a:srgbClr val="EDF5F0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B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인증·소득·재산 계산</a:t>
                      </a:r>
                    </a:p>
                  </a:txBody>
                  <a:tcPr marL="171450" marR="171450" marT="152400" marB="152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B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구현, 문자 인증은 개발용</a:t>
                      </a:r>
                    </a:p>
                  </a:txBody>
                  <a:tcPr marL="171450" marR="171450" marT="152400" marB="152400" anchor="ctr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B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정책 저장·추천 API</a:t>
                      </a:r>
                    </a:p>
                  </a:txBody>
                  <a:tcPr marL="171450" marR="171450" marT="152400" marB="152400" anchor="ctr">
                    <a:solidFill>
                      <a:srgbClr val="ED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02B2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후속 연결 과제</a:t>
                      </a:r>
                    </a:p>
                  </a:txBody>
                  <a:tcPr marL="171450" marR="171450" marT="152400" marB="152400" anchor="ctr">
                    <a:solidFill>
                      <a:srgbClr val="EDF5F0"/>
                    </a:solidFill>
                  </a:tcPr>
                </a:tc>
              </a:tr>
            </a:tbl>
          </a:graphicData>
        </a:graphic>
      </p:graphicFrame>
      <p:sp>
        <p:nvSpPr>
          <p:cNvPr id="4" name="기존 공개 정책 6건 실험: 조건 후보 60개">
            <a:extLst xmlns:a="http://schemas.openxmlformats.org/drawingml/2006/main">
              <a:ext uri="{FF2B5EF4-FFF2-40B4-BE49-F238E27FC236}">
                <a16:creationId xmlns:a16="http://schemas.microsoft.com/office/drawing/2014/main" id="{065DAEF6-E4A7-4CCA-A4C7-00C0F9E0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25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67257"/>
                </a:solidFill>
                <a:latin typeface="Malgun Gothic"/>
                <a:ea typeface="Malgun Gothic"/>
                <a:cs typeface="Malgun Gothic"/>
              </a:rPr>
              <a:t>기존 공개 정책 6건 실험: 조건 후보 60개</a:t>
            </a:r>
          </a:p>
        </p:txBody>
      </p:sp>
      <p:sp>
        <p:nvSpPr>
          <p:cNvPr id="5" name="2026.09.21 기록. 전체 정확도나 완전한 자격 판정">
            <a:extLst xmlns:a="http://schemas.openxmlformats.org/drawingml/2006/main">
              <a:ext uri="{FF2B5EF4-FFF2-40B4-BE49-F238E27FC236}">
                <a16:creationId xmlns:a16="http://schemas.microsoft.com/office/drawing/2014/main" id="{B8CAD67C-86FA-4A31-B75F-76371C97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rPr>
              <a:t>2026.09.21 기록. 전체 정확도나 완전한 자격 판정 수치가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9238238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재현 방법과 검증">
            <a:extLst xmlns:a="http://schemas.openxmlformats.org/drawingml/2006/main">
              <a:ext uri="{FF2B5EF4-FFF2-40B4-BE49-F238E27FC236}">
                <a16:creationId xmlns:a16="http://schemas.microsoft.com/office/drawing/2014/main" id="{ECCFCB70-1B61-410B-970B-C120B32D7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02B2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2B29"/>
                </a:solidFill>
                <a:latin typeface="Malgun Gothic"/>
                <a:ea typeface="Malgun Gothic"/>
                <a:cs typeface="Malgun Gothic"/>
              </a:rPr>
              <a:t>재현 방법과 검증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3FD29460-02B6-470C-BC29-BF2E2390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입력과 계약">
            <a:extLst xmlns:a="http://schemas.openxmlformats.org/drawingml/2006/main">
              <a:ext uri="{FF2B5EF4-FFF2-40B4-BE49-F238E27FC236}">
                <a16:creationId xmlns:a16="http://schemas.microsoft.com/office/drawing/2014/main" id="{E5C39754-02B3-4604-8CC8-DFA9CA49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442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725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67257"/>
                </a:solidFill>
                <a:latin typeface="Malgun Gothic"/>
                <a:ea typeface="Malgun Gothic"/>
                <a:cs typeface="Malgun Gothic"/>
              </a:rPr>
              <a:t>입력과 계약</a:t>
            </a:r>
          </a:p>
        </p:txBody>
      </p:sp>
      <p:sp>
        <p:nvSpPr>
          <p:cNvPr id="4" name="고정 추출 표본과 조건 스키마&#10;공식 지역 스냅샷·API 문">
            <a:extLst xmlns:a="http://schemas.openxmlformats.org/drawingml/2006/main">
              <a:ext uri="{FF2B5EF4-FFF2-40B4-BE49-F238E27FC236}">
                <a16:creationId xmlns:a16="http://schemas.microsoft.com/office/drawing/2014/main" id="{4F50A2B8-14DF-4119-B8F9-E04F86BA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5095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B2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B29"/>
                </a:solidFill>
                <a:latin typeface="Malgun Gothic"/>
                <a:ea typeface="Malgun Gothic"/>
                <a:cs typeface="Malgun Gothic"/>
              </a:rPr>
              <a:t>고정 추출 표본과 조건 스키마</a:t>
            </a:r>
          </a:p>
          <a:p xmlns:a="http://schemas.openxmlformats.org/drawingml/2006/main">
            <a:pPr>
              <a:defRPr sz="2100" b="0">
                <a:solidFill>
                  <a:srgbClr val="202B2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B29"/>
                </a:solidFill>
                <a:latin typeface="Malgun Gothic"/>
                <a:ea typeface="Malgun Gothic"/>
                <a:cs typeface="Malgun Gothic"/>
              </a:rPr>
              <a:t>공식 지역 스냅샷·API 문서</a:t>
            </a:r>
          </a:p>
        </p:txBody>
      </p:sp>
      <p:sp>
        <p:nvSpPr>
          <p:cNvPr id="5" name="실행과 기대 결과">
            <a:extLst xmlns:a="http://schemas.openxmlformats.org/drawingml/2006/main">
              <a:ext uri="{FF2B5EF4-FFF2-40B4-BE49-F238E27FC236}">
                <a16:creationId xmlns:a16="http://schemas.microsoft.com/office/drawing/2014/main" id="{0572A047-5403-4BC4-B44A-BC101854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90675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67257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67257"/>
                </a:solidFill>
                <a:latin typeface="Malgun Gothic"/>
                <a:ea typeface="Malgun Gothic"/>
                <a:cs typeface="Malgun Gothic"/>
              </a:rPr>
              <a:t>실행과 기대 결과</a:t>
            </a:r>
          </a:p>
        </p:txBody>
      </p:sp>
      <p:sp>
        <p:nvSpPr>
          <p:cNvPr id="6" name="웹 예시 실행·추천 이유 확인&#10;백엔드 검증 절차 문서화">
            <a:extLst xmlns:a="http://schemas.openxmlformats.org/drawingml/2006/main">
              <a:ext uri="{FF2B5EF4-FFF2-40B4-BE49-F238E27FC236}">
                <a16:creationId xmlns:a16="http://schemas.microsoft.com/office/drawing/2014/main" id="{24DB7699-AC0D-405A-A79B-4B133B0B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57425"/>
            <a:ext cx="5286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B2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B29"/>
                </a:solidFill>
                <a:latin typeface="Malgun Gothic"/>
                <a:ea typeface="Malgun Gothic"/>
                <a:cs typeface="Malgun Gothic"/>
              </a:rPr>
              <a:t>웹 예시 실행·추천 이유 확인</a:t>
            </a:r>
          </a:p>
          <a:p xmlns:a="http://schemas.openxmlformats.org/drawingml/2006/main">
            <a:pPr>
              <a:defRPr sz="2100" b="0">
                <a:solidFill>
                  <a:srgbClr val="202B29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202B29"/>
                </a:solidFill>
                <a:latin typeface="Malgun Gothic"/>
                <a:ea typeface="Malgun Gothic"/>
                <a:cs typeface="Malgun Gothic"/>
              </a:rPr>
              <a:t>백엔드 검증 절차 문서화</a:t>
            </a:r>
          </a:p>
        </p:txBody>
      </p:sp>
      <p:sp>
        <p:nvSpPr>
          <p:cNvPr id="7" name="22개">
            <a:extLst xmlns:a="http://schemas.openxmlformats.org/drawingml/2006/main">
              <a:ext uri="{FF2B5EF4-FFF2-40B4-BE49-F238E27FC236}">
                <a16:creationId xmlns:a16="http://schemas.microsoft.com/office/drawing/2014/main" id="{BE07FDFB-F03C-4AC3-9C5F-E580F9F5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2571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67257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167257"/>
                </a:solidFill>
                <a:latin typeface="Malgun Gothic"/>
                <a:ea typeface="Malgun Gothic"/>
                <a:cs typeface="Malgun Gothic"/>
              </a:rPr>
              <a:t>22개</a:t>
            </a:r>
          </a:p>
        </p:txBody>
      </p:sp>
      <p:sp>
        <p:nvSpPr>
          <p:cNvPr id="8" name="웹 단위 테스트 통과">
            <a:extLst xmlns:a="http://schemas.openxmlformats.org/drawingml/2006/main">
              <a:ext uri="{FF2B5EF4-FFF2-40B4-BE49-F238E27FC236}">
                <a16:creationId xmlns:a16="http://schemas.microsoft.com/office/drawing/2014/main" id="{EF76F37B-2C41-4158-BC75-374B500E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4067175"/>
            <a:ext cx="7143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202B29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202B29"/>
                </a:solidFill>
                <a:latin typeface="Malgun Gothic"/>
                <a:ea typeface="Malgun Gothic"/>
                <a:cs typeface="Malgun Gothic"/>
              </a:rPr>
              <a:t>웹 단위 테스트 통과</a:t>
            </a:r>
          </a:p>
        </p:txBody>
      </p:sp>
      <p:sp>
        <p:nvSpPr>
          <p:cNvPr id="9" name="다음 검증: 실제 공고 저장, 재시작 후 조회, 웹에서 원">
            <a:extLst xmlns:a="http://schemas.openxmlformats.org/drawingml/2006/main">
              <a:ext uri="{FF2B5EF4-FFF2-40B4-BE49-F238E27FC236}">
                <a16:creationId xmlns:a16="http://schemas.microsoft.com/office/drawing/2014/main" id="{4B6CC07E-87F2-4A16-BC04-05CDA6E4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rPr>
              <a:t>다음 검증: 실제 공고 저장, 재시작 후 조회, 웹에서 원문 확인</a:t>
            </a:r>
          </a:p>
        </p:txBody>
      </p:sp>
    </p:spTree>
    <p:extLst>
      <p:ext uri="{BB962C8B-B14F-4D97-AF65-F5344CB8AC3E}">
        <p14:creationId xmlns:p14="http://schemas.microsoft.com/office/powerpoint/2010/main" val="18925975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다음 목표와 사업화">
            <a:extLst xmlns:a="http://schemas.openxmlformats.org/drawingml/2006/main">
              <a:ext uri="{FF2B5EF4-FFF2-40B4-BE49-F238E27FC236}">
                <a16:creationId xmlns:a16="http://schemas.microsoft.com/office/drawing/2014/main" id="{FA43F7D4-DDCC-4F14-8913-37E83F22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02B29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202B29"/>
                </a:solidFill>
                <a:latin typeface="Malgun Gothic"/>
                <a:ea typeface="Malgun Gothic"/>
                <a:cs typeface="Malgun Gothic"/>
              </a:rPr>
              <a:t>다음 목표와 사업화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03B83943-AE5E-4E27-9D5D-89DEA824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191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최종발표 목표">
            <a:extLst xmlns:a="http://schemas.openxmlformats.org/drawingml/2006/main">
              <a:ext uri="{FF2B5EF4-FFF2-40B4-BE49-F238E27FC236}">
                <a16:creationId xmlns:a16="http://schemas.microsoft.com/office/drawing/2014/main" id="{9846DF07-F881-412C-BFA9-394BD5B3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72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67257"/>
                </a:solidFill>
                <a:latin typeface="Malgun Gothic"/>
                <a:ea typeface="Malgun Gothic"/>
                <a:cs typeface="Malgun Gothic"/>
              </a:rPr>
              <a:t>최종발표 목표</a:t>
            </a:r>
          </a:p>
        </p:txBody>
      </p:sp>
      <p:sp>
        <p:nvSpPr>
          <p:cNvPr id="4" name="검토한 실제 공고로&#10;입력부터 원문 확인까지">
            <a:extLst xmlns:a="http://schemas.openxmlformats.org/drawingml/2006/main">
              <a:ext uri="{FF2B5EF4-FFF2-40B4-BE49-F238E27FC236}">
                <a16:creationId xmlns:a16="http://schemas.microsoft.com/office/drawing/2014/main" id="{DDF080B7-706E-44A6-9B7A-7E5319C2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8102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B29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B29"/>
                </a:solidFill>
                <a:latin typeface="Malgun Gothic"/>
                <a:ea typeface="Malgun Gothic"/>
                <a:cs typeface="Malgun Gothic"/>
              </a:rPr>
              <a:t>검토한 실제 공고로</a:t>
            </a:r>
          </a:p>
          <a:p xmlns:a="http://schemas.openxmlformats.org/drawingml/2006/main">
            <a:pPr>
              <a:defRPr sz="3150" b="1">
                <a:solidFill>
                  <a:srgbClr val="202B29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202B29"/>
                </a:solidFill>
                <a:latin typeface="Malgun Gothic"/>
                <a:ea typeface="Malgun Gothic"/>
                <a:cs typeface="Malgun Gothic"/>
              </a:rPr>
              <a:t>입력부터 원문 확인까지</a:t>
            </a:r>
          </a:p>
        </p:txBody>
      </p:sp>
      <p:sp>
        <p:nvSpPr>
          <p:cNvPr id="5" name="과제 완료율과 소요시간 측정">
            <a:extLst xmlns:a="http://schemas.openxmlformats.org/drawingml/2006/main">
              <a:ext uri="{FF2B5EF4-FFF2-40B4-BE49-F238E27FC236}">
                <a16:creationId xmlns:a16="http://schemas.microsoft.com/office/drawing/2014/main" id="{EFBFA761-2E72-4DC2-9A7A-169694FA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rPr>
              <a:t>과제 완료율과 소요시간 측정</a:t>
            </a:r>
          </a:p>
        </p:txBody>
      </p:sp>
      <p:sp>
        <p:nvSpPr>
          <p:cNvPr id="6" name="사업화 가설">
            <a:extLst xmlns:a="http://schemas.openxmlformats.org/drawingml/2006/main">
              <a:ext uri="{FF2B5EF4-FFF2-40B4-BE49-F238E27FC236}">
                <a16:creationId xmlns:a16="http://schemas.microsoft.com/office/drawing/2014/main" id="{DC3D925E-958E-4D97-A24D-BF9F5F64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685925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725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67257"/>
                </a:solidFill>
                <a:latin typeface="Malgun Gothic"/>
                <a:ea typeface="Malgun Gothic"/>
                <a:cs typeface="Malgun Gothic"/>
              </a:rPr>
              <a:t>사업화 가설</a:t>
            </a:r>
          </a:p>
        </p:txBody>
      </p:sp>
      <p:sp>
        <p:nvSpPr>
          <p:cNvPr id="7" name="기관 상담 보조 도구">
            <a:extLst xmlns:a="http://schemas.openxmlformats.org/drawingml/2006/main">
              <a:ext uri="{FF2B5EF4-FFF2-40B4-BE49-F238E27FC236}">
                <a16:creationId xmlns:a16="http://schemas.microsoft.com/office/drawing/2014/main" id="{B6AEC24D-3E10-494B-9B8B-0A9F9338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51460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02B29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1">
                <a:solidFill>
                  <a:srgbClr val="202B29"/>
                </a:solidFill>
                <a:latin typeface="Malgun Gothic"/>
                <a:ea typeface="Malgun Gothic"/>
                <a:cs typeface="Malgun Gothic"/>
              </a:rPr>
              <a:t>기관 상담 보조 도구</a:t>
            </a:r>
          </a:p>
        </p:txBody>
      </p:sp>
      <p:sp>
        <p:nvSpPr>
          <p:cNvPr id="8" name="도입 수요와 운영 비용 검증&#10;고객·계약·매출은 미확보">
            <a:extLst xmlns:a="http://schemas.openxmlformats.org/drawingml/2006/main">
              <a:ext uri="{FF2B5EF4-FFF2-40B4-BE49-F238E27FC236}">
                <a16:creationId xmlns:a16="http://schemas.microsoft.com/office/drawing/2014/main" id="{B50FA176-A232-44F1-955F-CADA02E8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486150"/>
            <a:ext cx="438150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rPr>
              <a:t>도입 수요와 운영 비용 검증</a:t>
            </a:r>
          </a:p>
          <a:p xmlns:a="http://schemas.openxmlformats.org/drawingml/2006/main">
            <a:pPr>
              <a:defRPr sz="1950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3635E"/>
                </a:solidFill>
                <a:latin typeface="Malgun Gothic"/>
                <a:ea typeface="Malgun Gothic"/>
                <a:cs typeface="Malgun Gothic"/>
              </a:rPr>
              <a:t>고객·계약·매출은 미확보</a:t>
            </a:r>
          </a:p>
        </p:txBody>
      </p:sp>
      <p:sp>
        <p:nvSpPr>
          <p:cNvPr id="9" name="복지나침반   송현오">
            <a:extLst xmlns:a="http://schemas.openxmlformats.org/drawingml/2006/main">
              <a:ext uri="{FF2B5EF4-FFF2-40B4-BE49-F238E27FC236}">
                <a16:creationId xmlns:a16="http://schemas.microsoft.com/office/drawing/2014/main" id="{729EDE1D-6DF3-4AF8-89AC-04419C99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725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67257"/>
                </a:solidFill>
                <a:latin typeface="Malgun Gothic"/>
                <a:ea typeface="Malgun Gothic"/>
                <a:cs typeface="Malgun Gothic"/>
              </a:rPr>
              <a:t>복지나침반   송현오</a:t>
            </a:r>
          </a:p>
        </p:txBody>
      </p:sp>
    </p:spTree>
    <p:extLst>
      <p:ext uri="{BB962C8B-B14F-4D97-AF65-F5344CB8AC3E}">
        <p14:creationId xmlns:p14="http://schemas.microsoft.com/office/powerpoint/2010/main" val="2987158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2026-09-27T09:24:06.8400000Z</dcterms:created>
  <dcterms:modified xsi:type="dcterms:W3CDTF">2026-09-27T09:24:06.8400000Z</dcterms:modified>
</coreProperties>
</file>